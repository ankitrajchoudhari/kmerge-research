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6.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7.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8.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9.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Your question" id="{5b774dd5-7b24-a3d5-fa02-78cee0d3fbee}">
          <p14:sldIdLst>
            <p14:sldId id="256"/>
            <p14:sldId id="257"/>
            <p14:sldId id="258"/>
          </p14:sldIdLst>
        </p14:section>
        <p14:section name="How we measured" id="{f1b830e3-4416-1202-1376-1cfc1ae8a4f5}">
          <p14:sldIdLst>
            <p14:sldId id="259"/>
            <p14:sldId id="260"/>
          </p14:sldIdLst>
        </p14:section>
        <p14:section name="What we found" id="{0c7c3c55-31f7-e203-ec1f-7d197892ec32}">
          <p14:sldIdLst>
            <p14:sldId id="261"/>
            <p14:sldId id="262"/>
            <p14:sldId id="263"/>
            <p14:sldId id="264"/>
            <p14:sldId id="265"/>
            <p14:sldId id="266"/>
          </p14:sldIdLst>
        </p14:section>
        <p14:section name="What we learned" id="{cf30f143-9488-35b0-f0ad-4f253d12ec23}">
          <p14:sldIdLst>
            <p14:sldId id="267"/>
            <p14:sldId id="268"/>
            <p14:sldId id="269"/>
            <p14:sldId id="270"/>
          </p14:sldIdLst>
        </p14:section>
        <p14:section name="What it means" id="{9a1e4b91-301e-5bbe-716c-ec53932e708a}">
          <p14:sldIdLst>
            <p14:sldId id="271"/>
            <p14:sldId id="272"/>
            <p14:sldId id="273"/>
            <p14:sldId id="274"/>
            <p14:sldId id="275"/>
          </p14:sldIdLst>
        </p14:section>
        <p14:section name="Appendix" id="{a94d112e-c0ad-d0b6-1a84-2e19e084722f}">
          <p14:sldIdLst>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63B"/>
                </a:solidFill>
                <a:latin typeface="+mn-lt"/>
              </a:defRPr>
            </a:pPr>
            <a:r>
              <a:rPr sz="1400" b="0" i="0" u="none" strike="noStrike">
                <a:solidFill>
                  <a:srgbClr val="1B263B"/>
                </a:solidFill>
                <a:latin typeface="+mn-lt"/>
              </a:rPr>
              <a:t>Share of the incoming adapter's energy (mean over cases)</a:t>
            </a:r>
          </a:p>
        </c:rich>
      </c:tx>
      <c:layout/>
      <c:overlay val="0"/>
    </c:title>
    <c:autoTitleDeleted val="0"/>
    <c:plotArea>
      <c:layout/>
      <c:barChart>
        <c:barDir val="bar"/>
        <c:grouping val="stacked"/>
        <c:varyColors val="0"/>
        <c:ser>
          <c:idx val="0"/>
          <c:order val="0"/>
          <c:tx>
            <c:strRef>
              <c:f>Sheet1!$B$1</c:f>
              <c:strCache>
                <c:ptCount val="1"/>
                <c:pt idx="0">
                  <c:v>Overlap: already in the slot</c:v>
                </c:pt>
              </c:strCache>
            </c:strRef>
          </c:tx>
          <c:spPr>
            <a:solidFill>
              <a:srgbClr val="0E7C86"/>
            </a:solidFill>
            <a:effectLst/>
          </c:spPr>
          <c:invertIfNegative val="0"/>
          <c:dLbls>
            <c:numFmt formatCode="0.0&quot;%&quot;"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Sheet1!$A$2:$A$7</c:f>
              <c:multiLvlStrCache>
                <c:ptCount val="6"/>
                <c:lvl>
                  <c:pt idx="0">
                    <c:v>0.5B lab: pairs (36)</c:v>
                  </c:pt>
                  <c:pt idx="1">
                    <c:v>0.5B lab: 3 in a slot (27)</c:v>
                  </c:pt>
                  <c:pt idx="2">
                    <c:v>1.5B lab: pairs (36)</c:v>
                  </c:pt>
                  <c:pt idx="3">
                    <c:v>1.5B lab: 3 in a slot (24)</c:v>
                  </c:pt>
                  <c:pt idx="4">
                    <c:v>12 real tasks: K-Merge slots (86)</c:v>
                  </c:pt>
                  <c:pt idx="5">
                    <c:v>12 real tasks in ONE slot (12)</c:v>
                  </c:pt>
                </c:lvl>
              </c:multiLvlStrCache>
            </c:multiLvlStrRef>
          </c:cat>
          <c:val>
            <c:numRef>
              <c:f>Sheet1!$B$2:$B$7</c:f>
              <c:numCache>
                <c:formatCode>General</c:formatCode>
                <c:ptCount val="6"/>
                <c:pt idx="0">
                  <c:v>7.8</c:v>
                </c:pt>
                <c:pt idx="1">
                  <c:v>10.9</c:v>
                </c:pt>
                <c:pt idx="2">
                  <c:v>5.6</c:v>
                </c:pt>
                <c:pt idx="3">
                  <c:v>8.2</c:v>
                </c:pt>
                <c:pt idx="4">
                  <c:v>11.1</c:v>
                </c:pt>
                <c:pt idx="5">
                  <c:v>10.2</c:v>
                </c:pt>
              </c:numCache>
            </c:numRef>
          </c:val>
        </c:ser>
        <c:ser>
          <c:idx val="1"/>
          <c:order val="1"/>
          <c:tx>
            <c:strRef>
              <c:f>Sheet1!$C$1</c:f>
              <c:strCache>
                <c:ptCount val="1"/>
                <c:pt idx="0">
                  <c:v>Residual: new</c:v>
                </c:pt>
              </c:strCache>
            </c:strRef>
          </c:tx>
          <c:spPr>
            <a:solidFill>
              <a:srgbClr val="7D6B91"/>
            </a:solidFill>
            <a:effectLst/>
          </c:spPr>
          <c:invertIfNegative val="0"/>
          <c:dLbls>
            <c:numFmt formatCode="0.0&quot;%&quot;"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Sheet1!$A$2:$A$7</c:f>
              <c:multiLvlStrCache>
                <c:ptCount val="6"/>
                <c:lvl>
                  <c:pt idx="0">
                    <c:v>0.5B lab: pairs (36)</c:v>
                  </c:pt>
                  <c:pt idx="1">
                    <c:v>0.5B lab: 3 in a slot (27)</c:v>
                  </c:pt>
                  <c:pt idx="2">
                    <c:v>1.5B lab: pairs (36)</c:v>
                  </c:pt>
                  <c:pt idx="3">
                    <c:v>1.5B lab: 3 in a slot (24)</c:v>
                  </c:pt>
                  <c:pt idx="4">
                    <c:v>12 real tasks: K-Merge slots (86)</c:v>
                  </c:pt>
                  <c:pt idx="5">
                    <c:v>12 real tasks in ONE slot (12)</c:v>
                  </c:pt>
                </c:lvl>
              </c:multiLvlStrCache>
            </c:multiLvlStrRef>
          </c:cat>
          <c:val>
            <c:numRef>
              <c:f>Sheet1!$C$2:$C$7</c:f>
              <c:numCache>
                <c:formatCode>General</c:formatCode>
                <c:ptCount val="6"/>
                <c:pt idx="0">
                  <c:v>92.2</c:v>
                </c:pt>
                <c:pt idx="1">
                  <c:v>89.1</c:v>
                </c:pt>
                <c:pt idx="2">
                  <c:v>94.4</c:v>
                </c:pt>
                <c:pt idx="3">
                  <c:v>91.8</c:v>
                </c:pt>
                <c:pt idx="4">
                  <c:v>88.9</c:v>
                </c:pt>
                <c:pt idx="5">
                  <c:v>89.8</c:v>
                </c:pt>
              </c:numCache>
            </c:numRef>
          </c:val>
        </c:ser>
        <c:dLbls>
          <c:numFmt formatCode="0.0&quot;%&quot;"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B263B"/>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6B778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3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63B"/>
                </a:solidFill>
                <a:latin typeface="+mn-lt"/>
              </a:defRPr>
            </a:pPr>
            <a:r>
              <a:rPr sz="1400" b="0" i="0" u="none" strike="noStrike">
                <a:solidFill>
                  <a:srgbClr val="1B263B"/>
                </a:solidFill>
                <a:latin typeface="+mn-lt"/>
              </a:rPr>
              <a:t>How well each score ranks K-Merge's damage (Spearman ρ)</a:t>
            </a:r>
          </a:p>
        </c:rich>
      </c:tx>
      <c:layout/>
      <c:overlay val="0"/>
    </c:title>
    <c:autoTitleDeleted val="0"/>
    <c:plotArea>
      <c:layout/>
      <c:barChart>
        <c:barDir val="col"/>
        <c:grouping val="clustered"/>
        <c:varyColors val="0"/>
        <c:ser>
          <c:idx val="0"/>
          <c:order val="0"/>
          <c:tx>
            <c:strRef>
              <c:f>Sheet1!$B$1</c:f>
              <c:strCache>
                <c:ptCount val="1"/>
                <c:pt idx="0">
                  <c:v>Cosine, sign flipped (K-Merge's score)</c:v>
                </c:pt>
              </c:strCache>
            </c:strRef>
          </c:tx>
          <c:spPr>
            <a:solidFill>
              <a:srgbClr val="D1495B"/>
            </a:solidFill>
            <a:effectLst/>
          </c:spPr>
          <c:invertIfNegative val="0"/>
          <c:dLbls>
            <c:numFmt formatCode="0.00" sourceLinked="0"/>
            <c:txPr>
              <a:bodyPr/>
              <a:lstStyle/>
              <a:p>
                <a:pPr>
                  <a:defRPr b="0" i="0" strike="noStrike" sz="1300" u="none">
                    <a:solidFill>
                      <a:srgbClr val="1B263B"/>
                    </a:solidFill>
                    <a:latin typeface="+mn-lt"/>
                  </a:defRPr>
                </a:pPr>
              </a:p>
            </c:txPr>
            <c:showLegendKey val="0"/>
            <c:showVal val="1"/>
            <c:showCatName val="0"/>
            <c:showSerName val="0"/>
            <c:showPercent val="0"/>
            <c:showBubbleSize val="0"/>
            <c:showLeaderLines val="0"/>
          </c:dLbls>
          <c:cat>
            <c:multiLvlStrRef>
              <c:f>Sheet1!$A$2:$A$4</c:f>
              <c:multiLvlStrCache>
                <c:ptCount val="3"/>
                <c:lvl>
                  <c:pt idx="0">
                    <c:v>0.5B lab</c:v>
                  </c:pt>
                  <c:pt idx="1">
                    <c:v>1.5B lab</c:v>
                  </c:pt>
                  <c:pt idx="2">
                    <c:v>12 real tasks</c:v>
                  </c:pt>
                </c:lvl>
              </c:multiLvlStrCache>
            </c:multiLvlStrRef>
          </c:cat>
          <c:val>
            <c:numRef>
              <c:f>Sheet1!$B$2:$B$4</c:f>
              <c:numCache>
                <c:formatCode>General</c:formatCode>
                <c:ptCount val="3"/>
                <c:pt idx="0">
                  <c:v>0.4375</c:v>
                </c:pt>
                <c:pt idx="1">
                  <c:v>-0.3419</c:v>
                </c:pt>
                <c:pt idx="2">
                  <c:v>0.6533</c:v>
                </c:pt>
              </c:numCache>
            </c:numRef>
          </c:val>
        </c:ser>
        <c:ser>
          <c:idx val="1"/>
          <c:order val="1"/>
          <c:tx>
            <c:strRef>
              <c:f>Sheet1!$C$1</c:f>
              <c:strCache>
                <c:ptCount val="1"/>
                <c:pt idx="0">
                  <c:v>New-direction demand</c:v>
                </c:pt>
              </c:strCache>
            </c:strRef>
          </c:tx>
          <c:spPr>
            <a:solidFill>
              <a:srgbClr val="0E7C86"/>
            </a:solidFill>
            <a:effectLst/>
          </c:spPr>
          <c:invertIfNegative val="0"/>
          <c:dLbls>
            <c:numFmt formatCode="0.00" sourceLinked="0"/>
            <c:txPr>
              <a:bodyPr/>
              <a:lstStyle/>
              <a:p>
                <a:pPr>
                  <a:defRPr b="0" i="0" strike="noStrike" sz="1300" u="none">
                    <a:solidFill>
                      <a:srgbClr val="1B263B"/>
                    </a:solidFill>
                    <a:latin typeface="+mn-lt"/>
                  </a:defRPr>
                </a:pPr>
              </a:p>
            </c:txPr>
            <c:showLegendKey val="0"/>
            <c:showVal val="1"/>
            <c:showCatName val="0"/>
            <c:showSerName val="0"/>
            <c:showPercent val="0"/>
            <c:showBubbleSize val="0"/>
            <c:showLeaderLines val="0"/>
          </c:dLbls>
          <c:cat>
            <c:multiLvlStrRef>
              <c:f>Sheet1!$A$2:$A$4</c:f>
              <c:multiLvlStrCache>
                <c:ptCount val="3"/>
                <c:lvl>
                  <c:pt idx="0">
                    <c:v>0.5B lab</c:v>
                  </c:pt>
                  <c:pt idx="1">
                    <c:v>1.5B lab</c:v>
                  </c:pt>
                  <c:pt idx="2">
                    <c:v>12 real tasks</c:v>
                  </c:pt>
                </c:lvl>
              </c:multiLvlStrCache>
            </c:multiLvlStrRef>
          </c:cat>
          <c:val>
            <c:numRef>
              <c:f>Sheet1!$C$2:$C$4</c:f>
              <c:numCache>
                <c:formatCode>General</c:formatCode>
                <c:ptCount val="3"/>
                <c:pt idx="0">
                  <c:v>0.5796</c:v>
                </c:pt>
                <c:pt idx="1">
                  <c:v>-0.2538</c:v>
                </c:pt>
                <c:pt idx="2">
                  <c:v>0.6196</c:v>
                </c:pt>
              </c:numCache>
            </c:numRef>
          </c:val>
        </c:ser>
        <c:dLbls>
          <c:numFmt formatCode="0.00" sourceLinked="0"/>
          <c:txPr>
            <a:bodyPr/>
            <a:lstStyle/>
            <a:p>
              <a:pPr>
                <a:defRPr b="0" i="0" strike="noStrike" sz="1300" u="none">
                  <a:solidFill>
                    <a:srgbClr val="1B263B"/>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1B263B"/>
                </a:solidFill>
                <a:latin typeface="+mn-lt"/>
              </a:defRPr>
            </a:pPr>
            <a:endParaRPr lang="en-US"/>
          </a:p>
        </c:txPr>
        <c:crossAx val="2094734552"/>
        <c:crosses val="autoZero"/>
        <c:auto val="1"/>
        <c:lblAlgn val="ctr"/>
        <c:noMultiLvlLbl val="1"/>
      </c:catAx>
      <c:valAx>
        <c:axId val="2094734552"/>
        <c:scaling>
          <c:orientation val="minMax"/>
          <c:max val="0.8"/>
          <c:min val="-0.6"/>
        </c:scaling>
        <c:delete val="0"/>
        <c:axPos val="l"/>
        <c:majorGridlines>
          <c:spPr>
            <a:ln w="9525" cap="flat">
              <a:solidFill>
                <a:srgbClr val="E6EBF0"/>
              </a:solidFill>
              <a:prstDash val="solid"/>
              <a:round/>
            </a:ln>
          </c:spPr>
        </c:majorGridlines>
        <c:numFmt formatCode="0.0" sourceLinked="0"/>
        <c:majorTickMark val="out"/>
        <c:minorTickMark val="none"/>
        <c:tickLblPos val="nextTo"/>
        <c:spPr>
          <a:ln w="12700" cap="flat">
            <a:noFill/>
            <a:prstDash val="solid"/>
            <a:round/>
          </a:ln>
        </c:spPr>
        <c:txPr>
          <a:bodyPr/>
          <a:lstStyle/>
          <a:p>
            <a:pPr>
              <a:defRPr sz="1200" b="0" i="0" u="none" strike="noStrike">
                <a:solidFill>
                  <a:srgbClr val="6B7785"/>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3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63B"/>
                </a:solidFill>
                <a:latin typeface="+mn-lt"/>
              </a:defRPr>
            </a:pPr>
            <a:r>
              <a:rPr sz="1400" b="0" i="0" u="none" strike="noStrike">
                <a:solidFill>
                  <a:srgbClr val="1B263B"/>
                </a:solidFill>
                <a:latin typeface="+mn-lt"/>
              </a:rPr>
              <a:t>Rank correlation with K-Merge's damage, 86 real cases</a:t>
            </a:r>
          </a:p>
        </c:rich>
      </c:tx>
      <c:layout/>
      <c:overlay val="0"/>
    </c:title>
    <c:autoTitleDeleted val="0"/>
    <c:plotArea>
      <c:layout/>
      <c:barChart>
        <c:barDir val="col"/>
        <c:grouping val="clustered"/>
        <c:varyColors val="0"/>
        <c:ser>
          <c:idx val="0"/>
          <c:order val="0"/>
          <c:tx>
            <c:strRef>
              <c:f>Sheet1!$B$1</c:f>
              <c:strCache>
                <c:ptCount val="1"/>
                <c:pt idx="0">
                  <c:v>Cosine, sign flipped</c:v>
                </c:pt>
              </c:strCache>
            </c:strRef>
          </c:tx>
          <c:spPr>
            <a:solidFill>
              <a:srgbClr val="D1495B"/>
            </a:solidFill>
            <a:effectLst/>
          </c:spPr>
          <c:invertIfNegative val="0"/>
          <c:dLbls>
            <c:numFmt formatCode="0.00" sourceLinked="0"/>
            <c:txPr>
              <a:bodyPr/>
              <a:lstStyle/>
              <a:p>
                <a:pPr>
                  <a:defRPr b="0" i="0" strike="noStrike" sz="1300" u="none">
                    <a:solidFill>
                      <a:srgbClr val="1B263B"/>
                    </a:solidFill>
                    <a:latin typeface="+mn-lt"/>
                  </a:defRPr>
                </a:pPr>
              </a:p>
            </c:txPr>
            <c:showLegendKey val="0"/>
            <c:showVal val="1"/>
            <c:showCatName val="0"/>
            <c:showSerName val="0"/>
            <c:showPercent val="0"/>
            <c:showBubbleSize val="0"/>
            <c:showLeaderLines val="0"/>
          </c:dLbls>
          <c:cat>
            <c:multiLvlStrRef>
              <c:f>Sheet1!$A$2:$A$4</c:f>
              <c:multiLvlStrCache>
                <c:ptCount val="3"/>
                <c:lvl>
                  <c:pt idx="0">
                    <c:v>As measured</c:v>
                  </c:pt>
                  <c:pt idx="1">
                    <c:v>Slot size held fixed</c:v>
                  </c:pt>
                  <c:pt idx="2">
                    <c:v>Slot size and task type held fixed</c:v>
                  </c:pt>
                </c:lvl>
              </c:multiLvlStrCache>
            </c:multiLvlStrRef>
          </c:cat>
          <c:val>
            <c:numRef>
              <c:f>Sheet1!$B$2:$B$4</c:f>
              <c:numCache>
                <c:formatCode>General</c:formatCode>
                <c:ptCount val="3"/>
                <c:pt idx="0">
                  <c:v>0.6533</c:v>
                </c:pt>
                <c:pt idx="1">
                  <c:v>0.6085</c:v>
                </c:pt>
                <c:pt idx="2">
                  <c:v>0.0045</c:v>
                </c:pt>
              </c:numCache>
            </c:numRef>
          </c:val>
        </c:ser>
        <c:ser>
          <c:idx val="1"/>
          <c:order val="1"/>
          <c:tx>
            <c:strRef>
              <c:f>Sheet1!$C$1</c:f>
              <c:strCache>
                <c:ptCount val="1"/>
                <c:pt idx="0">
                  <c:v>New-direction demand</c:v>
                </c:pt>
              </c:strCache>
            </c:strRef>
          </c:tx>
          <c:spPr>
            <a:solidFill>
              <a:srgbClr val="0E7C86"/>
            </a:solidFill>
            <a:effectLst/>
          </c:spPr>
          <c:invertIfNegative val="0"/>
          <c:dLbls>
            <c:numFmt formatCode="0.00" sourceLinked="0"/>
            <c:txPr>
              <a:bodyPr/>
              <a:lstStyle/>
              <a:p>
                <a:pPr>
                  <a:defRPr b="0" i="0" strike="noStrike" sz="1300" u="none">
                    <a:solidFill>
                      <a:srgbClr val="1B263B"/>
                    </a:solidFill>
                    <a:latin typeface="+mn-lt"/>
                  </a:defRPr>
                </a:pPr>
              </a:p>
            </c:txPr>
            <c:showLegendKey val="0"/>
            <c:showVal val="1"/>
            <c:showCatName val="0"/>
            <c:showSerName val="0"/>
            <c:showPercent val="0"/>
            <c:showBubbleSize val="0"/>
            <c:showLeaderLines val="0"/>
          </c:dLbls>
          <c:cat>
            <c:multiLvlStrRef>
              <c:f>Sheet1!$A$2:$A$4</c:f>
              <c:multiLvlStrCache>
                <c:ptCount val="3"/>
                <c:lvl>
                  <c:pt idx="0">
                    <c:v>As measured</c:v>
                  </c:pt>
                  <c:pt idx="1">
                    <c:v>Slot size held fixed</c:v>
                  </c:pt>
                  <c:pt idx="2">
                    <c:v>Slot size and task type held fixed</c:v>
                  </c:pt>
                </c:lvl>
              </c:multiLvlStrCache>
            </c:multiLvlStrRef>
          </c:cat>
          <c:val>
            <c:numRef>
              <c:f>Sheet1!$C$2:$C$4</c:f>
              <c:numCache>
                <c:formatCode>General</c:formatCode>
                <c:ptCount val="3"/>
                <c:pt idx="0">
                  <c:v>0.6196</c:v>
                </c:pt>
                <c:pt idx="1">
                  <c:v>0.5677</c:v>
                </c:pt>
                <c:pt idx="2">
                  <c:v>0.0273</c:v>
                </c:pt>
              </c:numCache>
            </c:numRef>
          </c:val>
        </c:ser>
        <c:dLbls>
          <c:numFmt formatCode="0.00" sourceLinked="0"/>
          <c:txPr>
            <a:bodyPr/>
            <a:lstStyle/>
            <a:p>
              <a:pPr>
                <a:defRPr b="0" i="0" strike="noStrike" sz="1300" u="none">
                  <a:solidFill>
                    <a:srgbClr val="1B263B"/>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1B263B"/>
                </a:solidFill>
                <a:latin typeface="+mn-lt"/>
              </a:defRPr>
            </a:pPr>
            <a:endParaRPr lang="en-US"/>
          </a:p>
        </c:txPr>
        <c:crossAx val="2094734552"/>
        <c:crosses val="autoZero"/>
        <c:auto val="1"/>
        <c:lblAlgn val="ctr"/>
        <c:noMultiLvlLbl val="1"/>
      </c:catAx>
      <c:valAx>
        <c:axId val="2094734552"/>
        <c:scaling>
          <c:orientation val="minMax"/>
          <c:max val="0.8"/>
          <c:min val="0"/>
        </c:scaling>
        <c:delete val="0"/>
        <c:axPos val="l"/>
        <c:majorGridlines>
          <c:spPr>
            <a:ln w="9525" cap="flat">
              <a:solidFill>
                <a:srgbClr val="E6EBF0"/>
              </a:solidFill>
              <a:prstDash val="solid"/>
              <a:round/>
            </a:ln>
          </c:spPr>
        </c:majorGridlines>
        <c:numFmt formatCode="0.0" sourceLinked="0"/>
        <c:majorTickMark val="out"/>
        <c:minorTickMark val="none"/>
        <c:tickLblPos val="nextTo"/>
        <c:spPr>
          <a:ln w="12700" cap="flat">
            <a:noFill/>
            <a:prstDash val="solid"/>
            <a:round/>
          </a:ln>
        </c:spPr>
        <c:txPr>
          <a:bodyPr/>
          <a:lstStyle/>
          <a:p>
            <a:pPr>
              <a:defRPr sz="1200" b="0" i="0" u="none" strike="noStrike">
                <a:solidFill>
                  <a:srgbClr val="6B7785"/>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300">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63B"/>
                </a:solidFill>
                <a:latin typeface="+mn-lt"/>
              </a:defRPr>
            </a:pPr>
            <a:r>
              <a:rPr sz="1400" b="0" i="0" u="none" strike="noStrike">
                <a:solidFill>
                  <a:srgbClr val="1B263B"/>
                </a:solidFill>
                <a:latin typeface="+mn-lt"/>
              </a:rPr>
              <a:t>Quality kept, % of each language's own adapter</a:t>
            </a:r>
          </a:p>
        </c:rich>
      </c:tx>
      <c:layout/>
      <c:overlay val="0"/>
    </c:title>
    <c:autoTitleDeleted val="0"/>
    <c:plotArea>
      <c:layout/>
      <c:barChart>
        <c:barDir val="col"/>
        <c:grouping val="clustered"/>
        <c:varyColors val="0"/>
        <c:ser>
          <c:idx val="0"/>
          <c:order val="0"/>
          <c:tx>
            <c:strRef>
              <c:f>Sheet1!$B$1</c:f>
              <c:strCache>
                <c:ptCount val="1"/>
                <c:pt idx="0">
                  <c:v>Cosine rule (K-Merge)</c:v>
                </c:pt>
              </c:strCache>
            </c:strRef>
          </c:tx>
          <c:spPr>
            <a:solidFill>
              <a:srgbClr val="D1495B"/>
            </a:solidFill>
            <a:effectLst/>
          </c:spPr>
          <c:invertIfNegative val="0"/>
          <c:dLbls>
            <c:numFmt formatCode="0.0" sourceLinked="0"/>
            <c:txPr>
              <a:bodyPr/>
              <a:lstStyle/>
              <a:p>
                <a:pPr>
                  <a:defRPr b="0" i="0" strike="noStrike" sz="1200" u="none">
                    <a:solidFill>
                      <a:srgbClr val="1B263B"/>
                    </a:solidFill>
                    <a:latin typeface="+mn-lt"/>
                  </a:defRPr>
                </a:pPr>
              </a:p>
            </c:txPr>
            <c:showLegendKey val="0"/>
            <c:showVal val="1"/>
            <c:showCatName val="0"/>
            <c:showSerName val="0"/>
            <c:showPercent val="0"/>
            <c:showBubbleSize val="0"/>
            <c:showLeaderLines val="0"/>
          </c:dLbls>
          <c:cat>
            <c:multiLvlStrRef>
              <c:f>Sheet1!$A$2:$A$5</c:f>
              <c:multiLvlStrCache>
                <c:ptCount val="4"/>
                <c:lvl>
                  <c:pt idx="0">
                    <c:v>0.5B: average</c:v>
                  </c:pt>
                  <c:pt idx="1">
                    <c:v>0.5B: weakest language</c:v>
                  </c:pt>
                  <c:pt idx="2">
                    <c:v>1.5B: average</c:v>
                  </c:pt>
                  <c:pt idx="3">
                    <c:v>1.5B: weakest language</c:v>
                  </c:pt>
                </c:lvl>
              </c:multiLvlStrCache>
            </c:multiLvlStrRef>
          </c:cat>
          <c:val>
            <c:numRef>
              <c:f>Sheet1!$B$2:$B$5</c:f>
              <c:numCache>
                <c:formatCode>General</c:formatCode>
                <c:ptCount val="4"/>
                <c:pt idx="0">
                  <c:v>92.8</c:v>
                </c:pt>
                <c:pt idx="1">
                  <c:v>81.3</c:v>
                </c:pt>
                <c:pt idx="2">
                  <c:v>98.5</c:v>
                </c:pt>
                <c:pt idx="3">
                  <c:v>95.9</c:v>
                </c:pt>
              </c:numCache>
            </c:numRef>
          </c:val>
        </c:ser>
        <c:ser>
          <c:idx val="1"/>
          <c:order val="1"/>
          <c:tx>
            <c:strRef>
              <c:f>Sheet1!$C$1</c:f>
              <c:strCache>
                <c:ptCount val="1"/>
                <c:pt idx="0">
                  <c:v>Lowest-demand rule</c:v>
                </c:pt>
              </c:strCache>
            </c:strRef>
          </c:tx>
          <c:spPr>
            <a:solidFill>
              <a:srgbClr val="0E7C86"/>
            </a:solidFill>
            <a:effectLst/>
          </c:spPr>
          <c:invertIfNegative val="0"/>
          <c:dLbls>
            <c:numFmt formatCode="0.0" sourceLinked="0"/>
            <c:txPr>
              <a:bodyPr/>
              <a:lstStyle/>
              <a:p>
                <a:pPr>
                  <a:defRPr b="0" i="0" strike="noStrike" sz="1200" u="none">
                    <a:solidFill>
                      <a:srgbClr val="1B263B"/>
                    </a:solidFill>
                    <a:latin typeface="+mn-lt"/>
                  </a:defRPr>
                </a:pPr>
              </a:p>
            </c:txPr>
            <c:showLegendKey val="0"/>
            <c:showVal val="1"/>
            <c:showCatName val="0"/>
            <c:showSerName val="0"/>
            <c:showPercent val="0"/>
            <c:showBubbleSize val="0"/>
            <c:showLeaderLines val="0"/>
          </c:dLbls>
          <c:cat>
            <c:multiLvlStrRef>
              <c:f>Sheet1!$A$2:$A$5</c:f>
              <c:multiLvlStrCache>
                <c:ptCount val="4"/>
                <c:lvl>
                  <c:pt idx="0">
                    <c:v>0.5B: average</c:v>
                  </c:pt>
                  <c:pt idx="1">
                    <c:v>0.5B: weakest language</c:v>
                  </c:pt>
                  <c:pt idx="2">
                    <c:v>1.5B: average</c:v>
                  </c:pt>
                  <c:pt idx="3">
                    <c:v>1.5B: weakest language</c:v>
                  </c:pt>
                </c:lvl>
              </c:multiLvlStrCache>
            </c:multiLvlStrRef>
          </c:cat>
          <c:val>
            <c:numRef>
              <c:f>Sheet1!$C$2:$C$5</c:f>
              <c:numCache>
                <c:formatCode>General</c:formatCode>
                <c:ptCount val="4"/>
                <c:pt idx="0">
                  <c:v>92.3</c:v>
                </c:pt>
                <c:pt idx="1">
                  <c:v>81</c:v>
                </c:pt>
                <c:pt idx="2">
                  <c:v>98.5</c:v>
                </c:pt>
                <c:pt idx="3">
                  <c:v>95.9</c:v>
                </c:pt>
              </c:numCache>
            </c:numRef>
          </c:val>
        </c:ser>
        <c:dLbls>
          <c:numFmt formatCode="0.0" sourceLinked="0"/>
          <c:txPr>
            <a:bodyPr/>
            <a:lstStyle/>
            <a:p>
              <a:pPr>
                <a:defRPr b="0" i="0" strike="noStrike" sz="1200" u="none">
                  <a:solidFill>
                    <a:srgbClr val="1B263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1B263B"/>
                </a:solidFill>
                <a:latin typeface="+mn-lt"/>
              </a:defRPr>
            </a:pPr>
            <a:endParaRPr lang="en-US"/>
          </a:p>
        </c:txPr>
        <c:crossAx val="2094734552"/>
        <c:crosses val="autoZero"/>
        <c:auto val="1"/>
        <c:lblAlgn val="ctr"/>
        <c:noMultiLvlLbl val="1"/>
      </c:catAx>
      <c:valAx>
        <c:axId val="2094734552"/>
        <c:scaling>
          <c:orientation val="minMax"/>
          <c:max val="110"/>
          <c:min val="0"/>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6B778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300">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63B"/>
                </a:solidFill>
                <a:latin typeface="+mn-lt"/>
              </a:defRPr>
            </a:pPr>
            <a:r>
              <a:rPr sz="1400" b="0" i="0" u="none" strike="noStrike">
                <a:solidFill>
                  <a:srgbClr val="1B263B"/>
                </a:solidFill>
                <a:latin typeface="+mn-lt"/>
              </a:rPr>
              <a:t>Cosine between two different tasks' matrices</a:t>
            </a:r>
          </a:p>
        </c:rich>
      </c:tx>
      <c:layout/>
      <c:overlay val="0"/>
    </c:title>
    <c:autoTitleDeleted val="0"/>
    <c:plotArea>
      <c:layout/>
      <c:barChart>
        <c:barDir val="col"/>
        <c:grouping val="clustered"/>
        <c:varyColors val="0"/>
        <c:ser>
          <c:idx val="0"/>
          <c:order val="0"/>
          <c:tx>
            <c:strRef>
              <c:f>Sheet1!$B$1</c:f>
              <c:strCache>
                <c:ptCount val="1"/>
                <c:pt idx="0">
                  <c:v>A matrices (read the input)</c:v>
                </c:pt>
              </c:strCache>
            </c:strRef>
          </c:tx>
          <c:spPr>
            <a:solidFill>
              <a:srgbClr val="8A96A3"/>
            </a:solidFill>
            <a:effectLst/>
          </c:spPr>
          <c:invertIfNegative val="0"/>
          <c:dLbls>
            <c:numFmt formatCode="0.00" sourceLinked="0"/>
            <c:txPr>
              <a:bodyPr/>
              <a:lstStyle/>
              <a:p>
                <a:pPr>
                  <a:defRPr b="0" i="0" strike="noStrike" sz="1300" u="none">
                    <a:solidFill>
                      <a:srgbClr val="1B263B"/>
                    </a:solidFill>
                    <a:latin typeface="+mn-lt"/>
                  </a:defRPr>
                </a:pPr>
              </a:p>
            </c:txPr>
            <c:showLegendKey val="0"/>
            <c:showVal val="1"/>
            <c:showCatName val="0"/>
            <c:showSerName val="0"/>
            <c:showPercent val="0"/>
            <c:showBubbleSize val="0"/>
            <c:showLeaderLines val="0"/>
          </c:dLbls>
          <c:cat>
            <c:multiLvlStrRef>
              <c:f>Sheet1!$A$2:$A$4</c:f>
              <c:multiLvlStrCache>
                <c:ptCount val="3"/>
                <c:lvl>
                  <c:pt idx="0">
                    <c:v>0.5B lab</c:v>
                  </c:pt>
                  <c:pt idx="1">
                    <c:v>1.5B lab</c:v>
                  </c:pt>
                  <c:pt idx="2">
                    <c:v>12 real tasks</c:v>
                  </c:pt>
                </c:lvl>
              </c:multiLvlStrCache>
            </c:multiLvlStrRef>
          </c:cat>
          <c:val>
            <c:numRef>
              <c:f>Sheet1!$B$2:$B$4</c:f>
              <c:numCache>
                <c:formatCode>General</c:formatCode>
                <c:ptCount val="3"/>
                <c:pt idx="0">
                  <c:v>0.9802</c:v>
                </c:pt>
                <c:pt idx="1">
                  <c:v>0.9684</c:v>
                </c:pt>
                <c:pt idx="2">
                  <c:v>0.9943</c:v>
                </c:pt>
              </c:numCache>
            </c:numRef>
          </c:val>
        </c:ser>
        <c:ser>
          <c:idx val="1"/>
          <c:order val="1"/>
          <c:tx>
            <c:strRef>
              <c:f>Sheet1!$C$1</c:f>
              <c:strCache>
                <c:ptCount val="1"/>
                <c:pt idx="0">
                  <c:v>B matrices (write the output)</c:v>
                </c:pt>
              </c:strCache>
            </c:strRef>
          </c:tx>
          <c:spPr>
            <a:solidFill>
              <a:srgbClr val="0E7C86"/>
            </a:solidFill>
            <a:effectLst/>
          </c:spPr>
          <c:invertIfNegative val="0"/>
          <c:dLbls>
            <c:numFmt formatCode="0.00" sourceLinked="0"/>
            <c:txPr>
              <a:bodyPr/>
              <a:lstStyle/>
              <a:p>
                <a:pPr>
                  <a:defRPr b="0" i="0" strike="noStrike" sz="1300" u="none">
                    <a:solidFill>
                      <a:srgbClr val="1B263B"/>
                    </a:solidFill>
                    <a:latin typeface="+mn-lt"/>
                  </a:defRPr>
                </a:pPr>
              </a:p>
            </c:txPr>
            <c:showLegendKey val="0"/>
            <c:showVal val="1"/>
            <c:showCatName val="0"/>
            <c:showSerName val="0"/>
            <c:showPercent val="0"/>
            <c:showBubbleSize val="0"/>
            <c:showLeaderLines val="0"/>
          </c:dLbls>
          <c:cat>
            <c:multiLvlStrRef>
              <c:f>Sheet1!$A$2:$A$4</c:f>
              <c:multiLvlStrCache>
                <c:ptCount val="3"/>
                <c:lvl>
                  <c:pt idx="0">
                    <c:v>0.5B lab</c:v>
                  </c:pt>
                  <c:pt idx="1">
                    <c:v>1.5B lab</c:v>
                  </c:pt>
                  <c:pt idx="2">
                    <c:v>12 real tasks</c:v>
                  </c:pt>
                </c:lvl>
              </c:multiLvlStrCache>
            </c:multiLvlStrRef>
          </c:cat>
          <c:val>
            <c:numRef>
              <c:f>Sheet1!$C$2:$C$4</c:f>
              <c:numCache>
                <c:formatCode>General</c:formatCode>
                <c:ptCount val="3"/>
                <c:pt idx="0">
                  <c:v>0.1503</c:v>
                </c:pt>
                <c:pt idx="1">
                  <c:v>0.107</c:v>
                </c:pt>
                <c:pt idx="2">
                  <c:v>0.0601</c:v>
                </c:pt>
              </c:numCache>
            </c:numRef>
          </c:val>
        </c:ser>
        <c:dLbls>
          <c:numFmt formatCode="0.00" sourceLinked="0"/>
          <c:txPr>
            <a:bodyPr/>
            <a:lstStyle/>
            <a:p>
              <a:pPr>
                <a:defRPr b="0" i="0" strike="noStrike" sz="1300" u="none">
                  <a:solidFill>
                    <a:srgbClr val="1B263B"/>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1B263B"/>
                </a:solidFill>
                <a:latin typeface="+mn-lt"/>
              </a:defRPr>
            </a:pPr>
            <a:endParaRPr lang="en-US"/>
          </a:p>
        </c:txPr>
        <c:crossAx val="2094734552"/>
        <c:crosses val="autoZero"/>
        <c:auto val="1"/>
        <c:lblAlgn val="ctr"/>
        <c:noMultiLvlLbl val="1"/>
      </c:catAx>
      <c:valAx>
        <c:axId val="2094734552"/>
        <c:scaling>
          <c:orientation val="minMax"/>
          <c:max val="1.1"/>
          <c:min val="0"/>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6B778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300">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63B"/>
                </a:solidFill>
                <a:latin typeface="+mn-lt"/>
              </a:defRPr>
            </a:pPr>
            <a:r>
              <a:rPr sz="1400" b="0" i="0" u="none" strike="noStrike">
                <a:solidFill>
                  <a:srgbClr val="1B263B"/>
                </a:solidFill>
                <a:latin typeface="+mn-lt"/>
              </a:rPr>
              <a:t>Share of a real adapter's energy in its top k directions</a:t>
            </a:r>
          </a:p>
        </c:rich>
      </c:tx>
      <c:layout/>
      <c:overlay val="0"/>
    </c:title>
    <c:autoTitleDeleted val="0"/>
    <c:plotArea>
      <c:layout/>
      <c:barChart>
        <c:barDir val="col"/>
        <c:grouping val="clustered"/>
        <c:varyColors val="0"/>
        <c:ser>
          <c:idx val="0"/>
          <c:order val="0"/>
          <c:tx>
            <c:strRef>
              <c:f>Sheet1!$B$1</c:f>
              <c:strCache>
                <c:ptCount val="1"/>
                <c:pt idx="0">
                  <c:v>Energy kept</c:v>
                </c:pt>
              </c:strCache>
            </c:strRef>
          </c:tx>
          <c:spPr>
            <a:solidFill>
              <a:srgbClr val="A3ADB8"/>
            </a:solidFill>
            <a:effectLst/>
          </c:spPr>
          <c:invertIfNegative val="0"/>
          <c:dLbls>
            <c:numFmt formatCode="0&quot;%&quot;" sourceLinked="0"/>
            <c:txPr>
              <a:bodyPr/>
              <a:lstStyle/>
              <a:p>
                <a:pPr>
                  <a:defRPr b="0" i="0" strike="noStrike" sz="1300" u="none">
                    <a:solidFill>
                      <a:srgbClr val="1B263B"/>
                    </a:solidFill>
                    <a:latin typeface="+mn-lt"/>
                  </a:defRPr>
                </a:pPr>
              </a:p>
            </c:txPr>
            <c:showLegendKey val="0"/>
            <c:showVal val="1"/>
            <c:showCatName val="0"/>
            <c:showSerName val="0"/>
            <c:showPercent val="0"/>
            <c:showBubbleSize val="0"/>
            <c:showLeaderLines val="0"/>
          </c:dLbls>
          <c:dPt>
            <c:idx val="0"/>
            <c:invertIfNegative val="0"/>
            <c:bubble3D val="0"/>
            <c:spPr>
              <a:solidFill>
                <a:srgbClr val="A3ADB8"/>
              </a:solidFill>
              <a:effectLst/>
            </c:spPr>
          </c:dPt>
          <c:dPt>
            <c:idx val="1"/>
            <c:invertIfNegative val="0"/>
            <c:bubble3D val="0"/>
            <c:spPr>
              <a:solidFill>
                <a:srgbClr val="0E7C86"/>
              </a:solidFill>
              <a:effectLst/>
            </c:spPr>
          </c:dPt>
          <c:dPt>
            <c:idx val="2"/>
            <c:invertIfNegative val="0"/>
            <c:bubble3D val="0"/>
            <c:spPr>
              <a:solidFill>
                <a:srgbClr val="A3ADB8"/>
              </a:solidFill>
              <a:effectLst/>
            </c:spPr>
          </c:dPt>
          <c:dPt>
            <c:idx val="3"/>
            <c:invertIfNegative val="0"/>
            <c:bubble3D val="0"/>
            <c:spPr>
              <a:solidFill>
                <a:srgbClr val="A3ADB8"/>
              </a:solidFill>
              <a:effectLst/>
            </c:spPr>
          </c:dPt>
          <c:dPt>
            <c:idx val="4"/>
            <c:invertIfNegative val="0"/>
            <c:bubble3D val="0"/>
            <c:spPr>
              <a:solidFill>
                <a:srgbClr val="E9A23B"/>
              </a:solidFill>
              <a:effectLst/>
            </c:spPr>
          </c:dPt>
          <c:dPt>
            <c:idx val="5"/>
            <c:invertIfNegative val="0"/>
            <c:bubble3D val="0"/>
            <c:spPr>
              <a:solidFill>
                <a:srgbClr val="A3ADB8"/>
              </a:solidFill>
              <a:effectLst/>
            </c:spPr>
          </c:dPt>
          <c:cat>
            <c:multiLvlStrRef>
              <c:f>Sheet1!$A$2:$A$7</c:f>
              <c:multiLvlStrCache>
                <c:ptCount val="6"/>
                <c:lvl>
                  <c:pt idx="0">
                    <c:v>1</c:v>
                  </c:pt>
                  <c:pt idx="1">
                    <c:v>3</c:v>
                  </c:pt>
                  <c:pt idx="2">
                    <c:v>5</c:v>
                  </c:pt>
                  <c:pt idx="3">
                    <c:v>8</c:v>
                  </c:pt>
                  <c:pt idx="4">
                    <c:v>16</c:v>
                  </c:pt>
                  <c:pt idx="5">
                    <c:v>32</c:v>
                  </c:pt>
                </c:lvl>
              </c:multiLvlStrCache>
            </c:multiLvlStrRef>
          </c:cat>
          <c:val>
            <c:numRef>
              <c:f>Sheet1!$B$2:$B$7</c:f>
              <c:numCache>
                <c:formatCode>General</c:formatCode>
                <c:ptCount val="6"/>
                <c:pt idx="0">
                  <c:v>35.8</c:v>
                </c:pt>
                <c:pt idx="1">
                  <c:v>54.8</c:v>
                </c:pt>
                <c:pt idx="2">
                  <c:v>64.5</c:v>
                </c:pt>
                <c:pt idx="3">
                  <c:v>74.2</c:v>
                </c:pt>
                <c:pt idx="4">
                  <c:v>88.8</c:v>
                </c:pt>
                <c:pt idx="5">
                  <c:v>100</c:v>
                </c:pt>
              </c:numCache>
            </c:numRef>
          </c:val>
        </c:ser>
        <c:dLbls>
          <c:numFmt formatCode="0&quot;%&quot;" sourceLinked="0"/>
          <c:txPr>
            <a:bodyPr/>
            <a:lstStyle/>
            <a:p>
              <a:pPr>
                <a:defRPr b="0" i="0" strike="noStrike" sz="1300" u="none">
                  <a:solidFill>
                    <a:srgbClr val="1B263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6B7785"/>
                    </a:solidFill>
                    <a:latin typeface="+mn-lt"/>
                  </a:defRPr>
                </a:pPr>
                <a:r>
                  <a:rPr sz="1200" b="0" i="0" u="none" strike="noStrike">
                    <a:solidFill>
                      <a:srgbClr val="6B7785"/>
                    </a:solidFill>
                    <a:latin typeface="+mn-lt"/>
                  </a:rPr>
                  <a:t>top k directions kept (of 32)</a:t>
                </a:r>
              </a:p>
            </c:rich>
          </c:tx>
          <c:layout/>
          <c:overlay val="0"/>
        </c:title>
        <c:numFmt formatCode="General" sourceLinked="1"/>
        <c:majorTickMark val="out"/>
        <c:minorTickMark val="none"/>
        <c:tickLblPos val="low"/>
        <c:spPr>
          <a:ln w="12700" cap="flat">
            <a:noFill/>
            <a:prstDash val="solid"/>
            <a:round/>
          </a:ln>
        </c:spPr>
        <c:txPr>
          <a:bodyPr/>
          <a:lstStyle/>
          <a:p>
            <a:pPr>
              <a:defRPr sz="1300" b="0" i="0" u="none" strike="noStrike">
                <a:solidFill>
                  <a:srgbClr val="1B263B"/>
                </a:solidFill>
                <a:latin typeface="+mn-lt"/>
              </a:defRPr>
            </a:pPr>
            <a:endParaRPr lang="en-US"/>
          </a:p>
        </c:txPr>
        <c:crossAx val="2094734552"/>
        <c:crosses val="autoZero"/>
        <c:auto val="1"/>
        <c:lblAlgn val="ctr"/>
        <c:noMultiLvlLbl val="1"/>
      </c:catAx>
      <c:valAx>
        <c:axId val="2094734552"/>
        <c:scaling>
          <c:orientation val="minMax"/>
          <c:max val="110"/>
          <c:min val="0"/>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6B778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63B"/>
                </a:solidFill>
                <a:latin typeface="+mn-lt"/>
              </a:defRPr>
            </a:pPr>
            <a:r>
              <a:rPr sz="1400" b="0" i="0" u="none" strike="noStrike">
                <a:solidFill>
                  <a:srgbClr val="1B263B"/>
                </a:solidFill>
                <a:latin typeface="+mn-lt"/>
              </a:rPr>
              <a:t>Overlap layer by layer (Qwen2.5-1.5B, 28 layers)</a:t>
            </a:r>
          </a:p>
        </c:rich>
      </c:tx>
      <c:layout/>
      <c:overlay val="0"/>
    </c:title>
    <c:autoTitleDeleted val="0"/>
    <c:plotArea>
      <c:layout/>
      <c:lineChart>
        <c:varyColors val="0"/>
        <c:ser>
          <c:idx val="0"/>
          <c:order val="0"/>
          <c:tx>
            <c:strRef>
              <c:f>Sheet1!$B$1</c:f>
              <c:strCache>
                <c:ptCount val="1"/>
                <c:pt idx="0">
                  <c:v>12 real tasks</c:v>
                </c:pt>
              </c:strCache>
            </c:strRef>
          </c:tx>
          <c:spPr>
            <a:solidFill>
              <a:srgbClr val="0E7C86"/>
            </a:solidFill>
            <a:ln w="38100" cap="flat">
              <a:solidFill>
                <a:srgbClr val="0E7C86"/>
              </a:solidFill>
              <a:prstDash val="solid"/>
              <a:round/>
            </a:ln>
            <a:effectLst/>
          </c:spPr>
          <c:invertIfNegative val="0"/>
          <c:dLbls>
            <c:numFmt formatCode="#,##0" sourceLinked="0"/>
            <c:txPr>
              <a:bodyPr/>
              <a:lstStyle/>
              <a:p>
                <a:pPr>
                  <a:defRPr b="0" i="0" strike="noStrike" sz="1300" u="none">
                    <a:solidFill>
                      <a:srgbClr val="1B263B"/>
                    </a:solidFill>
                    <a:latin typeface="+mn-lt"/>
                  </a:defRPr>
                </a:pPr>
              </a:p>
            </c:txPr>
            <c:showLegendKey val="0"/>
            <c:showVal val="0"/>
            <c:showCatName val="0"/>
            <c:showSerName val="0"/>
            <c:showPercent val="0"/>
            <c:showBubbleSize val="0"/>
            <c:showLeaderLines val="0"/>
          </c:dLbls>
          <c:marker>
            <c:symbol val="circle"/>
            <c:size val="6"/>
            <c:spPr>
              <a:solidFill>
                <a:srgbClr val="0E7C86"/>
              </a:solidFill>
              <a:ln w="9525" cap="flat">
                <a:solidFill>
                  <a:srgbClr val="0E7C86"/>
                </a:solidFill>
                <a:prstDash val="solid"/>
                <a:round/>
              </a:ln>
              <a:effectLst/>
            </c:spPr>
          </c:marker>
          <c:cat>
            <c:multiLvlStrRef>
              <c:f>Sheet1!$A$2:$A$29</c:f>
              <c:multiLvlStrCache>
                <c:ptCount val="28"/>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lvl>
              </c:multiLvlStrCache>
            </c:multiLvlStrRef>
          </c:cat>
          <c:val>
            <c:numRef>
              <c:f>Sheet1!$B$2:$B$29</c:f>
              <c:numCache>
                <c:formatCode>General</c:formatCode>
                <c:ptCount val="28"/>
                <c:pt idx="0">
                  <c:v>7.2</c:v>
                </c:pt>
                <c:pt idx="1">
                  <c:v>8.6</c:v>
                </c:pt>
                <c:pt idx="2">
                  <c:v>9</c:v>
                </c:pt>
                <c:pt idx="3">
                  <c:v>9.2</c:v>
                </c:pt>
                <c:pt idx="4">
                  <c:v>9.5</c:v>
                </c:pt>
                <c:pt idx="5">
                  <c:v>11.8</c:v>
                </c:pt>
                <c:pt idx="6">
                  <c:v>11.2</c:v>
                </c:pt>
                <c:pt idx="7">
                  <c:v>11.9</c:v>
                </c:pt>
                <c:pt idx="8">
                  <c:v>11.9</c:v>
                </c:pt>
                <c:pt idx="9">
                  <c:v>12.8</c:v>
                </c:pt>
                <c:pt idx="10">
                  <c:v>15.6</c:v>
                </c:pt>
                <c:pt idx="11">
                  <c:v>14.2</c:v>
                </c:pt>
                <c:pt idx="12">
                  <c:v>14.1</c:v>
                </c:pt>
                <c:pt idx="13">
                  <c:v>13.8</c:v>
                </c:pt>
                <c:pt idx="14">
                  <c:v>13.1</c:v>
                </c:pt>
                <c:pt idx="15">
                  <c:v>16.2</c:v>
                </c:pt>
                <c:pt idx="16">
                  <c:v>14.7</c:v>
                </c:pt>
                <c:pt idx="17">
                  <c:v>17.1</c:v>
                </c:pt>
                <c:pt idx="18">
                  <c:v>14.3</c:v>
                </c:pt>
                <c:pt idx="19">
                  <c:v>13.4</c:v>
                </c:pt>
                <c:pt idx="20">
                  <c:v>10.9</c:v>
                </c:pt>
                <c:pt idx="21">
                  <c:v>10.3</c:v>
                </c:pt>
                <c:pt idx="22">
                  <c:v>9.1</c:v>
                </c:pt>
                <c:pt idx="23">
                  <c:v>8.6</c:v>
                </c:pt>
                <c:pt idx="24">
                  <c:v>8.5</c:v>
                </c:pt>
                <c:pt idx="25">
                  <c:v>8.3</c:v>
                </c:pt>
                <c:pt idx="26">
                  <c:v>7.7</c:v>
                </c:pt>
                <c:pt idx="27">
                  <c:v>6.5</c:v>
                </c:pt>
              </c:numCache>
            </c:numRef>
          </c:val>
          <c:smooth val="0"/>
        </c:ser>
        <c:ser>
          <c:idx val="1"/>
          <c:order val="1"/>
          <c:tx>
            <c:strRef>
              <c:f>Sheet1!$C$1</c:f>
              <c:strCache>
                <c:ptCount val="1"/>
                <c:pt idx="0">
                  <c:v>1.5B lab</c:v>
                </c:pt>
              </c:strCache>
            </c:strRef>
          </c:tx>
          <c:spPr>
            <a:solidFill>
              <a:srgbClr val="7D6B91"/>
            </a:solidFill>
            <a:ln w="38100" cap="flat">
              <a:solidFill>
                <a:srgbClr val="7D6B91"/>
              </a:solidFill>
              <a:prstDash val="solid"/>
              <a:round/>
            </a:ln>
            <a:effectLst/>
          </c:spPr>
          <c:invertIfNegative val="0"/>
          <c:dLbls>
            <c:numFmt formatCode="#,##0" sourceLinked="0"/>
            <c:txPr>
              <a:bodyPr/>
              <a:lstStyle/>
              <a:p>
                <a:pPr>
                  <a:defRPr b="0" i="0" strike="noStrike" sz="1300" u="none">
                    <a:solidFill>
                      <a:srgbClr val="1B263B"/>
                    </a:solidFill>
                    <a:latin typeface="+mn-lt"/>
                  </a:defRPr>
                </a:pPr>
              </a:p>
            </c:txPr>
            <c:showLegendKey val="0"/>
            <c:showVal val="0"/>
            <c:showCatName val="0"/>
            <c:showSerName val="0"/>
            <c:showPercent val="0"/>
            <c:showBubbleSize val="0"/>
            <c:showLeaderLines val="0"/>
          </c:dLbls>
          <c:marker>
            <c:symbol val="circle"/>
            <c:size val="6"/>
            <c:spPr>
              <a:solidFill>
                <a:srgbClr val="7D6B91"/>
              </a:solidFill>
              <a:ln w="9525" cap="flat">
                <a:solidFill>
                  <a:srgbClr val="7D6B91"/>
                </a:solidFill>
                <a:prstDash val="solid"/>
                <a:round/>
              </a:ln>
              <a:effectLst/>
            </c:spPr>
          </c:marker>
          <c:cat>
            <c:multiLvlStrRef>
              <c:f>Sheet1!$A$2:$A$29</c:f>
              <c:multiLvlStrCache>
                <c:ptCount val="28"/>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lvl>
              </c:multiLvlStrCache>
            </c:multiLvlStrRef>
          </c:cat>
          <c:val>
            <c:numRef>
              <c:f>Sheet1!$C$2:$C$29</c:f>
              <c:numCache>
                <c:formatCode>General</c:formatCode>
                <c:ptCount val="28"/>
                <c:pt idx="0">
                  <c:v>6.2</c:v>
                </c:pt>
                <c:pt idx="1">
                  <c:v>4.2</c:v>
                </c:pt>
                <c:pt idx="2">
                  <c:v>5.7</c:v>
                </c:pt>
                <c:pt idx="3">
                  <c:v>5.2</c:v>
                </c:pt>
                <c:pt idx="4">
                  <c:v>4.9</c:v>
                </c:pt>
                <c:pt idx="5">
                  <c:v>5.2</c:v>
                </c:pt>
                <c:pt idx="6">
                  <c:v>5.5</c:v>
                </c:pt>
                <c:pt idx="7">
                  <c:v>7.5</c:v>
                </c:pt>
                <c:pt idx="8">
                  <c:v>6.3</c:v>
                </c:pt>
                <c:pt idx="9">
                  <c:v>6.4</c:v>
                </c:pt>
                <c:pt idx="10">
                  <c:v>9.8</c:v>
                </c:pt>
                <c:pt idx="11">
                  <c:v>7</c:v>
                </c:pt>
                <c:pt idx="12">
                  <c:v>7</c:v>
                </c:pt>
                <c:pt idx="13">
                  <c:v>6.5</c:v>
                </c:pt>
                <c:pt idx="14">
                  <c:v>7.7</c:v>
                </c:pt>
                <c:pt idx="15">
                  <c:v>8.4</c:v>
                </c:pt>
                <c:pt idx="16">
                  <c:v>8.3</c:v>
                </c:pt>
                <c:pt idx="17">
                  <c:v>7.2</c:v>
                </c:pt>
                <c:pt idx="18">
                  <c:v>5.6</c:v>
                </c:pt>
                <c:pt idx="19">
                  <c:v>5.3</c:v>
                </c:pt>
                <c:pt idx="20">
                  <c:v>3.6</c:v>
                </c:pt>
                <c:pt idx="21">
                  <c:v>4.6</c:v>
                </c:pt>
                <c:pt idx="22">
                  <c:v>3.3</c:v>
                </c:pt>
                <c:pt idx="23">
                  <c:v>3.2</c:v>
                </c:pt>
                <c:pt idx="24">
                  <c:v>2</c:v>
                </c:pt>
                <c:pt idx="25">
                  <c:v>4.2</c:v>
                </c:pt>
                <c:pt idx="26">
                  <c:v>2.8</c:v>
                </c:pt>
                <c:pt idx="27">
                  <c:v>2.1</c:v>
                </c:pt>
              </c:numCache>
            </c:numRef>
          </c:val>
          <c:smooth val="0"/>
        </c:ser>
        <c:dLbls>
          <c:numFmt formatCode="#,##0" sourceLinked="0"/>
          <c:txPr>
            <a:bodyPr/>
            <a:lstStyle/>
            <a:p>
              <a:pPr>
                <a:defRPr b="0" i="0" strike="noStrike" sz="1300" u="none">
                  <a:solidFill>
                    <a:srgbClr val="1B263B"/>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6B7785"/>
                    </a:solidFill>
                    <a:latin typeface="+mn-lt"/>
                  </a:defRPr>
                </a:pPr>
                <a:r>
                  <a:rPr sz="1200" b="0" i="0" u="none" strike="noStrike">
                    <a:solidFill>
                      <a:srgbClr val="6B7785"/>
                    </a:solidFill>
                    <a:latin typeface="+mn-lt"/>
                  </a:rPr>
                  <a:t>layer</a:t>
                </a:r>
              </a:p>
            </c:rich>
          </c:tx>
          <c:layout/>
          <c:overlay val="0"/>
        </c:title>
        <c:numFmt formatCode="General" sourceLinked="1"/>
        <c:majorTickMark val="out"/>
        <c:minorTickMark val="none"/>
        <c:tickLblPos val="low"/>
        <c:spPr>
          <a:ln w="12700" cap="flat">
            <a:noFill/>
            <a:prstDash val="solid"/>
            <a:round/>
          </a:ln>
        </c:spPr>
        <c:txPr>
          <a:bodyPr/>
          <a:lstStyle/>
          <a:p>
            <a:pPr>
              <a:defRPr sz="1200" b="0" i="0" u="none" strike="noStrike">
                <a:solidFill>
                  <a:srgbClr val="1B263B"/>
                </a:solidFill>
                <a:latin typeface="+mn-lt"/>
              </a:defRPr>
            </a:pPr>
            <a:endParaRPr lang="en-US"/>
          </a:p>
        </c:txPr>
        <c:crossAx val="2094734552"/>
        <c:crosses val="autoZero"/>
        <c:auto val="1"/>
        <c:lblAlgn val="ctr"/>
        <c:noMultiLvlLbl val="1"/>
        <c:tickLblSkip val="3"/>
      </c:catAx>
      <c:valAx>
        <c:axId val="2094734552"/>
        <c:scaling>
          <c:orientation val="minMax"/>
          <c:max val="20"/>
          <c:min val="0"/>
        </c:scaling>
        <c:delete val="0"/>
        <c:axPos val="l"/>
        <c:majorGridlines>
          <c:spPr>
            <a:ln w="9525" cap="flat">
              <a:solidFill>
                <a:srgbClr val="E6EBF0"/>
              </a:solidFill>
              <a:prstDash val="solid"/>
              <a:round/>
            </a:ln>
          </c:spPr>
        </c:majorGridlines>
        <c:title>
          <c:tx>
            <c:rich>
              <a:bodyPr/>
              <a:lstStyle/>
              <a:p>
                <a:pPr>
                  <a:defRPr sz="1200" b="0" i="0" u="none" strike="noStrike">
                    <a:solidFill>
                      <a:srgbClr val="6B7785"/>
                    </a:solidFill>
                    <a:latin typeface="+mn-lt"/>
                  </a:defRPr>
                </a:pPr>
                <a:r>
                  <a:rPr sz="1200" b="0" i="0" u="none" strike="noStrike">
                    <a:solidFill>
                      <a:srgbClr val="6B7785"/>
                    </a:solidFill>
                    <a:latin typeface="+mn-lt"/>
                  </a:rPr>
                  <a:t>overlap, % of the newcomer's energy</a:t>
                </a:r>
              </a:p>
            </c:rich>
          </c:tx>
          <c:layout/>
          <c:overlay val="0"/>
        </c:title>
        <c:numFmt formatCode="0" sourceLinked="0"/>
        <c:majorTickMark val="out"/>
        <c:minorTickMark val="none"/>
        <c:tickLblPos val="nextTo"/>
        <c:spPr>
          <a:ln w="12700" cap="flat">
            <a:noFill/>
            <a:prstDash val="solid"/>
            <a:round/>
          </a:ln>
        </c:spPr>
        <c:txPr>
          <a:bodyPr/>
          <a:lstStyle/>
          <a:p>
            <a:pPr>
              <a:defRPr sz="1200" b="0" i="0" u="none" strike="noStrike">
                <a:solidFill>
                  <a:srgbClr val="6B7785"/>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300">
              <a:latin typeface="+mn-lt"/>
              <a:cs typeface="+mn-lt"/>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63B"/>
                </a:solidFill>
                <a:latin typeface="+mn-lt"/>
              </a:defRPr>
            </a:pPr>
            <a:r>
              <a:rPr sz="1400" b="0" i="0" u="none" strike="noStrike">
                <a:solidFill>
                  <a:srgbClr val="1B263B"/>
                </a:solidFill>
                <a:latin typeface="+mn-lt"/>
              </a:rPr>
              <a:t>Directions a real task needs (median, out of 32)</a:t>
            </a:r>
          </a:p>
        </c:rich>
      </c:tx>
      <c:layout/>
      <c:overlay val="0"/>
    </c:title>
    <c:autoTitleDeleted val="0"/>
    <c:plotArea>
      <c:layout/>
      <c:barChart>
        <c:barDir val="col"/>
        <c:grouping val="clustered"/>
        <c:varyColors val="0"/>
        <c:ser>
          <c:idx val="0"/>
          <c:order val="0"/>
          <c:tx>
            <c:strRef>
              <c:f>Sheet1!$B$1</c:f>
              <c:strCache>
                <c:ptCount val="1"/>
                <c:pt idx="0">
                  <c:v>To keep 90% of its energy</c:v>
                </c:pt>
              </c:strCache>
            </c:strRef>
          </c:tx>
          <c:spPr>
            <a:solidFill>
              <a:srgbClr val="E9A23B"/>
            </a:solidFill>
            <a:effectLst/>
          </c:spPr>
          <c:invertIfNegative val="0"/>
          <c:dLbls>
            <c:numFmt formatCode="0.0" sourceLinked="0"/>
            <c:txPr>
              <a:bodyPr/>
              <a:lstStyle/>
              <a:p>
                <a:pPr>
                  <a:defRPr b="0" i="0" strike="noStrike" sz="1300" u="none">
                    <a:solidFill>
                      <a:srgbClr val="1B263B"/>
                    </a:solidFill>
                    <a:latin typeface="+mn-lt"/>
                  </a:defRPr>
                </a:pPr>
              </a:p>
            </c:txPr>
            <c:showLegendKey val="0"/>
            <c:showVal val="1"/>
            <c:showCatName val="0"/>
            <c:showSerName val="0"/>
            <c:showPercent val="0"/>
            <c:showBubbleSize val="0"/>
            <c:showLeaderLines val="0"/>
          </c:dLbls>
          <c:cat>
            <c:multiLvlStrRef>
              <c:f>Sheet1!$A$2:$A$4</c:f>
              <c:multiLvlStrCache>
                <c:ptCount val="3"/>
                <c:lvl>
                  <c:pt idx="0">
                    <c:v>Grammar</c:v>
                  </c:pt>
                  <c:pt idx="1">
                    <c:v>Summaries</c:v>
                  </c:pt>
                  <c:pt idx="2">
                    <c:v>QA</c:v>
                  </c:pt>
                </c:lvl>
              </c:multiLvlStrCache>
            </c:multiLvlStrRef>
          </c:cat>
          <c:val>
            <c:numRef>
              <c:f>Sheet1!$B$2:$B$4</c:f>
              <c:numCache>
                <c:formatCode>General</c:formatCode>
                <c:ptCount val="3"/>
                <c:pt idx="0">
                  <c:v>16.2</c:v>
                </c:pt>
                <c:pt idx="1">
                  <c:v>17</c:v>
                </c:pt>
                <c:pt idx="2">
                  <c:v>18</c:v>
                </c:pt>
              </c:numCache>
            </c:numRef>
          </c:val>
        </c:ser>
        <c:ser>
          <c:idx val="1"/>
          <c:order val="1"/>
          <c:tx>
            <c:strRef>
              <c:f>Sheet1!$C$1</c:f>
              <c:strCache>
                <c:ptCount val="1"/>
                <c:pt idx="0">
                  <c:v>To keep ≥ 97% of its quality</c:v>
                </c:pt>
              </c:strCache>
            </c:strRef>
          </c:tx>
          <c:spPr>
            <a:solidFill>
              <a:srgbClr val="0E7C86"/>
            </a:solidFill>
            <a:effectLst/>
          </c:spPr>
          <c:invertIfNegative val="0"/>
          <c:dLbls>
            <c:numFmt formatCode="0.0" sourceLinked="0"/>
            <c:txPr>
              <a:bodyPr/>
              <a:lstStyle/>
              <a:p>
                <a:pPr>
                  <a:defRPr b="0" i="0" strike="noStrike" sz="1300" u="none">
                    <a:solidFill>
                      <a:srgbClr val="1B263B"/>
                    </a:solidFill>
                    <a:latin typeface="+mn-lt"/>
                  </a:defRPr>
                </a:pPr>
              </a:p>
            </c:txPr>
            <c:showLegendKey val="0"/>
            <c:showVal val="1"/>
            <c:showCatName val="0"/>
            <c:showSerName val="0"/>
            <c:showPercent val="0"/>
            <c:showBubbleSize val="0"/>
            <c:showLeaderLines val="0"/>
          </c:dLbls>
          <c:cat>
            <c:multiLvlStrRef>
              <c:f>Sheet1!$A$2:$A$4</c:f>
              <c:multiLvlStrCache>
                <c:ptCount val="3"/>
                <c:lvl>
                  <c:pt idx="0">
                    <c:v>Grammar</c:v>
                  </c:pt>
                  <c:pt idx="1">
                    <c:v>Summaries</c:v>
                  </c:pt>
                  <c:pt idx="2">
                    <c:v>QA</c:v>
                  </c:pt>
                </c:lvl>
              </c:multiLvlStrCache>
            </c:multiLvlStrRef>
          </c:cat>
          <c:val>
            <c:numRef>
              <c:f>Sheet1!$C$2:$C$4</c:f>
              <c:numCache>
                <c:formatCode>General</c:formatCode>
                <c:ptCount val="3"/>
                <c:pt idx="0">
                  <c:v>3</c:v>
                </c:pt>
                <c:pt idx="1">
                  <c:v>3.5</c:v>
                </c:pt>
                <c:pt idx="2">
                  <c:v>1</c:v>
                </c:pt>
              </c:numCache>
            </c:numRef>
          </c:val>
        </c:ser>
        <c:dLbls>
          <c:numFmt formatCode="0.0" sourceLinked="0"/>
          <c:txPr>
            <a:bodyPr/>
            <a:lstStyle/>
            <a:p>
              <a:pPr>
                <a:defRPr b="0" i="0" strike="noStrike" sz="1300" u="none">
                  <a:solidFill>
                    <a:srgbClr val="1B263B"/>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1B263B"/>
                </a:solidFill>
                <a:latin typeface="+mn-lt"/>
              </a:defRPr>
            </a:pPr>
            <a:endParaRPr lang="en-US"/>
          </a:p>
        </c:txPr>
        <c:crossAx val="2094734552"/>
        <c:crosses val="autoZero"/>
        <c:auto val="1"/>
        <c:lblAlgn val="ctr"/>
        <c:noMultiLvlLbl val="1"/>
      </c:catAx>
      <c:valAx>
        <c:axId val="2094734552"/>
        <c:scaling>
          <c:orientation val="minMax"/>
          <c:max val="20"/>
          <c:min val="0"/>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6B778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300">
              <a:latin typeface="+mn-lt"/>
              <a:cs typeface="+mn-lt"/>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63B"/>
                </a:solidFill>
                <a:latin typeface="+mn-lt"/>
              </a:defRPr>
            </a:pPr>
            <a:r>
              <a:rPr sz="1400" b="0" i="0" u="none" strike="noStrike">
                <a:solidFill>
                  <a:srgbClr val="1B263B"/>
                </a:solidFill>
                <a:latin typeface="+mn-lt"/>
              </a:rPr>
              <a:t>All 12 real tasks in one slot (seed 0)</a:t>
            </a:r>
          </a:p>
        </c:rich>
      </c:tx>
      <c:layout/>
      <c:overlay val="0"/>
    </c:title>
    <c:autoTitleDeleted val="0"/>
    <c:plotArea>
      <c:layout/>
      <c:lineChart>
        <c:varyColors val="0"/>
        <c:ser>
          <c:idx val="0"/>
          <c:order val="0"/>
          <c:tx>
            <c:strRef>
              <c:f>Sheet1!$B$1</c:f>
              <c:strCache>
                <c:ptCount val="1"/>
                <c:pt idx="0">
                  <c:v>K-Share (shared basis)</c:v>
                </c:pt>
              </c:strCache>
            </c:strRef>
          </c:tx>
          <c:spPr>
            <a:solidFill>
              <a:srgbClr val="0E7C86"/>
            </a:solidFill>
            <a:ln w="38100" cap="flat">
              <a:solidFill>
                <a:srgbClr val="0E7C86"/>
              </a:solidFill>
              <a:prstDash val="solid"/>
              <a:round/>
            </a:ln>
            <a:effectLst/>
          </c:spPr>
          <c:invertIfNegative val="0"/>
          <c:dLbls>
            <c:numFmt formatCode="#,##0" sourceLinked="0"/>
            <c:txPr>
              <a:bodyPr/>
              <a:lstStyle/>
              <a:p>
                <a:pPr>
                  <a:defRPr b="0" i="0" strike="noStrike" sz="1300" u="none">
                    <a:solidFill>
                      <a:srgbClr val="1B263B"/>
                    </a:solidFill>
                    <a:latin typeface="+mn-lt"/>
                  </a:defRPr>
                </a:pPr>
              </a:p>
            </c:txPr>
            <c:showLegendKey val="0"/>
            <c:showVal val="0"/>
            <c:showCatName val="0"/>
            <c:showSerName val="0"/>
            <c:showPercent val="0"/>
            <c:showBubbleSize val="0"/>
            <c:showLeaderLines val="0"/>
          </c:dLbls>
          <c:marker>
            <c:symbol val="circle"/>
            <c:size val="9"/>
            <c:spPr>
              <a:solidFill>
                <a:srgbClr val="0E7C86"/>
              </a:solidFill>
              <a:ln w="9525" cap="flat">
                <a:solidFill>
                  <a:srgbClr val="0E7C86"/>
                </a:solidFill>
                <a:prstDash val="solid"/>
                <a:round/>
              </a:ln>
              <a:effectLst/>
            </c:spPr>
          </c:marker>
          <c:cat>
            <c:multiLvlStrRef>
              <c:f>Sheet1!$A$2:$A$4</c:f>
              <c:multiLvlStrCache>
                <c:ptCount val="3"/>
                <c:lvl>
                  <c:pt idx="0">
                    <c:v>4</c:v>
                  </c:pt>
                  <c:pt idx="1">
                    <c:v>8</c:v>
                  </c:pt>
                  <c:pt idx="2">
                    <c:v>16</c:v>
                  </c:pt>
                </c:lvl>
              </c:multiLvlStrCache>
            </c:multiLvlStrRef>
          </c:cat>
          <c:val>
            <c:numRef>
              <c:f>Sheet1!$B$2:$B$4</c:f>
              <c:numCache>
                <c:formatCode>General</c:formatCode>
                <c:ptCount val="3"/>
                <c:pt idx="0">
                  <c:v>94.4</c:v>
                </c:pt>
                <c:pt idx="1">
                  <c:v>96.7</c:v>
                </c:pt>
                <c:pt idx="2">
                  <c:v>97.8</c:v>
                </c:pt>
              </c:numCache>
            </c:numRef>
          </c:val>
          <c:smooth val="0"/>
        </c:ser>
        <c:ser>
          <c:idx val="1"/>
          <c:order val="1"/>
          <c:tx>
            <c:strRef>
              <c:f>Sheet1!$C$1</c:f>
              <c:strCache>
                <c:ptCount val="1"/>
                <c:pt idx="0">
                  <c:v>By need (best case)</c:v>
                </c:pt>
              </c:strCache>
            </c:strRef>
          </c:tx>
          <c:spPr>
            <a:solidFill>
              <a:srgbClr val="7D6B91"/>
            </a:solidFill>
            <a:ln w="38100" cap="flat">
              <a:solidFill>
                <a:srgbClr val="7D6B91"/>
              </a:solidFill>
              <a:prstDash val="solid"/>
              <a:round/>
            </a:ln>
            <a:effectLst/>
          </c:spPr>
          <c:invertIfNegative val="0"/>
          <c:dLbls>
            <c:numFmt formatCode="#,##0" sourceLinked="0"/>
            <c:txPr>
              <a:bodyPr/>
              <a:lstStyle/>
              <a:p>
                <a:pPr>
                  <a:defRPr b="0" i="0" strike="noStrike" sz="1300" u="none">
                    <a:solidFill>
                      <a:srgbClr val="1B263B"/>
                    </a:solidFill>
                    <a:latin typeface="+mn-lt"/>
                  </a:defRPr>
                </a:pPr>
              </a:p>
            </c:txPr>
            <c:showLegendKey val="0"/>
            <c:showVal val="0"/>
            <c:showCatName val="0"/>
            <c:showSerName val="0"/>
            <c:showPercent val="0"/>
            <c:showBubbleSize val="0"/>
            <c:showLeaderLines val="0"/>
          </c:dLbls>
          <c:marker>
            <c:symbol val="circle"/>
            <c:size val="9"/>
            <c:spPr>
              <a:solidFill>
                <a:srgbClr val="7D6B91"/>
              </a:solidFill>
              <a:ln w="9525" cap="flat">
                <a:solidFill>
                  <a:srgbClr val="7D6B91"/>
                </a:solidFill>
                <a:prstDash val="solid"/>
                <a:round/>
              </a:ln>
              <a:effectLst/>
            </c:spPr>
          </c:marker>
          <c:cat>
            <c:multiLvlStrRef>
              <c:f>Sheet1!$A$2:$A$4</c:f>
              <c:multiLvlStrCache>
                <c:ptCount val="3"/>
                <c:lvl>
                  <c:pt idx="0">
                    <c:v>4</c:v>
                  </c:pt>
                  <c:pt idx="1">
                    <c:v>8</c:v>
                  </c:pt>
                  <c:pt idx="2">
                    <c:v>16</c:v>
                  </c:pt>
                </c:lvl>
              </c:multiLvlStrCache>
            </c:multiLvlStrRef>
          </c:cat>
          <c:val>
            <c:numRef>
              <c:f>Sheet1!$C$2:$C$4</c:f>
              <c:numCache>
                <c:formatCode>General</c:formatCode>
                <c:ptCount val="3"/>
                <c:pt idx="0">
                  <c:v>87.8</c:v>
                </c:pt>
                <c:pt idx="1">
                  <c:v>92.9</c:v>
                </c:pt>
                <c:pt idx="2">
                  <c:v>98.5</c:v>
                </c:pt>
              </c:numCache>
            </c:numRef>
          </c:val>
          <c:smooth val="0"/>
        </c:ser>
        <c:ser>
          <c:idx val="2"/>
          <c:order val="2"/>
          <c:tx>
            <c:strRef>
              <c:f>Sheet1!$D$1</c:f>
              <c:strCache>
                <c:ptCount val="1"/>
                <c:pt idx="0">
                  <c:v>Equal split</c:v>
                </c:pt>
              </c:strCache>
            </c:strRef>
          </c:tx>
          <c:spPr>
            <a:solidFill>
              <a:srgbClr val="5FA97E"/>
            </a:solidFill>
            <a:ln w="38100" cap="flat">
              <a:solidFill>
                <a:srgbClr val="5FA97E"/>
              </a:solidFill>
              <a:prstDash val="solid"/>
              <a:round/>
            </a:ln>
            <a:effectLst/>
          </c:spPr>
          <c:invertIfNegative val="0"/>
          <c:dLbls>
            <c:numFmt formatCode="#,##0" sourceLinked="0"/>
            <c:txPr>
              <a:bodyPr/>
              <a:lstStyle/>
              <a:p>
                <a:pPr>
                  <a:defRPr b="0" i="0" strike="noStrike" sz="1300" u="none">
                    <a:solidFill>
                      <a:srgbClr val="1B263B"/>
                    </a:solidFill>
                    <a:latin typeface="+mn-lt"/>
                  </a:defRPr>
                </a:pPr>
              </a:p>
            </c:txPr>
            <c:showLegendKey val="0"/>
            <c:showVal val="0"/>
            <c:showCatName val="0"/>
            <c:showSerName val="0"/>
            <c:showPercent val="0"/>
            <c:showBubbleSize val="0"/>
            <c:showLeaderLines val="0"/>
          </c:dLbls>
          <c:marker>
            <c:symbol val="circle"/>
            <c:size val="9"/>
            <c:spPr>
              <a:solidFill>
                <a:srgbClr val="5FA97E"/>
              </a:solidFill>
              <a:ln w="9525" cap="flat">
                <a:solidFill>
                  <a:srgbClr val="5FA97E"/>
                </a:solidFill>
                <a:prstDash val="solid"/>
                <a:round/>
              </a:ln>
              <a:effectLst/>
            </c:spPr>
          </c:marker>
          <c:cat>
            <c:multiLvlStrRef>
              <c:f>Sheet1!$A$2:$A$4</c:f>
              <c:multiLvlStrCache>
                <c:ptCount val="3"/>
                <c:lvl>
                  <c:pt idx="0">
                    <c:v>4</c:v>
                  </c:pt>
                  <c:pt idx="1">
                    <c:v>8</c:v>
                  </c:pt>
                  <c:pt idx="2">
                    <c:v>16</c:v>
                  </c:pt>
                </c:lvl>
              </c:multiLvlStrCache>
            </c:multiLvlStrRef>
          </c:cat>
          <c:val>
            <c:numRef>
              <c:f>Sheet1!$D$2:$D$4</c:f>
              <c:numCache>
                <c:formatCode>General</c:formatCode>
                <c:ptCount val="3"/>
                <c:pt idx="0">
                  <c:v>87.1</c:v>
                </c:pt>
                <c:pt idx="1">
                  <c:v>91</c:v>
                </c:pt>
                <c:pt idx="2">
                  <c:v>98.2</c:v>
                </c:pt>
              </c:numCache>
            </c:numRef>
          </c:val>
          <c:smooth val="0"/>
        </c:ser>
        <c:ser>
          <c:idx val="3"/>
          <c:order val="3"/>
          <c:tx>
            <c:strRef>
              <c:f>Sheet1!$E$1</c:f>
              <c:strCache>
                <c:ptCount val="1"/>
                <c:pt idx="0">
                  <c:v>By energy (Phase 3)</c:v>
                </c:pt>
              </c:strCache>
            </c:strRef>
          </c:tx>
          <c:spPr>
            <a:solidFill>
              <a:srgbClr val="E9A23B"/>
            </a:solidFill>
            <a:ln w="38100" cap="flat">
              <a:solidFill>
                <a:srgbClr val="E9A23B"/>
              </a:solidFill>
              <a:prstDash val="solid"/>
              <a:round/>
            </a:ln>
            <a:effectLst/>
          </c:spPr>
          <c:invertIfNegative val="0"/>
          <c:dLbls>
            <c:numFmt formatCode="#,##0" sourceLinked="0"/>
            <c:txPr>
              <a:bodyPr/>
              <a:lstStyle/>
              <a:p>
                <a:pPr>
                  <a:defRPr b="0" i="0" strike="noStrike" sz="1300" u="none">
                    <a:solidFill>
                      <a:srgbClr val="1B263B"/>
                    </a:solidFill>
                    <a:latin typeface="+mn-lt"/>
                  </a:defRPr>
                </a:pPr>
              </a:p>
            </c:txPr>
            <c:showLegendKey val="0"/>
            <c:showVal val="0"/>
            <c:showCatName val="0"/>
            <c:showSerName val="0"/>
            <c:showPercent val="0"/>
            <c:showBubbleSize val="0"/>
            <c:showLeaderLines val="0"/>
          </c:dLbls>
          <c:marker>
            <c:symbol val="circle"/>
            <c:size val="9"/>
            <c:spPr>
              <a:solidFill>
                <a:srgbClr val="E9A23B"/>
              </a:solidFill>
              <a:ln w="9525" cap="flat">
                <a:solidFill>
                  <a:srgbClr val="E9A23B"/>
                </a:solidFill>
                <a:prstDash val="solid"/>
                <a:round/>
              </a:ln>
              <a:effectLst/>
            </c:spPr>
          </c:marker>
          <c:cat>
            <c:multiLvlStrRef>
              <c:f>Sheet1!$A$2:$A$4</c:f>
              <c:multiLvlStrCache>
                <c:ptCount val="3"/>
                <c:lvl>
                  <c:pt idx="0">
                    <c:v>4</c:v>
                  </c:pt>
                  <c:pt idx="1">
                    <c:v>8</c:v>
                  </c:pt>
                  <c:pt idx="2">
                    <c:v>16</c:v>
                  </c:pt>
                </c:lvl>
              </c:multiLvlStrCache>
            </c:multiLvlStrRef>
          </c:cat>
          <c:val>
            <c:numRef>
              <c:f>Sheet1!$E$2:$E$4</c:f>
              <c:numCache>
                <c:formatCode>General</c:formatCode>
                <c:ptCount val="3"/>
                <c:pt idx="0">
                  <c:v>90.7</c:v>
                </c:pt>
                <c:pt idx="1">
                  <c:v>94.3</c:v>
                </c:pt>
                <c:pt idx="2">
                  <c:v>96.1</c:v>
                </c:pt>
              </c:numCache>
            </c:numRef>
          </c:val>
          <c:smooth val="0"/>
        </c:ser>
        <c:dLbls>
          <c:numFmt formatCode="#,##0" sourceLinked="0"/>
          <c:txPr>
            <a:bodyPr/>
            <a:lstStyle/>
            <a:p>
              <a:pPr>
                <a:defRPr b="0" i="0" strike="noStrike" sz="1300" u="none">
                  <a:solidFill>
                    <a:srgbClr val="1B263B"/>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6B7785"/>
                    </a:solidFill>
                    <a:latin typeface="+mn-lt"/>
                  </a:defRPr>
                </a:pPr>
                <a:r>
                  <a:rPr sz="1200" b="0" i="0" u="none" strike="noStrike">
                    <a:solidFill>
                      <a:srgbClr val="6B7785"/>
                    </a:solidFill>
                    <a:latin typeface="+mn-lt"/>
                  </a:rPr>
                  <a:t>directions in the one slot</a:t>
                </a:r>
              </a:p>
            </c:rich>
          </c:tx>
          <c:layout/>
          <c:overlay val="0"/>
        </c:title>
        <c:numFmt formatCode="General" sourceLinked="1"/>
        <c:majorTickMark val="out"/>
        <c:minorTickMark val="none"/>
        <c:tickLblPos val="low"/>
        <c:spPr>
          <a:ln w="12700" cap="flat">
            <a:noFill/>
            <a:prstDash val="solid"/>
            <a:round/>
          </a:ln>
        </c:spPr>
        <c:txPr>
          <a:bodyPr/>
          <a:lstStyle/>
          <a:p>
            <a:pPr>
              <a:defRPr sz="1300" b="0" i="0" u="none" strike="noStrike">
                <a:solidFill>
                  <a:srgbClr val="1B263B"/>
                </a:solidFill>
                <a:latin typeface="+mn-lt"/>
              </a:defRPr>
            </a:pPr>
            <a:endParaRPr lang="en-US"/>
          </a:p>
        </c:txPr>
        <c:crossAx val="2094734552"/>
        <c:crosses val="autoZero"/>
        <c:auto val="1"/>
        <c:lblAlgn val="ctr"/>
        <c:noMultiLvlLbl val="1"/>
      </c:catAx>
      <c:valAx>
        <c:axId val="2094734552"/>
        <c:scaling>
          <c:orientation val="minMax"/>
          <c:max val="100"/>
          <c:min val="85"/>
        </c:scaling>
        <c:delete val="0"/>
        <c:axPos val="l"/>
        <c:majorGridlines>
          <c:spPr>
            <a:ln w="9525" cap="flat">
              <a:solidFill>
                <a:srgbClr val="E6EBF0"/>
              </a:solidFill>
              <a:prstDash val="solid"/>
              <a:round/>
            </a:ln>
          </c:spPr>
        </c:majorGridlines>
        <c:title>
          <c:tx>
            <c:rich>
              <a:bodyPr/>
              <a:lstStyle/>
              <a:p>
                <a:pPr>
                  <a:defRPr sz="1200" b="0" i="0" u="none" strike="noStrike">
                    <a:solidFill>
                      <a:srgbClr val="6B7785"/>
                    </a:solidFill>
                    <a:latin typeface="+mn-lt"/>
                  </a:defRPr>
                </a:pPr>
                <a:r>
                  <a:rPr sz="1200" b="0" i="0" u="none" strike="noStrike">
                    <a:solidFill>
                      <a:srgbClr val="6B7785"/>
                    </a:solidFill>
                    <a:latin typeface="+mn-lt"/>
                  </a:rPr>
                  <a:t>average over 12 tasks, % of own adapter</a:t>
                </a:r>
              </a:p>
            </c:rich>
          </c:tx>
          <c:layout/>
          <c:overlay val="0"/>
        </c:title>
        <c:numFmt formatCode="0" sourceLinked="0"/>
        <c:majorTickMark val="out"/>
        <c:minorTickMark val="none"/>
        <c:tickLblPos val="nextTo"/>
        <c:spPr>
          <a:ln w="12700" cap="flat">
            <a:noFill/>
            <a:prstDash val="solid"/>
            <a:round/>
          </a:ln>
        </c:spPr>
        <c:txPr>
          <a:bodyPr/>
          <a:lstStyle/>
          <a:p>
            <a:pPr>
              <a:defRPr sz="1200" b="0" i="0" u="none" strike="noStrike">
                <a:solidFill>
                  <a:srgbClr val="6B7785"/>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3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Ma'am. Last time you suggested that we study the geometry of the LoRA updates and ask a more direct question: how much genuinely new information does an incoming adapter bring? I ran that experiment the way you described it. I took the SVD of every update, measured the overlap and the residual between the new adapter and the slot it joins, and tested whether this new-direction demand predicts K-Merge's failures better than cosine. Everything ran on the CPU from the adapters we already had, so no new GPU time was needed. I will show the measurements first, then the answer to your question, and then what I think it means for your capacity-aware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are your own words. I turned them into four steps. Step one: decompose every LoRA update with SVD into its important directions. Step two: compare the new adapter with the slot it joins and split it into two parts: the overlap, which the slot already covers, and the residual, which is new. Step three: test whether this new-direction demand ranks K-Merge's damage better than cosine. Step four, only if it does: design slots that store just the new directions. Before I looked at any result, I fixed a pass rule: demand must beat cosine, with a confidence interval above zero, on both lab models and on the real tasks. No new training was needed: we already had 48 saved adapters and the damage K-Merge caused in Phase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answer first, in three numbers. One: almost everything in a new adapter is new. On the real tasks only about 11 percent of its energy lies in the slot's important directions, and in all 221 cases at least 80 percent was new. Two: demand predicted K-Merge's damage better than cosine on the 0.5B lab model, but not on the 1.5B model and not on the 12 real tasks, so the pass rule is not met. Three: on the real tasks, both scores mostly reflect the task type and how crowded the slot is. Once we hold those two fixed, neither score predicts anything. But your capacity-aware direction still holds, with one change: we should measure what each direction does to the outputs, not how much energy it holds. With about 3 directions per task, split kept about 99 percent of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picture shows the idea. The flat shape is the set of important directions already in the slot. To get it, we take the slot's update, do an SVD, and keep the top directions that hold 90 percent of its energy. The black arrow is the new adapter. Its shadow on the shape, the teal arrow, is the overlap: the part the slot already covers. The dashed part that sticks out is the residual: what is genuinely new. New-direction demand is simply one minus the overlap. On the right is the formula: we project the new update onto the slot's top directions on both sides and see how much energy survives. We also count directions: k-new is how many new directions the slot would need to cover 90 percent of the newcomer, and k-self is how many the newcomer needs on its own. For example, Italian grammar joining a crowded slot had only 8 percent overlap, so 92 percent of it was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the same three test beds as in Phase 3. The two lab models run the synthetic grammar task in four languages. The real benchmark is the 12 real tasks with the same model and LoRA settings as the K-Merge paper. In total that is 48 adapters and 221 cases where K-Merge put a task into a shared slot and we already know how much it lost. For each case I did four things. I rebuilt the slot exactly as K-Merge stores it: the average of the other tasks' A and B matrices. I took its SVD and kept the directions holding 90 percent of its energy. I projected the new task's update onto those directions and pooled over all layers and modules. Finally I checked with a rank correlation whether a higher demand goes with more damage, and used a bootstrap to get confidence intervals.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output you asked for: the overlap and the residual. In every test bed only 6 to 11 percent of the incoming adapter lies in the directions already in the slot; around 90 percent is new. Even the most covered case we found was still 80 percent new. Counting directions tells the same story. To cover 90 percent of a newcomer, the slot would still need about 17.5 new directions on the real tasks, while the newcomer needs about 17 on its own. So the directions already in the slot save almost no room. On the right are three real arrivals: a Spanish summary joining other summaries had the highest overlap, about 20 percent, and lost little; German QA joining other QA tasks even gained; Italian grammar joining a crowded 11-task slot had low overlap and lost 41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map shows the overlap between every pair of the 12 real adapters. Read a row as: if this adapter arrives in a slot that already holds that one, how much of it is already covered. The three darker blocks along the diagonal are the task types: grammar with grammar, summaries with summaries, QA with QA. Adapters of the same task type share about 10 percent. Adapters of the same language but a different task share about 5 percent, which is the same as two unrelated adapters. So the geometry is organised by task, not by language, which also answers part of your RQ7 on cross-lingual geometry. Even the closest pair, Spanish and Italian summaries, shares only 16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test you asked for. The bars show how well each score ranks K-Merge's damage; higher is better. For cosine I flipped the sign, so that for both scores 'higher' should mean 'more damage'. On the 0.5B lab model, demand is better than cosine: 0.58 against 0.44, and the confidence interval of the gain stays just above zero. On the 1.5B model both scores point the wrong way, as cosine already did in Phase 3, and the difference is not significant. There, K-Merge's damage is tiny, about 1 percent on average, so there is almost nothing to predict. On the 12 real tasks, demand is very slightly worse than cosine. So the pass rule we fixed in advance is not met: demand does not reliably beat cosine.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may ask whether the result depends on the 90 percent cut-off I used for the important directions. So I redid everything at 80, 95 and 100 percent, where 100 means all of the slot's directions. The answer does not change. On the real tasks, between 84 and 92 percent of each adapter is new, depending on the cut-off. The slot still saves almost no room: k-new stays about equal to k-self. And demand never beats cosine on all three test beds. On the 0.5B lab it is better at 80 and 90 percent, but not significantly at 95 or 100. On the real tasks it is never better and even slightly worse at 95 and 100 percent. With task type and slot size held fixed, it predicts nothing at any cut-off.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a score look good on the real data? Because of two things that have nothing to do with the adapter's directions. The table shows the first one: grammar adapters have the lowest similarity and the highest demand, and they are also the most fragile task. Grammar loses 19 percent on average under K-Merge, while QA loses almost nothing. The second one is slot size: bigger slots lose more. When I remove the effect of slot size, the correlations stay around 0.6. When I also remove the task type, both fall to zero. So on real data, neither cosine nor demand tells us more than 'this is a grammar task in a crowded slot'.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also tried demand the way K-Merge would use it: put the newcomer into the slot where it needs the fewest new directions. I replayed K-Merge's online procedure for all 24 arrival orders and 3 seeds. The demand rule built exactly the same slots as cosine in 60 of 70 runs on 0.5B and 64 of 68 on 1.5B. Where it differed, it was not better: the weakest language changed by minus 0.4 points, well within noise, and on 1.5B nothing changed. This agrees with Phase 3: who you merge with is not the big lever; how the slot stores the tasks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why demand cannot be very different from cosine. Cosine splits exactly into two factors: the square root of the overlap, and an agreement term that says whether the shared part points the same way as the slot. This is an identity, not an approximation; I checked it on all 221 cases. So K-Merge's cosine already contains your overlap, mixed with agreement, and in our data the two scores rank the cases almost the same way. But demand has one property cosine does not have: it is directional. Cosine gives both tasks of a pair the same number, while demand gives each task its own number. On the 0.5B model, the task with the higher demand was the one that got hurt in 16 of 18 pairs. That is where demand's advantage on 0.5B comes from. On 1.5B it was 10 of 16, which could be chance.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lesson. A LoRA update has two matrices: A reads the input and B writes the output. Between different tasks, the A matrices are almost identical, with cosine 0.97 to 0.99, while the B matrices are very different, 0.06 to 0.15. The reason is that all our adapters started from the same random A, and A hardly moves during training, which Zhu and colleagues showed in 2024. So on the input side most of a newcomer is already covered, 65 to 81 percent, but on the output side only 7 to 13 percent. The genuinely new information is in B. If adapters started from different random A matrices, the input side would look different, so the output side is the robust result. This also gives a storage idea: a slot could keep one shared A and a separate B for each task, which is how HydraLoRA is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lesson, and I think the most useful one for your capacity-aware idea. If we define 'important directions' by energy, a real adapter needs about 17 of its 32 directions to keep 90 percent of its energy. But in Phase 3, when 11 tasks shared one slot, split gave each task only about 3 directions. Those 3 directions hold just 55 percent of the energy, and still the tasks kept 98.5 to 98.9 percent of their quality. Phase 3 also tried giving directions to tasks by energy, and that did not beat a simple equal split once there was enough room. So energy overstates what a task needs. The room a task needs should be measured by what its directions do to the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same overlap, layer by layer. On the real tasks the middle layers share the most, up to 17 percent, and the last layers share the least, about 6 to 8 percent. So the last layers hold the most task-specific, genuinely new directions. The 1.5B lab shows the same shape at a lower level. I also tested demand at the level of single modules, against how much merging changed that module's output on the task's own inputs, which we measured in Phase 3. Demand does track it, but cosine tracks it slightly better on both models. This fits Phase 3: layer analysis is useful as a probe, but not as a rule for merging.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answers your question point by point. How much is new? Most of it, about 90 percent. Does a well-covered adapter need less room? Almost nothing is covered, so every newcomer needs about its full budget of directions. Does demand predict K-Merge's failures better than cosine? Only on the small lab model; not on 1.5B and not on the real tasks, so the pass rule is not met. Why not? Because demand is really one factor of cosine, and on real tasks both scores mostly reflect the task type and the slot size. And as a partner rule it gives the same slots as cosine almost every time. Two rows are new since last time: the result does not depend on the 90 percent cut-off, and by function each task needs only about one to four of its own directions. In one line: almost everything in a new adapter is new, but that does not tell us when K-Merge fails; task type and crowding do. And each task needs only a few of its own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this mean for your capacity-aware idea? Two things hold. First, storing each task's own directions instead of averaging complete adapters is right: that is exactly what sharing does, and in Phase 3 it kept 98.9 percent against K-Merge's 90.8. Second, capacity is the right question, because crowding is what hurts. Two things change. Because so little is shared, about 10 percent and mostly within the same task type, storing only the new directions saves little room compared with storing each task's own directions. And when we measure each task's need by function, it is small, about one to four directions, but giving tasks unequal shares adds at most about 2 points; when the slot is crowded, a shared basis like K-Share works better. So the rule that remains is simple: keep each task's own directions while their needs fit the slot, about 9 or 10 tasks in 32 directions, and share a basis beyond that. The closest prior work is listed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step of the capacity-by-function test, and I could do it without the GPU. Under split, each task reads only its own top directions, so its score depends only on how many directions it gets, not on the other tasks. The Phase 3 runs already gave each task 0, 1, 2, 3, 4 or 8 directions in different slots, so I could read off how many each task needs to keep 97 percent of its quality. The answer: QA needs just 1 direction, grammar about 3 and summaries about 3 to 4. If we count by energy instead, each task seems to need 16 to 18. All 12 tasks together need about 40 directions, a bit more than one slot of 32, so a slot fits about 9 or 10 tasks with their own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two would be to give each task as many directions as it needs, instead of an equal share. I could estimate the best this can ever do, again from the saved results, by choosing each task's number of directions with perfect knowledge. That best case adds at most 1.9 points over an equal split, and when the slot is crowded it is clearly below K-Share: at 8 directions, K-Share keeps 96.7 percent and the best by-need split 92.9. So giving tasks unequal private shares is not where the gain is; when tasks outnumber directions, a shared basis is. Because this best case is already known, we don't need to spend GPU time on this test. I would rather use it for the missing seeds of the main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Ma'am. I would like your guidance on three things. First, the next GPU time: since the best case of the capacity test is already known and small, should I use the GPU for the missing seeds of the main results instead, the stress test and the third real seed? Second, should we keep demand as a diagnostic that tells us which task gets hurt, rather than as a partner rule? Third, could this study become the section of the paper that explains why similarity scores fail in K-Merge? To close: how much is new? About 90 percent. Each task needs only a few of its own directions, and when they do not fit in the slot, a shared basis does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appendix table has every score we tested on every test bed, in case you want the details. Each cell gives the rank correlation with K-Merge's damage and, below it, the difference from cosine with its confidence interval. Teal means clearly better than cosine, red clearly worse. The input-side demand looks good on the lab but falls apart on real data; k-new even changes sign between test beds. Nothing passes on all three test beds.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slide lists the exact definitions, the statistical settings and the sources, so every number can be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213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63040"/>
            <a:ext cx="7223760" cy="1463040"/>
          </a:xfrm>
          <a:prstGeom prst="rect">
            <a:avLst/>
          </a:prstGeom>
          <a:noFill/>
          <a:ln/>
        </p:spPr>
        <p:txBody>
          <a:bodyPr wrap="square" rtlCol="0"/>
          <a:lstStyle>
            <a:lvl1pPr algn="l" indent="0" marL="0">
              <a:buNone/>
              <a:defRPr lang="en-US" sz="4600" b="1" dirty="0">
                <a:solidFill>
                  <a:schemeClr val="bg1"/>
                </a:solidFill>
              </a:defRPr>
            </a:lvl1pPr>
          </a:lstStyle>
          <a:p>
            <a:pPr algn="l" indent="0" marL="0">
              <a:buNone/>
            </a:pPr>
            <a:endParaRPr lang="en-US" sz="4600" dirty="0"/>
          </a:p>
        </p:txBody>
      </p:sp>
      <p:sp>
        <p:nvSpPr>
          <p:cNvPr id="3" name="Text 0"/>
          <p:cNvSpPr/>
          <p:nvPr>
            <p:ph idx="101" type="body" hasCustomPrompt="1"/>
          </p:nvPr>
        </p:nvSpPr>
        <p:spPr>
          <a:xfrm>
            <a:off x="548640" y="3063240"/>
            <a:ext cx="7223760" cy="109728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548640" y="6419088"/>
            <a:ext cx="6400800" cy="274320"/>
          </a:xfrm>
          <a:prstGeom prst="rect">
            <a:avLst/>
          </a:prstGeom>
          <a:noFill/>
          <a:ln/>
        </p:spPr>
        <p:txBody>
          <a:bodyPr wrap="square" lIns="0" tIns="0" rIns="0" bIns="0" rtlCol="0" anchor="ctr"/>
          <a:lstStyle/>
          <a:p>
            <a:pPr indent="0" marL="0">
              <a:buNone/>
            </a:pPr>
            <a:r>
              <a:rPr lang="en-US" sz="1000" dirty="0">
                <a:solidFill>
                  <a:schemeClr val="accent5"/>
                </a:solidFill>
              </a:rPr>
              <a:t>K-Merge geometry study  ·  Ankit Raj Choudhary  ·  IIT Jodhpur</a:t>
            </a:r>
            <a:endParaRPr lang="en-US" sz="10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0B213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3.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4.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63040"/>
            <a:ext cx="7223760" cy="1463040"/>
          </a:xfrm>
          <a:prstGeom prst="rect">
            <a:avLst/>
          </a:prstGeom>
          <a:noFill/>
          <a:ln/>
        </p:spPr>
        <p:txBody>
          <a:bodyPr wrap="square" lIns="0" tIns="0" rIns="0" bIns="0" rtlCol="0" anchor="b"/>
          <a:lstStyle/>
          <a:p>
            <a:pPr algn="l" indent="0" marL="0">
              <a:buNone/>
            </a:pPr>
            <a:r>
              <a:rPr lang="en-US" sz="4600" b="1" dirty="0">
                <a:solidFill>
                  <a:schemeClr val="bg1"/>
                </a:solidFill>
              </a:rPr>
              <a:t>How Much Is Really New?</a:t>
            </a:r>
            <a:endParaRPr lang="en-US" sz="4600" dirty="0"/>
          </a:p>
        </p:txBody>
      </p:sp>
      <p:sp>
        <p:nvSpPr>
          <p:cNvPr id="3" name="Text 0"/>
          <p:cNvSpPr/>
          <p:nvPr>
            <p:ph idx="101" type="body" hasCustomPrompt="1"/>
          </p:nvPr>
        </p:nvSpPr>
        <p:spPr>
          <a:xfrm>
            <a:off x="548640" y="3063240"/>
            <a:ext cx="7223760" cy="1097280"/>
          </a:xfrm>
          <a:prstGeom prst="rect">
            <a:avLst/>
          </a:prstGeom>
          <a:noFill/>
          <a:ln/>
        </p:spPr>
        <p:txBody>
          <a:bodyPr wrap="square" lIns="0" tIns="0" rIns="0" bIns="0" rtlCol="0" anchor="t"/>
          <a:lstStyle/>
          <a:p>
            <a:pPr indent="0" marL="0">
              <a:buNone/>
            </a:pPr>
            <a:r>
              <a:rPr lang="en-US" sz="2000" dirty="0">
                <a:solidFill>
                  <a:schemeClr val="bg2"/>
                </a:solidFill>
              </a:rPr>
              <a:t>Overlap and residual of every incoming LoRA,</a:t>
            </a:r>
            <a:endParaRPr lang="en-US" sz="2000" dirty="0"/>
          </a:p>
          <a:p>
            <a:pPr indent="0" marL="0">
              <a:buNone/>
            </a:pPr>
            <a:r>
              <a:rPr lang="en-US" sz="2000" dirty="0">
                <a:solidFill>
                  <a:schemeClr val="bg2"/>
                </a:solidFill>
              </a:rPr>
              <a:t>and whether new-direction demand predicts</a:t>
            </a:r>
            <a:endParaRPr lang="en-US" sz="2000" dirty="0"/>
          </a:p>
          <a:p>
            <a:pPr indent="0" marL="0">
              <a:buNone/>
            </a:pPr>
            <a:r>
              <a:rPr lang="en-US" sz="2000" dirty="0">
                <a:solidFill>
                  <a:schemeClr val="bg2"/>
                </a:solidFill>
              </a:rPr>
              <a:t>K-Merge's failures better than cosine</a:t>
            </a:r>
            <a:endParaRPr lang="en-US" sz="2000" dirty="0"/>
          </a:p>
        </p:txBody>
      </p:sp>
      <p:sp>
        <p:nvSpPr>
          <p:cNvPr id="4" name="text-1"/>
          <p:cNvSpPr txBox="1"/>
          <p:nvPr/>
        </p:nvSpPr>
        <p:spPr>
          <a:xfrm>
            <a:off x="548640" y="4480560"/>
            <a:ext cx="7223760" cy="365760"/>
          </a:xfrm>
          <a:prstGeom prst="rect">
            <a:avLst/>
          </a:prstGeom>
          <a:noFill/>
          <a:ln/>
        </p:spPr>
        <p:txBody>
          <a:bodyPr wrap="square" lIns="0" tIns="0" rIns="0" bIns="0" rtlCol="0" anchor="t"/>
          <a:lstStyle/>
          <a:p>
            <a:pPr indent="0" marL="0">
              <a:buNone/>
            </a:pPr>
            <a:r>
              <a:rPr lang="en-US" sz="1600" b="1" dirty="0">
                <a:solidFill>
                  <a:schemeClr val="accent1"/>
                </a:solidFill>
              </a:rPr>
              <a:t>Geometry study  ·  updated 17 October 2026</a:t>
            </a:r>
            <a:endParaRPr lang="en-US" sz="1600" dirty="0"/>
          </a:p>
        </p:txBody>
      </p:sp>
      <p:sp>
        <p:nvSpPr>
          <p:cNvPr id="5" name="text-2"/>
          <p:cNvSpPr txBox="1"/>
          <p:nvPr/>
        </p:nvSpPr>
        <p:spPr>
          <a:xfrm>
            <a:off x="548640" y="5074920"/>
            <a:ext cx="7498080" cy="731520"/>
          </a:xfrm>
          <a:prstGeom prst="rect">
            <a:avLst/>
          </a:prstGeom>
          <a:noFill/>
          <a:ln/>
        </p:spPr>
        <p:txBody>
          <a:bodyPr wrap="square" lIns="0" tIns="0" rIns="0" bIns="0" rtlCol="0" anchor="t"/>
          <a:lstStyle/>
          <a:p>
            <a:pPr indent="0" marL="0">
              <a:spcAft>
                <a:spcPts val="400"/>
              </a:spcAft>
              <a:buNone/>
            </a:pPr>
            <a:r>
              <a:rPr lang="en-US" sz="1500" dirty="0">
                <a:solidFill>
                  <a:schemeClr val="bg2"/>
                </a:solidFill>
              </a:rPr>
              <a:t>Ankit Raj Choudhary</a:t>
            </a:r>
            <a:endParaRPr lang="en-US" sz="1500" dirty="0"/>
          </a:p>
          <a:p>
            <a:pPr indent="0" marL="0">
              <a:spcAft>
                <a:spcPts val="400"/>
              </a:spcAft>
              <a:buNone/>
            </a:pPr>
            <a:r>
              <a:rPr lang="en-US" sz="1500" dirty="0">
                <a:solidFill>
                  <a:schemeClr val="bg2"/>
                </a:solidFill>
              </a:rPr>
              <a:t>Supervisor: Prof. Divya Saxena  ·  School of AI and Data Science, IIT Jodhpur</a:t>
            </a:r>
            <a:endParaRPr lang="en-US" sz="1500" dirty="0"/>
          </a:p>
        </p:txBody>
      </p:sp>
      <p:sp>
        <p:nvSpPr>
          <p:cNvPr id="6" name="halo"/>
          <p:cNvSpPr/>
          <p:nvPr/>
        </p:nvSpPr>
        <p:spPr>
          <a:xfrm>
            <a:off x="8001000" y="1051560"/>
            <a:ext cx="3657600" cy="3657600"/>
          </a:xfrm>
          <a:prstGeom prst="ellipse">
            <a:avLst/>
          </a:prstGeom>
          <a:solidFill>
            <a:srgbClr val="13304A"/>
          </a:solidFill>
          <a:ln w="12700">
            <a:solidFill>
              <a:srgbClr val="13304A"/>
            </a:solidFill>
            <a:prstDash val="solid"/>
          </a:ln>
        </p:spPr>
      </p:sp>
      <p:pic>
        <p:nvPicPr>
          <p:cNvPr id="7" name="lens" descr="magnifying glass illustration">    </p:cNvPr>
          <p:cNvPicPr>
            <a:picLocks noChangeAspect="1"/>
          </p:cNvPicPr>
          <p:nvPr/>
        </p:nvPicPr>
        <p:blipFill>
          <a:blip r:embed="rId1"/>
          <a:stretch>
            <a:fillRect/>
          </a:stretch>
        </p:blipFill>
        <p:spPr>
          <a:xfrm>
            <a:off x="8686800" y="1737360"/>
            <a:ext cx="2286000" cy="2286000"/>
          </a:xfrm>
          <a:prstGeom prst="rect">
            <a:avLst/>
          </a:prstGeom>
        </p:spPr>
      </p:pic>
      <p:pic>
        <p:nvPicPr>
          <p:cNvPr id="8" name="adapter" descr="puzzle piece illustration">    </p:cNvPr>
          <p:cNvPicPr>
            <a:picLocks noChangeAspect="1"/>
          </p:cNvPicPr>
          <p:nvPr/>
        </p:nvPicPr>
        <p:blipFill>
          <a:blip r:embed="rId2"/>
          <a:stretch>
            <a:fillRect/>
          </a:stretch>
        </p:blipFill>
        <p:spPr>
          <a:xfrm>
            <a:off x="7818120" y="3886200"/>
            <a:ext cx="960120" cy="960120"/>
          </a:xfrm>
          <a:prstGeom prst="rect">
            <a:avLst/>
          </a:prstGeom>
        </p:spPr>
      </p:pic>
      <p:pic>
        <p:nvPicPr>
          <p:cNvPr id="9" name="new" descr="sparkles illustration">    </p:cNvPr>
          <p:cNvPicPr>
            <a:picLocks noChangeAspect="1"/>
          </p:cNvPicPr>
          <p:nvPr/>
        </p:nvPicPr>
        <p:blipFill>
          <a:blip r:embed="rId3"/>
          <a:stretch>
            <a:fillRect/>
          </a:stretch>
        </p:blipFill>
        <p:spPr>
          <a:xfrm>
            <a:off x="10927080" y="914400"/>
            <a:ext cx="868680" cy="8686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Your question, and how we tested it</a:t>
            </a:r>
            <a:endParaRPr lang="en-US" sz="3000" dirty="0"/>
          </a:p>
        </p:txBody>
      </p:sp>
      <p:sp>
        <p:nvSpPr>
          <p:cNvPr id="3" name="card-3"/>
          <p:cNvSpPr/>
          <p:nvPr/>
        </p:nvSpPr>
        <p:spPr>
          <a:xfrm>
            <a:off x="548640" y="1234440"/>
            <a:ext cx="4846320" cy="4069080"/>
          </a:xfrm>
          <a:prstGeom prst="roundRect">
            <a:avLst>
              <a:gd name="adj" fmla="val 2697"/>
            </a:avLst>
          </a:prstGeom>
          <a:solidFill>
            <a:schemeClr val="bg2"/>
          </a:solidFill>
          <a:ln w="12700">
            <a:solidFill>
              <a:schemeClr val="bg2"/>
            </a:solidFill>
            <a:prstDash val="solid"/>
          </a:ln>
        </p:spPr>
      </p:sp>
      <p:sp>
        <p:nvSpPr>
          <p:cNvPr id="4" name="icon-bg-4"/>
          <p:cNvSpPr/>
          <p:nvPr/>
        </p:nvSpPr>
        <p:spPr>
          <a:xfrm>
            <a:off x="822960" y="1417320"/>
            <a:ext cx="822960" cy="822960"/>
          </a:xfrm>
          <a:prstGeom prst="ellipse">
            <a:avLst/>
          </a:prstGeom>
          <a:solidFill>
            <a:schemeClr val="bg1"/>
          </a:solidFill>
          <a:ln w="12700">
            <a:solidFill>
              <a:schemeClr val="bg1"/>
            </a:solidFill>
            <a:prstDash val="solid"/>
          </a:ln>
        </p:spPr>
      </p:sp>
      <p:pic>
        <p:nvPicPr>
          <p:cNvPr id="5" name="icon-memo-5" descr="memo illustration">    </p:cNvPr>
          <p:cNvPicPr>
            <a:picLocks noChangeAspect="1"/>
          </p:cNvPicPr>
          <p:nvPr/>
        </p:nvPicPr>
        <p:blipFill>
          <a:blip r:embed="rId1"/>
          <a:stretch>
            <a:fillRect/>
          </a:stretch>
        </p:blipFill>
        <p:spPr>
          <a:xfrm>
            <a:off x="954634" y="1548994"/>
            <a:ext cx="559613" cy="559613"/>
          </a:xfrm>
          <a:prstGeom prst="rect">
            <a:avLst/>
          </a:prstGeom>
        </p:spPr>
      </p:pic>
      <p:sp>
        <p:nvSpPr>
          <p:cNvPr id="6" name="text-6"/>
          <p:cNvSpPr txBox="1"/>
          <p:nvPr/>
        </p:nvSpPr>
        <p:spPr>
          <a:xfrm>
            <a:off x="1828800" y="1463040"/>
            <a:ext cx="3291840" cy="73152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Your message</a:t>
            </a:r>
            <a:endParaRPr lang="en-US" sz="2100" dirty="0"/>
          </a:p>
        </p:txBody>
      </p:sp>
      <p:sp>
        <p:nvSpPr>
          <p:cNvPr id="7" name="text-7"/>
          <p:cNvSpPr txBox="1"/>
          <p:nvPr/>
        </p:nvSpPr>
        <p:spPr>
          <a:xfrm>
            <a:off x="868680" y="2423160"/>
            <a:ext cx="4206240" cy="2743200"/>
          </a:xfrm>
          <a:prstGeom prst="rect">
            <a:avLst/>
          </a:prstGeom>
          <a:noFill/>
          <a:ln/>
        </p:spPr>
        <p:txBody>
          <a:bodyPr wrap="square" lIns="0" tIns="0" rIns="0" bIns="0" rtlCol="0" anchor="t"/>
          <a:lstStyle/>
          <a:p>
            <a:pPr indent="0" marL="0">
              <a:spcAft>
                <a:spcPts val="1200"/>
              </a:spcAft>
              <a:buNone/>
            </a:pPr>
            <a:r>
              <a:rPr lang="en-US" sz="1600" i="1" dirty="0">
                <a:solidFill>
                  <a:schemeClr val="tx1"/>
                </a:solidFill>
              </a:rPr>
              <a:t>“…study the geometry of the LoRA updates and ask a more direct question: how much genuinely new information does the incoming adapter bring?”</a:t>
            </a:r>
            <a:endParaRPr lang="en-US" sz="1600" dirty="0"/>
          </a:p>
          <a:p>
            <a:pPr indent="0" marL="0">
              <a:spcAft>
                <a:spcPts val="1200"/>
              </a:spcAft>
              <a:buNone/>
            </a:pPr>
            <a:r>
              <a:rPr lang="en-US" sz="1600" i="1" dirty="0">
                <a:solidFill>
                  <a:schemeClr val="tx1"/>
                </a:solidFill>
              </a:rPr>
              <a:t>“…measure the overlap and residual between the incoming LoRA and the current slot, and check whether this ‘new-direction demand’ predicts when K-Merge fails better than simple cosine similarity.”</a:t>
            </a:r>
            <a:endParaRPr lang="en-US" sz="1600" dirty="0"/>
          </a:p>
        </p:txBody>
      </p:sp>
      <p:sp>
        <p:nvSpPr>
          <p:cNvPr id="8" name="card-8"/>
          <p:cNvSpPr/>
          <p:nvPr/>
        </p:nvSpPr>
        <p:spPr>
          <a:xfrm>
            <a:off x="5715000" y="1234440"/>
            <a:ext cx="5928055" cy="896112"/>
          </a:xfrm>
          <a:prstGeom prst="roundRect">
            <a:avLst>
              <a:gd name="adj" fmla="val 12245"/>
            </a:avLst>
          </a:prstGeom>
          <a:solidFill>
            <a:schemeClr val="bg2"/>
          </a:solidFill>
          <a:ln w="12700">
            <a:solidFill>
              <a:schemeClr val="bg2"/>
            </a:solidFill>
            <a:prstDash val="solid"/>
          </a:ln>
        </p:spPr>
      </p:sp>
      <p:sp>
        <p:nvSpPr>
          <p:cNvPr id="9" name="num-9"/>
          <p:cNvSpPr/>
          <p:nvPr/>
        </p:nvSpPr>
        <p:spPr>
          <a:xfrm>
            <a:off x="5943600" y="1431036"/>
            <a:ext cx="502920" cy="502920"/>
          </a:xfrm>
          <a:prstGeom prst="ellipse">
            <a:avLst/>
          </a:prstGeom>
          <a:solidFill>
            <a:schemeClr val="accent1"/>
          </a:solidFill>
          <a:ln w="12700">
            <a:solidFill>
              <a:schemeClr val="accent1"/>
            </a:solidFill>
            <a:prstDash val="solid"/>
          </a:ln>
        </p:spPr>
      </p:sp>
      <p:sp>
        <p:nvSpPr>
          <p:cNvPr id="10" name="num-t-10"/>
          <p:cNvSpPr txBox="1"/>
          <p:nvPr/>
        </p:nvSpPr>
        <p:spPr>
          <a:xfrm>
            <a:off x="5943600" y="1431036"/>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1</a:t>
            </a:r>
            <a:endParaRPr lang="en-US" sz="1800" dirty="0"/>
          </a:p>
        </p:txBody>
      </p:sp>
      <p:sp>
        <p:nvSpPr>
          <p:cNvPr id="11" name="text-11"/>
          <p:cNvSpPr txBox="1"/>
          <p:nvPr/>
        </p:nvSpPr>
        <p:spPr>
          <a:xfrm>
            <a:off x="6675120" y="1234440"/>
            <a:ext cx="1417320" cy="896112"/>
          </a:xfrm>
          <a:prstGeom prst="rect">
            <a:avLst/>
          </a:prstGeom>
          <a:noFill/>
          <a:ln/>
        </p:spPr>
        <p:txBody>
          <a:bodyPr wrap="square" lIns="0" tIns="0" rIns="0" bIns="0" rtlCol="0" anchor="ctr"/>
          <a:lstStyle/>
          <a:p>
            <a:pPr indent="0" marL="0">
              <a:buNone/>
            </a:pPr>
            <a:r>
              <a:rPr lang="en-US" sz="1900" b="1" dirty="0">
                <a:solidFill>
                  <a:schemeClr val="accent1"/>
                </a:solidFill>
                <a:latin typeface="Cambria" pitchFamily="34" charset="0"/>
                <a:ea typeface="Cambria" pitchFamily="34" charset="-122"/>
                <a:cs typeface="Cambria" pitchFamily="34" charset="-120"/>
              </a:rPr>
              <a:t>Decompose</a:t>
            </a:r>
            <a:endParaRPr lang="en-US" sz="1900" dirty="0"/>
          </a:p>
        </p:txBody>
      </p:sp>
      <p:sp>
        <p:nvSpPr>
          <p:cNvPr id="12" name="text-12"/>
          <p:cNvSpPr txBox="1"/>
          <p:nvPr/>
        </p:nvSpPr>
        <p:spPr>
          <a:xfrm>
            <a:off x="8092440" y="1234440"/>
            <a:ext cx="3322015" cy="896112"/>
          </a:xfrm>
          <a:prstGeom prst="rect">
            <a:avLst/>
          </a:prstGeom>
          <a:noFill/>
          <a:ln/>
        </p:spPr>
        <p:txBody>
          <a:bodyPr wrap="square" lIns="0" tIns="0" rIns="0" bIns="0" rtlCol="0" anchor="ctr"/>
          <a:lstStyle/>
          <a:p>
            <a:pPr indent="0" marL="0">
              <a:buNone/>
            </a:pPr>
            <a:r>
              <a:rPr lang="en-US" sz="1500" dirty="0">
                <a:solidFill>
                  <a:schemeClr val="tx1"/>
                </a:solidFill>
              </a:rPr>
              <a:t>SVD of every LoRA update ΔW = BA, in every layer and module</a:t>
            </a:r>
            <a:endParaRPr lang="en-US" sz="1500" dirty="0"/>
          </a:p>
        </p:txBody>
      </p:sp>
      <p:sp>
        <p:nvSpPr>
          <p:cNvPr id="13" name="card-13"/>
          <p:cNvSpPr/>
          <p:nvPr/>
        </p:nvSpPr>
        <p:spPr>
          <a:xfrm>
            <a:off x="5715000" y="2286000"/>
            <a:ext cx="5928055" cy="896112"/>
          </a:xfrm>
          <a:prstGeom prst="roundRect">
            <a:avLst>
              <a:gd name="adj" fmla="val 12245"/>
            </a:avLst>
          </a:prstGeom>
          <a:solidFill>
            <a:schemeClr val="bg2"/>
          </a:solidFill>
          <a:ln w="12700">
            <a:solidFill>
              <a:schemeClr val="bg2"/>
            </a:solidFill>
            <a:prstDash val="solid"/>
          </a:ln>
        </p:spPr>
      </p:sp>
      <p:sp>
        <p:nvSpPr>
          <p:cNvPr id="14" name="num-14"/>
          <p:cNvSpPr/>
          <p:nvPr/>
        </p:nvSpPr>
        <p:spPr>
          <a:xfrm>
            <a:off x="5943600" y="2482596"/>
            <a:ext cx="502920" cy="502920"/>
          </a:xfrm>
          <a:prstGeom prst="ellipse">
            <a:avLst/>
          </a:prstGeom>
          <a:solidFill>
            <a:schemeClr val="accent1"/>
          </a:solidFill>
          <a:ln w="12700">
            <a:solidFill>
              <a:schemeClr val="accent1"/>
            </a:solidFill>
            <a:prstDash val="solid"/>
          </a:ln>
        </p:spPr>
      </p:sp>
      <p:sp>
        <p:nvSpPr>
          <p:cNvPr id="15" name="num-t-15"/>
          <p:cNvSpPr txBox="1"/>
          <p:nvPr/>
        </p:nvSpPr>
        <p:spPr>
          <a:xfrm>
            <a:off x="5943600" y="2482596"/>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2</a:t>
            </a:r>
            <a:endParaRPr lang="en-US" sz="1800" dirty="0"/>
          </a:p>
        </p:txBody>
      </p:sp>
      <p:sp>
        <p:nvSpPr>
          <p:cNvPr id="16" name="text-16"/>
          <p:cNvSpPr txBox="1"/>
          <p:nvPr/>
        </p:nvSpPr>
        <p:spPr>
          <a:xfrm>
            <a:off x="6675120" y="2286000"/>
            <a:ext cx="1417320" cy="896112"/>
          </a:xfrm>
          <a:prstGeom prst="rect">
            <a:avLst/>
          </a:prstGeom>
          <a:noFill/>
          <a:ln/>
        </p:spPr>
        <p:txBody>
          <a:bodyPr wrap="square" lIns="0" tIns="0" rIns="0" bIns="0" rtlCol="0" anchor="ctr"/>
          <a:lstStyle/>
          <a:p>
            <a:pPr indent="0" marL="0">
              <a:buNone/>
            </a:pPr>
            <a:r>
              <a:rPr lang="en-US" sz="1900" b="1" dirty="0">
                <a:solidFill>
                  <a:schemeClr val="accent1"/>
                </a:solidFill>
                <a:latin typeface="Cambria" pitchFamily="34" charset="0"/>
                <a:ea typeface="Cambria" pitchFamily="34" charset="-122"/>
                <a:cs typeface="Cambria" pitchFamily="34" charset="-120"/>
              </a:rPr>
              <a:t>Compare</a:t>
            </a:r>
            <a:endParaRPr lang="en-US" sz="1900" dirty="0"/>
          </a:p>
        </p:txBody>
      </p:sp>
      <p:sp>
        <p:nvSpPr>
          <p:cNvPr id="17" name="text-17"/>
          <p:cNvSpPr txBox="1"/>
          <p:nvPr/>
        </p:nvSpPr>
        <p:spPr>
          <a:xfrm>
            <a:off x="8092440" y="2286000"/>
            <a:ext cx="3322015" cy="896112"/>
          </a:xfrm>
          <a:prstGeom prst="rect">
            <a:avLst/>
          </a:prstGeom>
          <a:noFill/>
          <a:ln/>
        </p:spPr>
        <p:txBody>
          <a:bodyPr wrap="square" lIns="0" tIns="0" rIns="0" bIns="0" rtlCol="0" anchor="ctr"/>
          <a:lstStyle/>
          <a:p>
            <a:pPr indent="0" marL="0">
              <a:buNone/>
            </a:pPr>
            <a:r>
              <a:rPr lang="en-US" sz="1500" dirty="0">
                <a:solidFill>
                  <a:schemeClr val="tx1"/>
                </a:solidFill>
              </a:rPr>
              <a:t>Split the newcomer into overlap (already in the slot) and residual (new)</a:t>
            </a:r>
            <a:endParaRPr lang="en-US" sz="1500" dirty="0"/>
          </a:p>
        </p:txBody>
      </p:sp>
      <p:sp>
        <p:nvSpPr>
          <p:cNvPr id="18" name="card-18"/>
          <p:cNvSpPr/>
          <p:nvPr/>
        </p:nvSpPr>
        <p:spPr>
          <a:xfrm>
            <a:off x="5715000" y="3337560"/>
            <a:ext cx="5928055" cy="896112"/>
          </a:xfrm>
          <a:prstGeom prst="roundRect">
            <a:avLst>
              <a:gd name="adj" fmla="val 12245"/>
            </a:avLst>
          </a:prstGeom>
          <a:solidFill>
            <a:schemeClr val="bg2"/>
          </a:solidFill>
          <a:ln w="12700">
            <a:solidFill>
              <a:schemeClr val="bg2"/>
            </a:solidFill>
            <a:prstDash val="solid"/>
          </a:ln>
        </p:spPr>
      </p:sp>
      <p:sp>
        <p:nvSpPr>
          <p:cNvPr id="19" name="num-19"/>
          <p:cNvSpPr/>
          <p:nvPr/>
        </p:nvSpPr>
        <p:spPr>
          <a:xfrm>
            <a:off x="5943600" y="3534156"/>
            <a:ext cx="502920" cy="502920"/>
          </a:xfrm>
          <a:prstGeom prst="ellipse">
            <a:avLst/>
          </a:prstGeom>
          <a:solidFill>
            <a:schemeClr val="accent1"/>
          </a:solidFill>
          <a:ln w="12700">
            <a:solidFill>
              <a:schemeClr val="accent1"/>
            </a:solidFill>
            <a:prstDash val="solid"/>
          </a:ln>
        </p:spPr>
      </p:sp>
      <p:sp>
        <p:nvSpPr>
          <p:cNvPr id="20" name="num-t-20"/>
          <p:cNvSpPr txBox="1"/>
          <p:nvPr/>
        </p:nvSpPr>
        <p:spPr>
          <a:xfrm>
            <a:off x="5943600" y="3534156"/>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3</a:t>
            </a:r>
            <a:endParaRPr lang="en-US" sz="1800" dirty="0"/>
          </a:p>
        </p:txBody>
      </p:sp>
      <p:sp>
        <p:nvSpPr>
          <p:cNvPr id="21" name="text-21"/>
          <p:cNvSpPr txBox="1"/>
          <p:nvPr/>
        </p:nvSpPr>
        <p:spPr>
          <a:xfrm>
            <a:off x="6675120" y="3337560"/>
            <a:ext cx="1417320" cy="896112"/>
          </a:xfrm>
          <a:prstGeom prst="rect">
            <a:avLst/>
          </a:prstGeom>
          <a:noFill/>
          <a:ln/>
        </p:spPr>
        <p:txBody>
          <a:bodyPr wrap="square" lIns="0" tIns="0" rIns="0" bIns="0" rtlCol="0" anchor="ctr"/>
          <a:lstStyle/>
          <a:p>
            <a:pPr indent="0" marL="0">
              <a:buNone/>
            </a:pPr>
            <a:r>
              <a:rPr lang="en-US" sz="1900" b="1" dirty="0">
                <a:solidFill>
                  <a:schemeClr val="accent1"/>
                </a:solidFill>
                <a:latin typeface="Cambria" pitchFamily="34" charset="0"/>
                <a:ea typeface="Cambria" pitchFamily="34" charset="-122"/>
                <a:cs typeface="Cambria" pitchFamily="34" charset="-120"/>
              </a:rPr>
              <a:t>Test</a:t>
            </a:r>
            <a:endParaRPr lang="en-US" sz="1900" dirty="0"/>
          </a:p>
        </p:txBody>
      </p:sp>
      <p:sp>
        <p:nvSpPr>
          <p:cNvPr id="22" name="text-22"/>
          <p:cNvSpPr txBox="1"/>
          <p:nvPr/>
        </p:nvSpPr>
        <p:spPr>
          <a:xfrm>
            <a:off x="8092440" y="3337560"/>
            <a:ext cx="3322015" cy="896112"/>
          </a:xfrm>
          <a:prstGeom prst="rect">
            <a:avLst/>
          </a:prstGeom>
          <a:noFill/>
          <a:ln/>
        </p:spPr>
        <p:txBody>
          <a:bodyPr wrap="square" lIns="0" tIns="0" rIns="0" bIns="0" rtlCol="0" anchor="ctr"/>
          <a:lstStyle/>
          <a:p>
            <a:pPr indent="0" marL="0">
              <a:buNone/>
            </a:pPr>
            <a:r>
              <a:rPr lang="en-US" sz="1500" dirty="0">
                <a:solidFill>
                  <a:schemeClr val="tx1"/>
                </a:solidFill>
              </a:rPr>
              <a:t>Does demand (the new share) predict the damage better than cosine does?</a:t>
            </a:r>
            <a:endParaRPr lang="en-US" sz="1500" dirty="0"/>
          </a:p>
        </p:txBody>
      </p:sp>
      <p:sp>
        <p:nvSpPr>
          <p:cNvPr id="23" name="card-23"/>
          <p:cNvSpPr/>
          <p:nvPr/>
        </p:nvSpPr>
        <p:spPr>
          <a:xfrm>
            <a:off x="5715000" y="4389120"/>
            <a:ext cx="5928055" cy="896112"/>
          </a:xfrm>
          <a:prstGeom prst="roundRect">
            <a:avLst>
              <a:gd name="adj" fmla="val 12245"/>
            </a:avLst>
          </a:prstGeom>
          <a:solidFill>
            <a:schemeClr val="bg2"/>
          </a:solidFill>
          <a:ln w="12700">
            <a:solidFill>
              <a:schemeClr val="bg2"/>
            </a:solidFill>
            <a:prstDash val="solid"/>
          </a:ln>
        </p:spPr>
      </p:sp>
      <p:sp>
        <p:nvSpPr>
          <p:cNvPr id="24" name="num-24"/>
          <p:cNvSpPr/>
          <p:nvPr/>
        </p:nvSpPr>
        <p:spPr>
          <a:xfrm>
            <a:off x="5943600" y="4585716"/>
            <a:ext cx="502920" cy="502920"/>
          </a:xfrm>
          <a:prstGeom prst="ellipse">
            <a:avLst/>
          </a:prstGeom>
          <a:solidFill>
            <a:schemeClr val="accent1"/>
          </a:solidFill>
          <a:ln w="12700">
            <a:solidFill>
              <a:schemeClr val="accent1"/>
            </a:solidFill>
            <a:prstDash val="solid"/>
          </a:ln>
        </p:spPr>
      </p:sp>
      <p:sp>
        <p:nvSpPr>
          <p:cNvPr id="25" name="num-t-25"/>
          <p:cNvSpPr txBox="1"/>
          <p:nvPr/>
        </p:nvSpPr>
        <p:spPr>
          <a:xfrm>
            <a:off x="5943600" y="4585716"/>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4</a:t>
            </a:r>
            <a:endParaRPr lang="en-US" sz="1800" dirty="0"/>
          </a:p>
        </p:txBody>
      </p:sp>
      <p:sp>
        <p:nvSpPr>
          <p:cNvPr id="26" name="text-26"/>
          <p:cNvSpPr txBox="1"/>
          <p:nvPr/>
        </p:nvSpPr>
        <p:spPr>
          <a:xfrm>
            <a:off x="6675120" y="4389120"/>
            <a:ext cx="1417320" cy="896112"/>
          </a:xfrm>
          <a:prstGeom prst="rect">
            <a:avLst/>
          </a:prstGeom>
          <a:noFill/>
          <a:ln/>
        </p:spPr>
        <p:txBody>
          <a:bodyPr wrap="square" lIns="0" tIns="0" rIns="0" bIns="0" rtlCol="0" anchor="ctr"/>
          <a:lstStyle/>
          <a:p>
            <a:pPr indent="0" marL="0">
              <a:buNone/>
            </a:pPr>
            <a:r>
              <a:rPr lang="en-US" sz="1900" b="1" dirty="0">
                <a:solidFill>
                  <a:schemeClr val="accent1"/>
                </a:solidFill>
                <a:latin typeface="Cambria" pitchFamily="34" charset="0"/>
                <a:ea typeface="Cambria" pitchFamily="34" charset="-122"/>
                <a:cs typeface="Cambria" pitchFamily="34" charset="-120"/>
              </a:rPr>
              <a:t>Then</a:t>
            </a:r>
            <a:endParaRPr lang="en-US" sz="1900" dirty="0"/>
          </a:p>
        </p:txBody>
      </p:sp>
      <p:sp>
        <p:nvSpPr>
          <p:cNvPr id="27" name="text-27"/>
          <p:cNvSpPr txBox="1"/>
          <p:nvPr/>
        </p:nvSpPr>
        <p:spPr>
          <a:xfrm>
            <a:off x="8092440" y="4389120"/>
            <a:ext cx="3322015" cy="896112"/>
          </a:xfrm>
          <a:prstGeom prst="rect">
            <a:avLst/>
          </a:prstGeom>
          <a:noFill/>
          <a:ln/>
        </p:spPr>
        <p:txBody>
          <a:bodyPr wrap="square" lIns="0" tIns="0" rIns="0" bIns="0" rtlCol="0" anchor="ctr"/>
          <a:lstStyle/>
          <a:p>
            <a:pPr indent="0" marL="0">
              <a:buNone/>
            </a:pPr>
            <a:r>
              <a:rPr lang="en-US" sz="1500" dirty="0">
                <a:solidFill>
                  <a:schemeClr val="tx1"/>
                </a:solidFill>
              </a:rPr>
              <a:t>Only if yes: store just the new directions (capacity-aware slots)</a:t>
            </a:r>
            <a:endParaRPr lang="en-US" sz="1500" dirty="0"/>
          </a:p>
        </p:txBody>
      </p:sp>
      <p:sp>
        <p:nvSpPr>
          <p:cNvPr id="28" name="outline-28"/>
          <p:cNvSpPr/>
          <p:nvPr/>
        </p:nvSpPr>
        <p:spPr>
          <a:xfrm>
            <a:off x="548640" y="5532120"/>
            <a:ext cx="11094415" cy="713232"/>
          </a:xfrm>
          <a:prstGeom prst="roundRect">
            <a:avLst>
              <a:gd name="adj" fmla="val 15385"/>
            </a:avLst>
          </a:prstGeom>
          <a:solidFill>
            <a:schemeClr val="bg1"/>
          </a:solidFill>
          <a:ln w="15875">
            <a:solidFill>
              <a:schemeClr val="accent1"/>
            </a:solidFill>
            <a:prstDash val="solid"/>
          </a:ln>
        </p:spPr>
      </p:sp>
      <p:sp>
        <p:nvSpPr>
          <p:cNvPr id="29" name="text-29"/>
          <p:cNvSpPr txBox="1"/>
          <p:nvPr/>
        </p:nvSpPr>
        <p:spPr>
          <a:xfrm>
            <a:off x="777240" y="5532120"/>
            <a:ext cx="10637215" cy="713232"/>
          </a:xfrm>
          <a:prstGeom prst="rect">
            <a:avLst/>
          </a:prstGeom>
          <a:noFill/>
          <a:ln/>
        </p:spPr>
        <p:txBody>
          <a:bodyPr wrap="square" lIns="0" tIns="0" rIns="0" bIns="0" rtlCol="0" anchor="ctr"/>
          <a:lstStyle/>
          <a:p>
            <a:pPr indent="0" marL="0">
              <a:buNone/>
            </a:pPr>
            <a:r>
              <a:rPr lang="en-US" sz="1400" b="1" dirty="0">
                <a:solidFill>
                  <a:schemeClr val="tx1"/>
                </a:solidFill>
              </a:rPr>
              <a:t>Pass rule, fixed before looking at results: </a:t>
            </a:r>
            <a:pPr indent="0" marL="0">
              <a:buNone/>
            </a:pPr>
            <a:r>
              <a:rPr lang="en-US" sz="1400" dirty="0">
                <a:solidFill>
                  <a:schemeClr val="tx1"/>
                </a:solidFill>
              </a:rPr>
              <a:t>demand must beat cosine with a 95% interval above zero on both lab models and on the real tasks.</a:t>
            </a:r>
            <a:endParaRPr lang="en-US" sz="1400" dirty="0"/>
          </a:p>
          <a:p>
            <a:pPr indent="0" marL="0">
              <a:buNone/>
            </a:pPr>
            <a:r>
              <a:rPr lang="en-US" sz="1400" b="1" dirty="0">
                <a:solidFill>
                  <a:schemeClr val="tx1"/>
                </a:solidFill>
              </a:rPr>
              <a:t>No new GPU runs: </a:t>
            </a:r>
            <a:pPr indent="0" marL="0">
              <a:buNone/>
            </a:pPr>
            <a:r>
              <a:rPr lang="en-US" sz="1400" dirty="0">
                <a:solidFill>
                  <a:schemeClr val="tx1"/>
                </a:solidFill>
              </a:rPr>
              <a:t>48 saved adapters and the damage K-Merge caused in Phase 3.</a:t>
            </a:r>
            <a:endParaRPr lang="en-US" sz="14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The answer in one slide</a:t>
            </a:r>
            <a:endParaRPr lang="en-US" sz="3000" dirty="0"/>
          </a:p>
        </p:txBody>
      </p:sp>
      <p:sp>
        <p:nvSpPr>
          <p:cNvPr id="3" name="card-30"/>
          <p:cNvSpPr/>
          <p:nvPr/>
        </p:nvSpPr>
        <p:spPr>
          <a:xfrm>
            <a:off x="548640" y="1371600"/>
            <a:ext cx="3520440" cy="2651760"/>
          </a:xfrm>
          <a:prstGeom prst="roundRect">
            <a:avLst>
              <a:gd name="adj" fmla="val 4138"/>
            </a:avLst>
          </a:prstGeom>
          <a:solidFill>
            <a:schemeClr val="bg2"/>
          </a:solidFill>
          <a:ln w="12700">
            <a:solidFill>
              <a:schemeClr val="bg2"/>
            </a:solidFill>
            <a:prstDash val="solid"/>
          </a:ln>
        </p:spPr>
      </p:sp>
      <p:sp>
        <p:nvSpPr>
          <p:cNvPr id="4" name="text-31"/>
          <p:cNvSpPr txBox="1"/>
          <p:nvPr/>
        </p:nvSpPr>
        <p:spPr>
          <a:xfrm>
            <a:off x="777240" y="1645920"/>
            <a:ext cx="3063240" cy="82296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 90%</a:t>
            </a:r>
            <a:endParaRPr lang="en-US" sz="3600" dirty="0"/>
          </a:p>
        </p:txBody>
      </p:sp>
      <p:sp>
        <p:nvSpPr>
          <p:cNvPr id="5" name="text-32"/>
          <p:cNvSpPr txBox="1"/>
          <p:nvPr/>
        </p:nvSpPr>
        <p:spPr>
          <a:xfrm>
            <a:off x="777240" y="2560320"/>
            <a:ext cx="3063240" cy="1371600"/>
          </a:xfrm>
          <a:prstGeom prst="rect">
            <a:avLst/>
          </a:prstGeom>
          <a:noFill/>
          <a:ln/>
        </p:spPr>
        <p:txBody>
          <a:bodyPr wrap="square" lIns="0" tIns="0" rIns="0" bIns="0" rtlCol="0" anchor="t"/>
          <a:lstStyle/>
          <a:p>
            <a:pPr indent="0" marL="0">
              <a:buNone/>
            </a:pPr>
            <a:r>
              <a:rPr lang="en-US" sz="1500" dirty="0">
                <a:solidFill>
                  <a:schemeClr val="tx1"/>
                </a:solidFill>
              </a:rPr>
              <a:t>of each incoming adapter is new to its slot. On the real tasks only 11.1% of its energy lies in the slot's important directions; at least 80% was new in all 221 cases.</a:t>
            </a:r>
            <a:endParaRPr lang="en-US" sz="1500" dirty="0"/>
          </a:p>
        </p:txBody>
      </p:sp>
      <p:sp>
        <p:nvSpPr>
          <p:cNvPr id="6" name="card-33"/>
          <p:cNvSpPr/>
          <p:nvPr/>
        </p:nvSpPr>
        <p:spPr>
          <a:xfrm>
            <a:off x="4334256" y="1371600"/>
            <a:ext cx="3520440" cy="2651760"/>
          </a:xfrm>
          <a:prstGeom prst="roundRect">
            <a:avLst>
              <a:gd name="adj" fmla="val 4138"/>
            </a:avLst>
          </a:prstGeom>
          <a:solidFill>
            <a:schemeClr val="bg2"/>
          </a:solidFill>
          <a:ln w="12700">
            <a:solidFill>
              <a:schemeClr val="bg2"/>
            </a:solidFill>
            <a:prstDash val="solid"/>
          </a:ln>
        </p:spPr>
      </p:sp>
      <p:sp>
        <p:nvSpPr>
          <p:cNvPr id="7" name="text-34"/>
          <p:cNvSpPr txBox="1"/>
          <p:nvPr/>
        </p:nvSpPr>
        <p:spPr>
          <a:xfrm>
            <a:off x="4562856" y="1645920"/>
            <a:ext cx="3063240" cy="82296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1 of 3</a:t>
            </a:r>
            <a:endParaRPr lang="en-US" sz="3600" dirty="0"/>
          </a:p>
        </p:txBody>
      </p:sp>
      <p:sp>
        <p:nvSpPr>
          <p:cNvPr id="8" name="text-35"/>
          <p:cNvSpPr txBox="1"/>
          <p:nvPr/>
        </p:nvSpPr>
        <p:spPr>
          <a:xfrm>
            <a:off x="4562856" y="2560320"/>
            <a:ext cx="3063240" cy="1371600"/>
          </a:xfrm>
          <a:prstGeom prst="rect">
            <a:avLst/>
          </a:prstGeom>
          <a:noFill/>
          <a:ln/>
        </p:spPr>
        <p:txBody>
          <a:bodyPr wrap="square" lIns="0" tIns="0" rIns="0" bIns="0" rtlCol="0" anchor="t"/>
          <a:lstStyle/>
          <a:p>
            <a:pPr indent="0" marL="0">
              <a:buNone/>
            </a:pPr>
            <a:r>
              <a:rPr lang="en-US" sz="1500" dirty="0">
                <a:solidFill>
                  <a:schemeClr val="tx1"/>
                </a:solidFill>
              </a:rPr>
              <a:t>test beds where demand beat cosine: yes on the 0.5B lab (ρ 0.58 vs 0.44); no on the 1.5B lab or the 12 real tasks.</a:t>
            </a:r>
            <a:endParaRPr lang="en-US" sz="1500" dirty="0"/>
          </a:p>
        </p:txBody>
      </p:sp>
      <p:sp>
        <p:nvSpPr>
          <p:cNvPr id="9" name="card-36"/>
          <p:cNvSpPr/>
          <p:nvPr/>
        </p:nvSpPr>
        <p:spPr>
          <a:xfrm>
            <a:off x="8119872" y="1371600"/>
            <a:ext cx="3520440" cy="2651760"/>
          </a:xfrm>
          <a:prstGeom prst="roundRect">
            <a:avLst>
              <a:gd name="adj" fmla="val 4138"/>
            </a:avLst>
          </a:prstGeom>
          <a:solidFill>
            <a:schemeClr val="bg2"/>
          </a:solidFill>
          <a:ln w="12700">
            <a:solidFill>
              <a:schemeClr val="bg2"/>
            </a:solidFill>
            <a:prstDash val="solid"/>
          </a:ln>
        </p:spPr>
      </p:sp>
      <p:sp>
        <p:nvSpPr>
          <p:cNvPr id="10" name="text-37"/>
          <p:cNvSpPr txBox="1"/>
          <p:nvPr/>
        </p:nvSpPr>
        <p:spPr>
          <a:xfrm>
            <a:off x="8348472" y="1645920"/>
            <a:ext cx="3063240" cy="822960"/>
          </a:xfrm>
          <a:prstGeom prst="rect">
            <a:avLst/>
          </a:prstGeom>
          <a:noFill/>
          <a:ln/>
        </p:spPr>
        <p:txBody>
          <a:bodyPr wrap="square" lIns="0" tIns="0" rIns="0" bIns="0" rtlCol="0" anchor="ctr"/>
          <a:lstStyle/>
          <a:p>
            <a:pPr indent="0" marL="0">
              <a:buNone/>
            </a:pPr>
            <a:r>
              <a:rPr lang="en-US" sz="3600" b="1" dirty="0">
                <a:solidFill>
                  <a:schemeClr val="tx1"/>
                </a:solidFill>
                <a:latin typeface="Cambria" pitchFamily="34" charset="0"/>
                <a:ea typeface="Cambria" pitchFamily="34" charset="-122"/>
                <a:cs typeface="Cambria" pitchFamily="34" charset="-120"/>
              </a:rPr>
              <a:t>≈ 0</a:t>
            </a:r>
            <a:endParaRPr lang="en-US" sz="3600" dirty="0"/>
          </a:p>
        </p:txBody>
      </p:sp>
      <p:sp>
        <p:nvSpPr>
          <p:cNvPr id="11" name="text-38"/>
          <p:cNvSpPr txBox="1"/>
          <p:nvPr/>
        </p:nvSpPr>
        <p:spPr>
          <a:xfrm>
            <a:off x="8348472" y="2560320"/>
            <a:ext cx="3063240" cy="1371600"/>
          </a:xfrm>
          <a:prstGeom prst="rect">
            <a:avLst/>
          </a:prstGeom>
          <a:noFill/>
          <a:ln/>
        </p:spPr>
        <p:txBody>
          <a:bodyPr wrap="square" lIns="0" tIns="0" rIns="0" bIns="0" rtlCol="0" anchor="t"/>
          <a:lstStyle/>
          <a:p>
            <a:pPr indent="0" marL="0">
              <a:buNone/>
            </a:pPr>
            <a:r>
              <a:rPr lang="en-US" sz="1500" dirty="0">
                <a:solidFill>
                  <a:schemeClr val="tx1"/>
                </a:solidFill>
              </a:rPr>
              <a:t>left for either score on the real tasks once task type and slot size are held fixed (ρ 0.03 for demand, 0.00 for cosine).</a:t>
            </a:r>
            <a:endParaRPr lang="en-US" sz="1500" dirty="0"/>
          </a:p>
        </p:txBody>
      </p:sp>
      <p:sp>
        <p:nvSpPr>
          <p:cNvPr id="12" name="card-39"/>
          <p:cNvSpPr/>
          <p:nvPr/>
        </p:nvSpPr>
        <p:spPr>
          <a:xfrm>
            <a:off x="548640" y="4297680"/>
            <a:ext cx="11094415" cy="1371600"/>
          </a:xfrm>
          <a:prstGeom prst="roundRect">
            <a:avLst>
              <a:gd name="adj" fmla="val 8000"/>
            </a:avLst>
          </a:prstGeom>
          <a:solidFill>
            <a:schemeClr val="tx1"/>
          </a:solidFill>
          <a:ln w="12700">
            <a:solidFill>
              <a:schemeClr val="tx1"/>
            </a:solidFill>
            <a:prstDash val="solid"/>
          </a:ln>
        </p:spPr>
      </p:sp>
      <p:sp>
        <p:nvSpPr>
          <p:cNvPr id="13" name="icon-bg-40"/>
          <p:cNvSpPr/>
          <p:nvPr/>
        </p:nvSpPr>
        <p:spPr>
          <a:xfrm>
            <a:off x="868680" y="4498848"/>
            <a:ext cx="960120" cy="960120"/>
          </a:xfrm>
          <a:prstGeom prst="ellipse">
            <a:avLst/>
          </a:prstGeom>
          <a:solidFill>
            <a:schemeClr val="bg1"/>
          </a:solidFill>
          <a:ln w="12700">
            <a:solidFill>
              <a:schemeClr val="bg1"/>
            </a:solidFill>
            <a:prstDash val="solid"/>
          </a:ln>
        </p:spPr>
      </p:sp>
      <p:pic>
        <p:nvPicPr>
          <p:cNvPr id="14" name="icon-light_bulb-41" descr="light bulb illustration">    </p:cNvPr>
          <p:cNvPicPr>
            <a:picLocks noChangeAspect="1"/>
          </p:cNvPicPr>
          <p:nvPr/>
        </p:nvPicPr>
        <p:blipFill>
          <a:blip r:embed="rId1"/>
          <a:stretch>
            <a:fillRect/>
          </a:stretch>
        </p:blipFill>
        <p:spPr>
          <a:xfrm>
            <a:off x="1022299" y="4652467"/>
            <a:ext cx="652882" cy="652882"/>
          </a:xfrm>
          <a:prstGeom prst="rect">
            <a:avLst/>
          </a:prstGeom>
        </p:spPr>
      </p:pic>
      <p:sp>
        <p:nvSpPr>
          <p:cNvPr id="15" name="text-42"/>
          <p:cNvSpPr txBox="1"/>
          <p:nvPr/>
        </p:nvSpPr>
        <p:spPr>
          <a:xfrm>
            <a:off x="2057400" y="4389120"/>
            <a:ext cx="9311335" cy="1188720"/>
          </a:xfrm>
          <a:prstGeom prst="rect">
            <a:avLst/>
          </a:prstGeom>
          <a:noFill/>
          <a:ln/>
        </p:spPr>
        <p:txBody>
          <a:bodyPr wrap="square" lIns="0" tIns="0" rIns="0" bIns="0" rtlCol="0" anchor="ctr"/>
          <a:lstStyle/>
          <a:p>
            <a:pPr indent="0" marL="0">
              <a:spcAft>
                <a:spcPts val="400"/>
              </a:spcAft>
              <a:buNone/>
            </a:pPr>
            <a:r>
              <a:rPr lang="en-US" sz="1900" b="1" dirty="0">
                <a:solidFill>
                  <a:schemeClr val="bg1"/>
                </a:solidFill>
              </a:rPr>
              <a:t>Your capacity-aware direction holds, with one change: measure what a direction does, not how much energy it holds.</a:t>
            </a:r>
            <a:endParaRPr lang="en-US" sz="1900" dirty="0"/>
          </a:p>
          <a:p>
            <a:pPr indent="0" marL="0">
              <a:spcAft>
                <a:spcPts val="400"/>
              </a:spcAft>
              <a:buNone/>
            </a:pPr>
            <a:r>
              <a:rPr lang="en-US" sz="1500" dirty="0">
                <a:solidFill>
                  <a:schemeClr val="bg2"/>
                </a:solidFill>
              </a:rPr>
              <a:t>With about 3 directions per task, split kept 98.5–98.9% of quality, though those directions hold only about 55% of each task's energy.</a:t>
            </a:r>
            <a:endParaRPr lang="en-US" sz="1900" dirty="0"/>
          </a:p>
        </p:txBody>
      </p:sp>
      <p:sp>
        <p:nvSpPr>
          <p:cNvPr id="16" name="text-43"/>
          <p:cNvSpPr txBox="1"/>
          <p:nvPr/>
        </p:nvSpPr>
        <p:spPr>
          <a:xfrm>
            <a:off x="548640" y="5852160"/>
            <a:ext cx="11094415" cy="438912"/>
          </a:xfrm>
          <a:prstGeom prst="rect">
            <a:avLst/>
          </a:prstGeom>
          <a:noFill/>
          <a:ln/>
        </p:spPr>
        <p:txBody>
          <a:bodyPr wrap="square" lIns="0" tIns="0" rIns="0" bIns="0" rtlCol="0" anchor="t"/>
          <a:lstStyle/>
          <a:p>
            <a:pPr indent="0" marL="0">
              <a:buNone/>
            </a:pPr>
            <a:r>
              <a:rPr lang="en-US" sz="1200" i="1" dirty="0">
                <a:solidFill>
                  <a:schemeClr val="tx1"/>
                </a:solidFill>
              </a:rPr>
              <a:t>Test beds: synthetic grammar correction in 4 languages on Qwen2.5-0.5B and 1.5B (the lab), and 12 real tasks on Qwen2.5-1.5B.</a:t>
            </a:r>
            <a:endParaRPr lang="en-US" sz="1200" dirty="0"/>
          </a:p>
          <a:p>
            <a:pPr indent="0" marL="0">
              <a:buNone/>
            </a:pPr>
            <a:r>
              <a:rPr lang="en-US" sz="1200" i="1" dirty="0">
                <a:solidFill>
                  <a:schemeClr val="tx1"/>
                </a:solidFill>
              </a:rPr>
              <a:t>ρ = Spearman rank correlation with the damage K-Merge caused. Same answer at 80%, 95% and 100% energy cut-offs.</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Overlap and residual in one picture</a:t>
            </a:r>
            <a:endParaRPr lang="en-US" sz="3000" dirty="0"/>
          </a:p>
        </p:txBody>
      </p:sp>
      <p:sp>
        <p:nvSpPr>
          <p:cNvPr id="3" name="slot-plane"/>
          <p:cNvSpPr/>
          <p:nvPr/>
        </p:nvSpPr>
        <p:spPr>
          <a:xfrm>
            <a:off x="685800" y="3520440"/>
            <a:ext cx="5166360" cy="1645920"/>
          </a:xfrm>
          <a:prstGeom prst="parallelogram">
            <a:avLst/>
          </a:prstGeom>
          <a:solidFill>
            <a:srgbClr val="CFE3E8"/>
          </a:solidFill>
          <a:ln w="15875">
            <a:solidFill>
              <a:srgbClr val="0E7C86"/>
            </a:solidFill>
            <a:prstDash val="solid"/>
          </a:ln>
        </p:spPr>
      </p:sp>
      <p:sp>
        <p:nvSpPr>
          <p:cNvPr id="4" name="text-44"/>
          <p:cNvSpPr txBox="1"/>
          <p:nvPr/>
        </p:nvSpPr>
        <p:spPr>
          <a:xfrm>
            <a:off x="1234440" y="4553712"/>
            <a:ext cx="3931920" cy="548640"/>
          </a:xfrm>
          <a:prstGeom prst="rect">
            <a:avLst/>
          </a:prstGeom>
          <a:noFill/>
          <a:ln/>
        </p:spPr>
        <p:txBody>
          <a:bodyPr wrap="square" lIns="0" tIns="0" rIns="0" bIns="0" rtlCol="0" anchor="t"/>
          <a:lstStyle/>
          <a:p>
            <a:pPr indent="0" marL="0">
              <a:buNone/>
            </a:pPr>
            <a:r>
              <a:rPr lang="en-US" sz="1400" b="1" dirty="0">
                <a:solidFill>
                  <a:schemeClr val="accent1"/>
                </a:solidFill>
              </a:rPr>
              <a:t>Slot's important directions</a:t>
            </a:r>
            <a:endParaRPr lang="en-US" sz="1400" dirty="0"/>
          </a:p>
          <a:p>
            <a:pPr indent="0" marL="0">
              <a:buNone/>
            </a:pPr>
            <a:r>
              <a:rPr lang="en-US" sz="1200" dirty="0">
                <a:solidFill>
                  <a:schemeClr val="tx1"/>
                </a:solidFill>
              </a:rPr>
              <a:t>top SVD directions holding 90% of the slot's energy</a:t>
            </a:r>
            <a:endParaRPr lang="en-US" sz="1400" dirty="0"/>
          </a:p>
        </p:txBody>
      </p:sp>
      <p:sp>
        <p:nvSpPr>
          <p:cNvPr id="5" name="newcomer"/>
          <p:cNvSpPr/>
          <p:nvPr/>
        </p:nvSpPr>
        <p:spPr>
          <a:xfrm flipV="1">
            <a:off x="1737360" y="1600200"/>
            <a:ext cx="2606040" cy="2743200"/>
          </a:xfrm>
          <a:prstGeom prst="line">
            <a:avLst/>
          </a:prstGeom>
          <a:noFill/>
          <a:ln w="38100">
            <a:solidFill>
              <a:srgbClr val="1B263B"/>
            </a:solidFill>
            <a:prstDash val="solid"/>
            <a:tailEnd type="triangle"/>
          </a:ln>
        </p:spPr>
      </p:sp>
      <p:sp>
        <p:nvSpPr>
          <p:cNvPr id="6" name="overlap"/>
          <p:cNvSpPr/>
          <p:nvPr/>
        </p:nvSpPr>
        <p:spPr>
          <a:xfrm flipV="1">
            <a:off x="1737360" y="4069080"/>
            <a:ext cx="2606040" cy="274320"/>
          </a:xfrm>
          <a:prstGeom prst="line">
            <a:avLst/>
          </a:prstGeom>
          <a:noFill/>
          <a:ln w="57150">
            <a:solidFill>
              <a:srgbClr val="0E7C86"/>
            </a:solidFill>
            <a:prstDash val="solid"/>
            <a:tailEnd type="triangle"/>
          </a:ln>
        </p:spPr>
      </p:sp>
      <p:sp>
        <p:nvSpPr>
          <p:cNvPr id="7" name="residual"/>
          <p:cNvSpPr/>
          <p:nvPr/>
        </p:nvSpPr>
        <p:spPr>
          <a:xfrm flipV="1">
            <a:off x="4343400" y="1600200"/>
            <a:ext cx="0" cy="2468880"/>
          </a:xfrm>
          <a:prstGeom prst="line">
            <a:avLst/>
          </a:prstGeom>
          <a:noFill/>
          <a:ln w="38100">
            <a:solidFill>
              <a:srgbClr val="7D6B91"/>
            </a:solidFill>
            <a:prstDash val="dash"/>
            <a:tailEnd type="triangle"/>
          </a:ln>
        </p:spPr>
      </p:sp>
      <p:sp>
        <p:nvSpPr>
          <p:cNvPr id="8" name="right-angle"/>
          <p:cNvSpPr/>
          <p:nvPr/>
        </p:nvSpPr>
        <p:spPr>
          <a:xfrm>
            <a:off x="4142232" y="3867912"/>
            <a:ext cx="201168" cy="201168"/>
          </a:xfrm>
          <a:prstGeom prst="rect">
            <a:avLst/>
          </a:prstGeom>
          <a:solidFill>
            <a:srgbClr val="CFE3E8"/>
          </a:solidFill>
          <a:ln w="12700">
            <a:solidFill>
              <a:srgbClr val="6B7785"/>
            </a:solidFill>
            <a:prstDash val="solid"/>
          </a:ln>
        </p:spPr>
      </p:sp>
      <p:sp>
        <p:nvSpPr>
          <p:cNvPr id="9" name="text-45"/>
          <p:cNvSpPr txBox="1"/>
          <p:nvPr/>
        </p:nvSpPr>
        <p:spPr>
          <a:xfrm>
            <a:off x="1828800" y="1325880"/>
            <a:ext cx="2331720" cy="365760"/>
          </a:xfrm>
          <a:prstGeom prst="rect">
            <a:avLst/>
          </a:prstGeom>
          <a:noFill/>
          <a:ln/>
        </p:spPr>
        <p:txBody>
          <a:bodyPr wrap="square" lIns="0" tIns="0" rIns="0" bIns="0" rtlCol="0" anchor="t"/>
          <a:lstStyle/>
          <a:p>
            <a:pPr algn="r" indent="0" marL="0">
              <a:buNone/>
            </a:pPr>
            <a:r>
              <a:rPr lang="en-US" sz="1600" b="1" dirty="0">
                <a:solidFill>
                  <a:schemeClr val="tx1"/>
                </a:solidFill>
              </a:rPr>
              <a:t>Incoming adapter </a:t>
            </a:r>
            <a:pPr algn="r" indent="0" marL="0">
              <a:buNone/>
            </a:pPr>
            <a:r>
              <a:rPr lang="en-US" sz="1600" dirty="0">
                <a:solidFill>
                  <a:schemeClr val="tx1"/>
                </a:solidFill>
              </a:rPr>
              <a:t>ΔW</a:t>
            </a:r>
            <a:pPr algn="r" indent="0" marL="0">
              <a:buNone/>
            </a:pPr>
            <a:r>
              <a:rPr lang="en-US" sz="1600" baseline="-40000" dirty="0">
                <a:solidFill>
                  <a:schemeClr val="tx1"/>
                </a:solidFill>
              </a:rPr>
              <a:t>t</a:t>
            </a:r>
            <a:endParaRPr lang="en-US" sz="1600" dirty="0"/>
          </a:p>
        </p:txBody>
      </p:sp>
      <p:sp>
        <p:nvSpPr>
          <p:cNvPr id="10" name="text-46"/>
          <p:cNvSpPr txBox="1"/>
          <p:nvPr/>
        </p:nvSpPr>
        <p:spPr>
          <a:xfrm>
            <a:off x="4526280" y="2331720"/>
            <a:ext cx="1600200" cy="685800"/>
          </a:xfrm>
          <a:prstGeom prst="rect">
            <a:avLst/>
          </a:prstGeom>
          <a:noFill/>
          <a:ln/>
        </p:spPr>
        <p:txBody>
          <a:bodyPr wrap="square" lIns="0" tIns="0" rIns="0" bIns="0" rtlCol="0" anchor="t"/>
          <a:lstStyle/>
          <a:p>
            <a:pPr indent="0" marL="0">
              <a:buNone/>
            </a:pPr>
            <a:r>
              <a:rPr lang="en-US" sz="1500" b="1" dirty="0">
                <a:solidFill>
                  <a:schemeClr val="accent6"/>
                </a:solidFill>
              </a:rPr>
              <a:t>Residual</a:t>
            </a:r>
            <a:endParaRPr lang="en-US" sz="1500" dirty="0"/>
          </a:p>
          <a:p>
            <a:pPr indent="0" marL="0">
              <a:buNone/>
            </a:pPr>
            <a:r>
              <a:rPr lang="en-US" sz="1500" dirty="0">
                <a:solidFill>
                  <a:schemeClr val="accent6"/>
                </a:solidFill>
              </a:rPr>
              <a:t>= genuinely new</a:t>
            </a:r>
            <a:endParaRPr lang="en-US" sz="1500" dirty="0"/>
          </a:p>
        </p:txBody>
      </p:sp>
      <p:sp>
        <p:nvSpPr>
          <p:cNvPr id="11" name="text-47"/>
          <p:cNvSpPr txBox="1"/>
          <p:nvPr/>
        </p:nvSpPr>
        <p:spPr>
          <a:xfrm>
            <a:off x="2724912" y="3547872"/>
            <a:ext cx="1508760" cy="457200"/>
          </a:xfrm>
          <a:prstGeom prst="rect">
            <a:avLst/>
          </a:prstGeom>
          <a:noFill/>
          <a:ln/>
        </p:spPr>
        <p:txBody>
          <a:bodyPr wrap="square" lIns="0" tIns="0" rIns="0" bIns="0" rtlCol="0" anchor="t"/>
          <a:lstStyle/>
          <a:p>
            <a:pPr indent="0" marL="0">
              <a:buNone/>
            </a:pPr>
            <a:r>
              <a:rPr lang="en-US" sz="1300" b="1" dirty="0">
                <a:solidFill>
                  <a:schemeClr val="accent1"/>
                </a:solidFill>
              </a:rPr>
              <a:t>Overlap</a:t>
            </a:r>
            <a:endParaRPr lang="en-US" sz="1300" dirty="0"/>
          </a:p>
          <a:p>
            <a:pPr indent="0" marL="0">
              <a:buNone/>
            </a:pPr>
            <a:r>
              <a:rPr lang="en-US" sz="1300" dirty="0">
                <a:solidFill>
                  <a:schemeClr val="accent1"/>
                </a:solidFill>
              </a:rPr>
              <a:t>= already covered</a:t>
            </a:r>
            <a:endParaRPr lang="en-US" sz="1300" dirty="0"/>
          </a:p>
        </p:txBody>
      </p:sp>
      <p:sp>
        <p:nvSpPr>
          <p:cNvPr id="12" name="card-48"/>
          <p:cNvSpPr/>
          <p:nvPr/>
        </p:nvSpPr>
        <p:spPr>
          <a:xfrm>
            <a:off x="6446520" y="1234440"/>
            <a:ext cx="5196535" cy="1371600"/>
          </a:xfrm>
          <a:prstGeom prst="roundRect">
            <a:avLst>
              <a:gd name="adj" fmla="val 8000"/>
            </a:avLst>
          </a:prstGeom>
          <a:solidFill>
            <a:schemeClr val="bg2"/>
          </a:solidFill>
          <a:ln w="12700">
            <a:solidFill>
              <a:schemeClr val="bg2"/>
            </a:solidFill>
            <a:prstDash val="solid"/>
          </a:ln>
        </p:spPr>
      </p:sp>
      <p:sp>
        <p:nvSpPr>
          <p:cNvPr id="13" name="text-49"/>
          <p:cNvSpPr txBox="1"/>
          <p:nvPr/>
        </p:nvSpPr>
        <p:spPr>
          <a:xfrm>
            <a:off x="6720840" y="1325880"/>
            <a:ext cx="4647895" cy="1188720"/>
          </a:xfrm>
          <a:prstGeom prst="rect">
            <a:avLst/>
          </a:prstGeom>
          <a:noFill/>
          <a:ln/>
        </p:spPr>
        <p:txBody>
          <a:bodyPr wrap="square" lIns="0" tIns="0" rIns="0" bIns="0" rtlCol="0" anchor="ctr"/>
          <a:lstStyle/>
          <a:p>
            <a:pPr indent="0" marL="0">
              <a:spcAft>
                <a:spcPts val="300"/>
              </a:spcAft>
              <a:buNone/>
            </a:pPr>
            <a:r>
              <a:rPr lang="en-US" sz="1800" b="1" dirty="0">
                <a:solidFill>
                  <a:schemeClr val="accent1"/>
                </a:solidFill>
              </a:rPr>
              <a:t>Overlap</a:t>
            </a:r>
            <a:endParaRPr lang="en-US" sz="1500" dirty="0"/>
          </a:p>
          <a:p>
            <a:pPr indent="0" marL="0">
              <a:spcAft>
                <a:spcPts val="300"/>
              </a:spcAft>
              <a:buNone/>
            </a:pPr>
            <a:r>
              <a:rPr lang="en-US" sz="1500" dirty="0">
                <a:solidFill>
                  <a:schemeClr val="tx1"/>
                </a:solidFill>
              </a:rPr>
              <a:t>share of the newcomer's energy that lies inside the slot's important directions</a:t>
            </a:r>
            <a:endParaRPr lang="en-US" sz="1500" dirty="0"/>
          </a:p>
          <a:p>
            <a:pPr indent="0" marL="0">
              <a:spcAft>
                <a:spcPts val="300"/>
              </a:spcAft>
              <a:buNone/>
            </a:pPr>
            <a:r>
              <a:rPr lang="en-US" sz="1500" dirty="0">
                <a:solidFill>
                  <a:schemeClr val="tx1"/>
                </a:solidFill>
                <a:latin typeface="Cambria" pitchFamily="34" charset="0"/>
                <a:ea typeface="Cambria" pitchFamily="34" charset="-122"/>
                <a:cs typeface="Cambria" pitchFamily="34" charset="-120"/>
              </a:rPr>
              <a:t>overlap = ||U</a:t>
            </a:r>
            <a:pPr indent="0" marL="0">
              <a:spcAft>
                <a:spcPts val="300"/>
              </a:spcAft>
              <a:buNone/>
            </a:pPr>
            <a:r>
              <a:rPr lang="en-US" sz="1500" baseline="-40000" dirty="0">
                <a:solidFill>
                  <a:schemeClr val="tx1"/>
                </a:solidFill>
                <a:latin typeface="Cambria" pitchFamily="34" charset="0"/>
                <a:ea typeface="Cambria" pitchFamily="34" charset="-122"/>
                <a:cs typeface="Cambria" pitchFamily="34" charset="-120"/>
              </a:rPr>
              <a:t>k</a:t>
            </a:r>
            <a:pPr indent="0" marL="0">
              <a:spcAft>
                <a:spcPts val="300"/>
              </a:spcAft>
              <a:buNone/>
            </a:pPr>
            <a:r>
              <a:rPr lang="en-US" sz="1500" baseline="30000" dirty="0">
                <a:solidFill>
                  <a:schemeClr val="tx1"/>
                </a:solidFill>
                <a:latin typeface="Cambria" pitchFamily="34" charset="0"/>
                <a:ea typeface="Cambria" pitchFamily="34" charset="-122"/>
                <a:cs typeface="Cambria" pitchFamily="34" charset="-120"/>
              </a:rPr>
              <a:t>T</a:t>
            </a:r>
            <a:pPr indent="0" marL="0">
              <a:spcAft>
                <a:spcPts val="300"/>
              </a:spcAft>
              <a:buNone/>
            </a:pPr>
            <a:r>
              <a:rPr lang="en-US" sz="1500" dirty="0">
                <a:solidFill>
                  <a:schemeClr val="tx1"/>
                </a:solidFill>
                <a:latin typeface="Cambria" pitchFamily="34" charset="0"/>
                <a:ea typeface="Cambria" pitchFamily="34" charset="-122"/>
                <a:cs typeface="Cambria" pitchFamily="34" charset="-120"/>
              </a:rPr>
              <a:t> ΔW</a:t>
            </a:r>
            <a:pPr indent="0" marL="0">
              <a:spcAft>
                <a:spcPts val="300"/>
              </a:spcAft>
              <a:buNone/>
            </a:pPr>
            <a:r>
              <a:rPr lang="en-US" sz="1500" baseline="-40000" dirty="0">
                <a:solidFill>
                  <a:schemeClr val="tx1"/>
                </a:solidFill>
                <a:latin typeface="Cambria" pitchFamily="34" charset="0"/>
                <a:ea typeface="Cambria" pitchFamily="34" charset="-122"/>
                <a:cs typeface="Cambria" pitchFamily="34" charset="-120"/>
              </a:rPr>
              <a:t>t</a:t>
            </a:r>
            <a:pPr indent="0" marL="0">
              <a:spcAft>
                <a:spcPts val="300"/>
              </a:spcAft>
              <a:buNone/>
            </a:pPr>
            <a:r>
              <a:rPr lang="en-US" sz="1500" dirty="0">
                <a:solidFill>
                  <a:schemeClr val="tx1"/>
                </a:solidFill>
                <a:latin typeface="Cambria" pitchFamily="34" charset="0"/>
                <a:ea typeface="Cambria" pitchFamily="34" charset="-122"/>
                <a:cs typeface="Cambria" pitchFamily="34" charset="-120"/>
              </a:rPr>
              <a:t> V</a:t>
            </a:r>
            <a:pPr indent="0" marL="0">
              <a:spcAft>
                <a:spcPts val="300"/>
              </a:spcAft>
              <a:buNone/>
            </a:pPr>
            <a:r>
              <a:rPr lang="en-US" sz="1500" baseline="-40000" dirty="0">
                <a:solidFill>
                  <a:schemeClr val="tx1"/>
                </a:solidFill>
                <a:latin typeface="Cambria" pitchFamily="34" charset="0"/>
                <a:ea typeface="Cambria" pitchFamily="34" charset="-122"/>
                <a:cs typeface="Cambria" pitchFamily="34" charset="-120"/>
              </a:rPr>
              <a:t>k</a:t>
            </a:r>
            <a:pPr indent="0" marL="0">
              <a:spcAft>
                <a:spcPts val="300"/>
              </a:spcAft>
              <a:buNone/>
            </a:pPr>
            <a:r>
              <a:rPr lang="en-US" sz="1500" dirty="0">
                <a:solidFill>
                  <a:schemeClr val="tx1"/>
                </a:solidFill>
                <a:latin typeface="Cambria" pitchFamily="34" charset="0"/>
                <a:ea typeface="Cambria" pitchFamily="34" charset="-122"/>
                <a:cs typeface="Cambria" pitchFamily="34" charset="-120"/>
              </a:rPr>
              <a:t>||² ÷ ||ΔW</a:t>
            </a:r>
            <a:pPr indent="0" marL="0">
              <a:spcAft>
                <a:spcPts val="300"/>
              </a:spcAft>
              <a:buNone/>
            </a:pPr>
            <a:r>
              <a:rPr lang="en-US" sz="1500" baseline="-40000" dirty="0">
                <a:solidFill>
                  <a:schemeClr val="tx1"/>
                </a:solidFill>
                <a:latin typeface="Cambria" pitchFamily="34" charset="0"/>
                <a:ea typeface="Cambria" pitchFamily="34" charset="-122"/>
                <a:cs typeface="Cambria" pitchFamily="34" charset="-120"/>
              </a:rPr>
              <a:t>t</a:t>
            </a:r>
            <a:pPr indent="0" marL="0">
              <a:spcAft>
                <a:spcPts val="300"/>
              </a:spcAft>
              <a:buNone/>
            </a:pPr>
            <a:r>
              <a:rPr lang="en-US" sz="1500" dirty="0">
                <a:solidFill>
                  <a:schemeClr val="tx1"/>
                </a:solidFill>
                <a:latin typeface="Cambria" pitchFamily="34" charset="0"/>
                <a:ea typeface="Cambria" pitchFamily="34" charset="-122"/>
                <a:cs typeface="Cambria" pitchFamily="34" charset="-120"/>
              </a:rPr>
              <a:t>||²</a:t>
            </a:r>
            <a:endParaRPr lang="en-US" sz="1500" dirty="0"/>
          </a:p>
        </p:txBody>
      </p:sp>
      <p:sp>
        <p:nvSpPr>
          <p:cNvPr id="14" name="card-50"/>
          <p:cNvSpPr/>
          <p:nvPr/>
        </p:nvSpPr>
        <p:spPr>
          <a:xfrm>
            <a:off x="6446520" y="2743200"/>
            <a:ext cx="5196535" cy="960120"/>
          </a:xfrm>
          <a:prstGeom prst="roundRect">
            <a:avLst>
              <a:gd name="adj" fmla="val 11429"/>
            </a:avLst>
          </a:prstGeom>
          <a:solidFill>
            <a:schemeClr val="bg2"/>
          </a:solidFill>
          <a:ln w="12700">
            <a:solidFill>
              <a:schemeClr val="bg2"/>
            </a:solidFill>
            <a:prstDash val="solid"/>
          </a:ln>
        </p:spPr>
      </p:sp>
      <p:sp>
        <p:nvSpPr>
          <p:cNvPr id="15" name="text-51"/>
          <p:cNvSpPr txBox="1"/>
          <p:nvPr/>
        </p:nvSpPr>
        <p:spPr>
          <a:xfrm>
            <a:off x="6720840" y="2743200"/>
            <a:ext cx="4647895" cy="960120"/>
          </a:xfrm>
          <a:prstGeom prst="rect">
            <a:avLst/>
          </a:prstGeom>
          <a:noFill/>
          <a:ln/>
        </p:spPr>
        <p:txBody>
          <a:bodyPr wrap="square" lIns="0" tIns="0" rIns="0" bIns="0" rtlCol="0" anchor="ctr"/>
          <a:lstStyle/>
          <a:p>
            <a:pPr indent="0" marL="0">
              <a:spcAft>
                <a:spcPts val="300"/>
              </a:spcAft>
              <a:buNone/>
            </a:pPr>
            <a:r>
              <a:rPr lang="en-US" sz="1800" b="1" dirty="0">
                <a:solidFill>
                  <a:schemeClr val="accent6"/>
                </a:solidFill>
              </a:rPr>
              <a:t>New-direction demand = 1 − overlap</a:t>
            </a:r>
            <a:endParaRPr lang="en-US" sz="1500" dirty="0"/>
          </a:p>
          <a:p>
            <a:pPr indent="0" marL="0">
              <a:spcAft>
                <a:spcPts val="300"/>
              </a:spcAft>
              <a:buNone/>
            </a:pPr>
            <a:r>
              <a:rPr lang="en-US" sz="1500" dirty="0">
                <a:solidFill>
                  <a:schemeClr val="tx1"/>
                </a:solidFill>
              </a:rPr>
              <a:t>the share of the newcomer that is genuinely new</a:t>
            </a:r>
            <a:endParaRPr lang="en-US" sz="1500" dirty="0"/>
          </a:p>
        </p:txBody>
      </p:sp>
      <p:sp>
        <p:nvSpPr>
          <p:cNvPr id="16" name="card-52"/>
          <p:cNvSpPr/>
          <p:nvPr/>
        </p:nvSpPr>
        <p:spPr>
          <a:xfrm>
            <a:off x="6446520" y="3840480"/>
            <a:ext cx="5196535" cy="1188720"/>
          </a:xfrm>
          <a:prstGeom prst="roundRect">
            <a:avLst>
              <a:gd name="adj" fmla="val 9231"/>
            </a:avLst>
          </a:prstGeom>
          <a:solidFill>
            <a:schemeClr val="bg2"/>
          </a:solidFill>
          <a:ln w="12700">
            <a:solidFill>
              <a:schemeClr val="bg2"/>
            </a:solidFill>
            <a:prstDash val="solid"/>
          </a:ln>
        </p:spPr>
      </p:sp>
      <p:sp>
        <p:nvSpPr>
          <p:cNvPr id="17" name="text-53"/>
          <p:cNvSpPr txBox="1"/>
          <p:nvPr/>
        </p:nvSpPr>
        <p:spPr>
          <a:xfrm>
            <a:off x="6720840" y="3840480"/>
            <a:ext cx="4647895" cy="1188720"/>
          </a:xfrm>
          <a:prstGeom prst="rect">
            <a:avLst/>
          </a:prstGeom>
          <a:noFill/>
          <a:ln/>
        </p:spPr>
        <p:txBody>
          <a:bodyPr wrap="square" lIns="0" tIns="0" rIns="0" bIns="0" rtlCol="0" anchor="ctr"/>
          <a:lstStyle/>
          <a:p>
            <a:pPr indent="0" marL="0">
              <a:spcAft>
                <a:spcPts val="300"/>
              </a:spcAft>
              <a:buNone/>
            </a:pPr>
            <a:r>
              <a:rPr lang="en-US" sz="1800" b="1" dirty="0">
                <a:solidFill>
                  <a:schemeClr val="tx1"/>
                </a:solidFill>
              </a:rPr>
              <a:t>k</a:t>
            </a:r>
            <a:pPr indent="0" marL="0">
              <a:spcAft>
                <a:spcPts val="300"/>
              </a:spcAft>
              <a:buNone/>
            </a:pPr>
            <a:r>
              <a:rPr lang="en-US" sz="1800" b="1" baseline="-40000" dirty="0">
                <a:solidFill>
                  <a:schemeClr val="tx1"/>
                </a:solidFill>
              </a:rPr>
              <a:t>new</a:t>
            </a:r>
            <a:pPr indent="0" marL="0">
              <a:spcAft>
                <a:spcPts val="300"/>
              </a:spcAft>
              <a:buNone/>
            </a:pPr>
            <a:r>
              <a:rPr lang="en-US" sz="1800" b="1" dirty="0">
                <a:solidFill>
                  <a:schemeClr val="tx1"/>
                </a:solidFill>
              </a:rPr>
              <a:t> vs k</a:t>
            </a:r>
            <a:pPr indent="0" marL="0">
              <a:spcAft>
                <a:spcPts val="300"/>
              </a:spcAft>
              <a:buNone/>
            </a:pPr>
            <a:r>
              <a:rPr lang="en-US" sz="1800" b="1" baseline="-40000" dirty="0">
                <a:solidFill>
                  <a:schemeClr val="tx1"/>
                </a:solidFill>
              </a:rPr>
              <a:t>self</a:t>
            </a:r>
            <a:endParaRPr lang="en-US" sz="1500" dirty="0"/>
          </a:p>
          <a:p>
            <a:pPr indent="0" marL="0">
              <a:spcAft>
                <a:spcPts val="300"/>
              </a:spcAft>
              <a:buNone/>
            </a:pPr>
            <a:r>
              <a:rPr lang="en-US" sz="1500" dirty="0">
                <a:solidFill>
                  <a:schemeClr val="tx1"/>
                </a:solidFill>
              </a:rPr>
              <a:t>new directions the slot would need to cover 90% of the newcomer, against the directions the newcomer needs on its own</a:t>
            </a:r>
            <a:endParaRPr lang="en-US" sz="1500" dirty="0"/>
          </a:p>
        </p:txBody>
      </p:sp>
      <p:sp>
        <p:nvSpPr>
          <p:cNvPr id="18" name="outline-54"/>
          <p:cNvSpPr/>
          <p:nvPr/>
        </p:nvSpPr>
        <p:spPr>
          <a:xfrm>
            <a:off x="6446520" y="5166360"/>
            <a:ext cx="5196535" cy="731520"/>
          </a:xfrm>
          <a:prstGeom prst="roundRect">
            <a:avLst>
              <a:gd name="adj" fmla="val 15000"/>
            </a:avLst>
          </a:prstGeom>
          <a:solidFill>
            <a:schemeClr val="bg1"/>
          </a:solidFill>
          <a:ln w="15875">
            <a:solidFill>
              <a:schemeClr val="accent6"/>
            </a:solidFill>
            <a:prstDash val="solid"/>
          </a:ln>
        </p:spPr>
      </p:sp>
      <p:sp>
        <p:nvSpPr>
          <p:cNvPr id="19" name="text-55"/>
          <p:cNvSpPr txBox="1"/>
          <p:nvPr/>
        </p:nvSpPr>
        <p:spPr>
          <a:xfrm>
            <a:off x="6675120" y="5166360"/>
            <a:ext cx="4739335" cy="731520"/>
          </a:xfrm>
          <a:prstGeom prst="rect">
            <a:avLst/>
          </a:prstGeom>
          <a:noFill/>
          <a:ln/>
        </p:spPr>
        <p:txBody>
          <a:bodyPr wrap="square" lIns="0" tIns="0" rIns="0" bIns="0" rtlCol="0" anchor="ctr"/>
          <a:lstStyle/>
          <a:p>
            <a:pPr indent="0" marL="0">
              <a:buNone/>
            </a:pPr>
            <a:r>
              <a:rPr lang="en-US" sz="1400" b="1" dirty="0">
                <a:solidFill>
                  <a:schemeClr val="tx1"/>
                </a:solidFill>
              </a:rPr>
              <a:t>Real example: </a:t>
            </a:r>
            <a:pPr indent="0" marL="0">
              <a:buNone/>
            </a:pPr>
            <a:r>
              <a:rPr lang="en-US" sz="1400" dirty="0">
                <a:solidFill>
                  <a:schemeClr val="tx1"/>
                </a:solidFill>
              </a:rPr>
              <a:t>Italian grammar joining an 11-task slot: overlap 8%, new 92%; K-Merge's damage 41%.</a:t>
            </a:r>
            <a:endParaRPr lang="en-US" sz="1400" dirty="0"/>
          </a:p>
        </p:txBody>
      </p:sp>
      <p:sp>
        <p:nvSpPr>
          <p:cNvPr id="20" name="text-56"/>
          <p:cNvSpPr txBox="1"/>
          <p:nvPr/>
        </p:nvSpPr>
        <p:spPr>
          <a:xfrm>
            <a:off x="548640" y="6035040"/>
            <a:ext cx="11094415" cy="320040"/>
          </a:xfrm>
          <a:prstGeom prst="rect">
            <a:avLst/>
          </a:prstGeom>
          <a:noFill/>
          <a:ln/>
        </p:spPr>
        <p:txBody>
          <a:bodyPr wrap="square" lIns="0" tIns="0" rIns="0" bIns="0" rtlCol="0" anchor="t"/>
          <a:lstStyle/>
          <a:p>
            <a:pPr indent="0" marL="0">
              <a:buNone/>
            </a:pPr>
            <a:r>
              <a:rPr lang="en-US" sz="1200" i="1" dirty="0">
                <a:solidFill>
                  <a:schemeClr val="tx1"/>
                </a:solidFill>
              </a:rPr>
              <a:t>U</a:t>
            </a:r>
            <a:pPr indent="0" marL="0">
              <a:buNone/>
            </a:pPr>
            <a:r>
              <a:rPr lang="en-US" sz="1200" i="1" baseline="-40000" dirty="0">
                <a:solidFill>
                  <a:schemeClr val="tx1"/>
                </a:solidFill>
              </a:rPr>
              <a:t>k</a:t>
            </a:r>
            <a:pPr indent="0" marL="0">
              <a:buNone/>
            </a:pPr>
            <a:r>
              <a:rPr lang="en-US" sz="1200" i="1" dirty="0">
                <a:solidFill>
                  <a:schemeClr val="tx1"/>
                </a:solidFill>
              </a:rPr>
              <a:t>, V</a:t>
            </a:r>
            <a:pPr indent="0" marL="0">
              <a:buNone/>
            </a:pPr>
            <a:r>
              <a:rPr lang="en-US" sz="1200" i="1" baseline="-40000" dirty="0">
                <a:solidFill>
                  <a:schemeClr val="tx1"/>
                </a:solidFill>
              </a:rPr>
              <a:t>k</a:t>
            </a:r>
            <a:pPr indent="0" marL="0">
              <a:buNone/>
            </a:pPr>
            <a:r>
              <a:rPr lang="en-US" sz="1200" i="1" dirty="0">
                <a:solidFill>
                  <a:schemeClr val="tx1"/>
                </a:solidFill>
              </a:rPr>
              <a:t>: the slot's top output and input directions from its SVD. Pooled over all layers and modules, weighted by energy.</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What we measured, and on what</a:t>
            </a:r>
            <a:endParaRPr lang="en-US" sz="3000" dirty="0"/>
          </a:p>
        </p:txBody>
      </p:sp>
      <p:graphicFrame>
        <p:nvGraphicFramePr>
          <p:cNvPr id="6" name="testbeds"/>
          <p:cNvGraphicFramePr>
            <a:graphicFrameLocks noGrp="1"/>
          </p:cNvGraphicFramePr>
          <p:nvPr>
            <p:extLst>
              <p:ext uri="{D42A27DB-BD31-4B8C-83A1-F6EECF244321}">
                <p14:modId xmlns:p14="http://schemas.microsoft.com/office/powerpoint/2010/main" val="1579011935"/>
              </p:ext>
            </p:extLst>
          </p:nvPr>
        </p:nvGraphicFramePr>
        <p:xfrm>
          <a:off x="548640" y="1188720"/>
          <a:ext cx="11094415" cy="914400"/>
        </p:xfrm>
        <a:graphic>
          <a:graphicData uri="http://schemas.openxmlformats.org/drawingml/2006/table">
            <a:tbl>
              <a:tblPr/>
              <a:tblGrid>
                <a:gridCol w="2743200"/>
                <a:gridCol w="2697480"/>
                <a:gridCol w="1783080"/>
                <a:gridCol w="2331720"/>
                <a:gridCol w="1538935"/>
              </a:tblGrid>
              <a:tr h="38404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Test bed</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B263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Model and LoRA</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B263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Adapters</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B263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Cases measured</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B263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Damage</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B263B"/>
                    </a:solidFill>
                  </a:tcPr>
                </a:tc>
              </a:tr>
              <a:tr h="713232">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0.5B lab: synthetic grammar correction, EN DE FR HI</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Qwen2.5-0.5B, rank 8, q and v, 24 layers</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12 (4 languages × 3 seeds)</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36 in pairs + 27 in 3-task slots</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rowSpan="3">
                  <a:txBody>
                    <a:bodyPr/>
                    <a:lstStyle/>
                    <a:p>
                      <a:pPr indent="0" marL="0">
                        <a:buNone/>
                      </a:pPr>
                      <a:r>
                        <a:rPr lang="en-US" sz="1400" dirty="0">
                          <a:solidFill>
                            <a:srgbClr val="1B263B"/>
                          </a:solidFill>
                          <a:latin typeface="Calibri" pitchFamily="34" charset="0"/>
                          <a:ea typeface="Calibri" pitchFamily="34" charset="-122"/>
                          <a:cs typeface="Calibri" pitchFamily="34" charset="-120"/>
                        </a:rPr>
                        <a:t>1 − score ÷ own adapter's score</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1.5B lab: same task</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Qwen2.5-1.5B, rank 8, q and v, 28 layers</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12</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36 in pairs + 24 in 3-task slots</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vMerge="1">
                  <a:tcPr/>
                </a:tc>
              </a:tr>
              <a:tr h="713232">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Real benchmark: grammar, summaries, QA × EN DE ES IT</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Qwen2.5-1.5B, rank 32, q k v o, 28 layers</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24 (12 tasks × 2 seeds)</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86 in K-Merge's slots + 12 in the one-slot stress test</a:t>
                      </a:r>
                      <a:endParaRPr lang="en-US" sz="1400" dirty="0">
                        <a:latin typeface="Calibri" charset="0"/>
                        <a:ea typeface="Calibri" charset="0"/>
                        <a:cs typeface="Calibri" charset="0"/>
                      </a:endParaRPr>
                    </a:p>
                  </a:txBody>
                  <a:tcPr marL="73152" marR="73152" marT="73152" marB="73152"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vMerge="1">
                  <a:tcPr/>
                </a:tc>
              </a:tr>
            </a:tbl>
          </a:graphicData>
        </a:graphic>
      </p:graphicFrame>
      <p:sp>
        <p:nvSpPr>
          <p:cNvPr id="4" name="text-57"/>
          <p:cNvSpPr txBox="1"/>
          <p:nvPr/>
        </p:nvSpPr>
        <p:spPr>
          <a:xfrm>
            <a:off x="548640" y="3657600"/>
            <a:ext cx="11094415" cy="320040"/>
          </a:xfrm>
          <a:prstGeom prst="rect">
            <a:avLst/>
          </a:prstGeom>
          <a:noFill/>
          <a:ln/>
        </p:spPr>
        <p:txBody>
          <a:bodyPr wrap="square" lIns="0" tIns="0" rIns="0" bIns="0" rtlCol="0" anchor="t"/>
          <a:lstStyle/>
          <a:p>
            <a:pPr indent="0" marL="0">
              <a:buNone/>
            </a:pPr>
            <a:r>
              <a:rPr lang="en-US" sz="1500" b="1" dirty="0">
                <a:solidFill>
                  <a:schemeClr val="tx1"/>
                </a:solidFill>
              </a:rPr>
              <a:t>Total: 48 adapters, 221 cases where K-Merge put a task into a shared slot and we know how much it lost.</a:t>
            </a:r>
            <a:endParaRPr lang="en-US" sz="1500" dirty="0"/>
          </a:p>
        </p:txBody>
      </p:sp>
      <p:sp>
        <p:nvSpPr>
          <p:cNvPr id="5" name="card-58"/>
          <p:cNvSpPr/>
          <p:nvPr/>
        </p:nvSpPr>
        <p:spPr>
          <a:xfrm>
            <a:off x="548640" y="4114800"/>
            <a:ext cx="2602154" cy="1645920"/>
          </a:xfrm>
          <a:prstGeom prst="roundRect">
            <a:avLst>
              <a:gd name="adj" fmla="val 6667"/>
            </a:avLst>
          </a:prstGeom>
          <a:solidFill>
            <a:schemeClr val="bg2"/>
          </a:solidFill>
          <a:ln w="12700">
            <a:solidFill>
              <a:schemeClr val="bg2"/>
            </a:solidFill>
            <a:prstDash val="solid"/>
          </a:ln>
        </p:spPr>
      </p:sp>
      <p:sp>
        <p:nvSpPr>
          <p:cNvPr id="6" name="num-59"/>
          <p:cNvSpPr/>
          <p:nvPr/>
        </p:nvSpPr>
        <p:spPr>
          <a:xfrm>
            <a:off x="749808" y="4279392"/>
            <a:ext cx="457200" cy="457200"/>
          </a:xfrm>
          <a:prstGeom prst="ellipse">
            <a:avLst/>
          </a:prstGeom>
          <a:solidFill>
            <a:schemeClr val="accent1"/>
          </a:solidFill>
          <a:ln w="12700">
            <a:solidFill>
              <a:schemeClr val="accent1"/>
            </a:solidFill>
            <a:prstDash val="solid"/>
          </a:ln>
        </p:spPr>
      </p:sp>
      <p:sp>
        <p:nvSpPr>
          <p:cNvPr id="7" name="num-t-60"/>
          <p:cNvSpPr txBox="1"/>
          <p:nvPr/>
        </p:nvSpPr>
        <p:spPr>
          <a:xfrm>
            <a:off x="749808" y="4279392"/>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1</a:t>
            </a:r>
            <a:endParaRPr lang="en-US" sz="1800" dirty="0"/>
          </a:p>
        </p:txBody>
      </p:sp>
      <p:sp>
        <p:nvSpPr>
          <p:cNvPr id="8" name="text-61"/>
          <p:cNvSpPr txBox="1"/>
          <p:nvPr/>
        </p:nvSpPr>
        <p:spPr>
          <a:xfrm>
            <a:off x="749808" y="4828032"/>
            <a:ext cx="2236394" cy="868680"/>
          </a:xfrm>
          <a:prstGeom prst="rect">
            <a:avLst/>
          </a:prstGeom>
          <a:noFill/>
          <a:ln/>
        </p:spPr>
        <p:txBody>
          <a:bodyPr wrap="square" lIns="0" tIns="0" rIns="0" bIns="0" rtlCol="0" anchor="t"/>
          <a:lstStyle/>
          <a:p>
            <a:pPr indent="0" marL="0">
              <a:buNone/>
            </a:pPr>
            <a:r>
              <a:rPr lang="en-US" sz="1400" dirty="0">
                <a:solidFill>
                  <a:schemeClr val="tx1"/>
                </a:solidFill>
              </a:rPr>
              <a:t>Rebuild each slot as Eq. 8 stores it: the equal average of the other tasks' A and B</a:t>
            </a:r>
            <a:endParaRPr lang="en-US" sz="1400" dirty="0"/>
          </a:p>
        </p:txBody>
      </p:sp>
      <p:sp>
        <p:nvSpPr>
          <p:cNvPr id="9" name="card-62"/>
          <p:cNvSpPr/>
          <p:nvPr/>
        </p:nvSpPr>
        <p:spPr>
          <a:xfrm>
            <a:off x="3379394" y="4114800"/>
            <a:ext cx="2602154" cy="1645920"/>
          </a:xfrm>
          <a:prstGeom prst="roundRect">
            <a:avLst>
              <a:gd name="adj" fmla="val 6667"/>
            </a:avLst>
          </a:prstGeom>
          <a:solidFill>
            <a:schemeClr val="bg2"/>
          </a:solidFill>
          <a:ln w="12700">
            <a:solidFill>
              <a:schemeClr val="bg2"/>
            </a:solidFill>
            <a:prstDash val="solid"/>
          </a:ln>
        </p:spPr>
      </p:sp>
      <p:sp>
        <p:nvSpPr>
          <p:cNvPr id="10" name="num-63"/>
          <p:cNvSpPr/>
          <p:nvPr/>
        </p:nvSpPr>
        <p:spPr>
          <a:xfrm>
            <a:off x="3580562" y="4279392"/>
            <a:ext cx="457200" cy="457200"/>
          </a:xfrm>
          <a:prstGeom prst="ellipse">
            <a:avLst/>
          </a:prstGeom>
          <a:solidFill>
            <a:schemeClr val="accent1"/>
          </a:solidFill>
          <a:ln w="12700">
            <a:solidFill>
              <a:schemeClr val="accent1"/>
            </a:solidFill>
            <a:prstDash val="solid"/>
          </a:ln>
        </p:spPr>
      </p:sp>
      <p:sp>
        <p:nvSpPr>
          <p:cNvPr id="11" name="num-t-64"/>
          <p:cNvSpPr txBox="1"/>
          <p:nvPr/>
        </p:nvSpPr>
        <p:spPr>
          <a:xfrm>
            <a:off x="3580562" y="4279392"/>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2</a:t>
            </a:r>
            <a:endParaRPr lang="en-US" sz="1800" dirty="0"/>
          </a:p>
        </p:txBody>
      </p:sp>
      <p:sp>
        <p:nvSpPr>
          <p:cNvPr id="12" name="text-65"/>
          <p:cNvSpPr txBox="1"/>
          <p:nvPr/>
        </p:nvSpPr>
        <p:spPr>
          <a:xfrm>
            <a:off x="3580562" y="4828032"/>
            <a:ext cx="2236394" cy="868680"/>
          </a:xfrm>
          <a:prstGeom prst="rect">
            <a:avLst/>
          </a:prstGeom>
          <a:noFill/>
          <a:ln/>
        </p:spPr>
        <p:txBody>
          <a:bodyPr wrap="square" lIns="0" tIns="0" rIns="0" bIns="0" rtlCol="0" anchor="t"/>
          <a:lstStyle/>
          <a:p>
            <a:pPr indent="0" marL="0">
              <a:buNone/>
            </a:pPr>
            <a:r>
              <a:rPr lang="en-US" sz="1400" dirty="0">
                <a:solidFill>
                  <a:schemeClr val="tx1"/>
                </a:solidFill>
              </a:rPr>
              <a:t>SVD of the slot; keep its top directions holding 90% of its energy</a:t>
            </a:r>
            <a:endParaRPr lang="en-US" sz="1400" dirty="0"/>
          </a:p>
        </p:txBody>
      </p:sp>
      <p:sp>
        <p:nvSpPr>
          <p:cNvPr id="13" name="card-66"/>
          <p:cNvSpPr/>
          <p:nvPr/>
        </p:nvSpPr>
        <p:spPr>
          <a:xfrm>
            <a:off x="6210148" y="4114800"/>
            <a:ext cx="2602154" cy="1645920"/>
          </a:xfrm>
          <a:prstGeom prst="roundRect">
            <a:avLst>
              <a:gd name="adj" fmla="val 6667"/>
            </a:avLst>
          </a:prstGeom>
          <a:solidFill>
            <a:schemeClr val="bg2"/>
          </a:solidFill>
          <a:ln w="12700">
            <a:solidFill>
              <a:schemeClr val="bg2"/>
            </a:solidFill>
            <a:prstDash val="solid"/>
          </a:ln>
        </p:spPr>
      </p:sp>
      <p:sp>
        <p:nvSpPr>
          <p:cNvPr id="14" name="num-67"/>
          <p:cNvSpPr/>
          <p:nvPr/>
        </p:nvSpPr>
        <p:spPr>
          <a:xfrm>
            <a:off x="6411316" y="4279392"/>
            <a:ext cx="457200" cy="457200"/>
          </a:xfrm>
          <a:prstGeom prst="ellipse">
            <a:avLst/>
          </a:prstGeom>
          <a:solidFill>
            <a:schemeClr val="accent1"/>
          </a:solidFill>
          <a:ln w="12700">
            <a:solidFill>
              <a:schemeClr val="accent1"/>
            </a:solidFill>
            <a:prstDash val="solid"/>
          </a:ln>
        </p:spPr>
      </p:sp>
      <p:sp>
        <p:nvSpPr>
          <p:cNvPr id="15" name="num-t-68"/>
          <p:cNvSpPr txBox="1"/>
          <p:nvPr/>
        </p:nvSpPr>
        <p:spPr>
          <a:xfrm>
            <a:off x="6411316" y="4279392"/>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3</a:t>
            </a:r>
            <a:endParaRPr lang="en-US" sz="1800" dirty="0"/>
          </a:p>
        </p:txBody>
      </p:sp>
      <p:sp>
        <p:nvSpPr>
          <p:cNvPr id="16" name="text-69"/>
          <p:cNvSpPr txBox="1"/>
          <p:nvPr/>
        </p:nvSpPr>
        <p:spPr>
          <a:xfrm>
            <a:off x="6411316" y="4828032"/>
            <a:ext cx="2236394" cy="868680"/>
          </a:xfrm>
          <a:prstGeom prst="rect">
            <a:avLst/>
          </a:prstGeom>
          <a:noFill/>
          <a:ln/>
        </p:spPr>
        <p:txBody>
          <a:bodyPr wrap="square" lIns="0" tIns="0" rIns="0" bIns="0" rtlCol="0" anchor="t"/>
          <a:lstStyle/>
          <a:p>
            <a:pPr indent="0" marL="0">
              <a:buNone/>
            </a:pPr>
            <a:r>
              <a:rPr lang="en-US" sz="1400" dirty="0">
                <a:solidFill>
                  <a:schemeClr val="tx1"/>
                </a:solidFill>
              </a:rPr>
              <a:t>Project the newcomer on both sides; pool over all layers and modules by energy</a:t>
            </a:r>
            <a:endParaRPr lang="en-US" sz="1400" dirty="0"/>
          </a:p>
        </p:txBody>
      </p:sp>
      <p:sp>
        <p:nvSpPr>
          <p:cNvPr id="17" name="card-70"/>
          <p:cNvSpPr/>
          <p:nvPr/>
        </p:nvSpPr>
        <p:spPr>
          <a:xfrm>
            <a:off x="9040901" y="4114800"/>
            <a:ext cx="2602154" cy="1645920"/>
          </a:xfrm>
          <a:prstGeom prst="roundRect">
            <a:avLst>
              <a:gd name="adj" fmla="val 6667"/>
            </a:avLst>
          </a:prstGeom>
          <a:solidFill>
            <a:schemeClr val="bg2"/>
          </a:solidFill>
          <a:ln w="12700">
            <a:solidFill>
              <a:schemeClr val="bg2"/>
            </a:solidFill>
            <a:prstDash val="solid"/>
          </a:ln>
        </p:spPr>
      </p:sp>
      <p:sp>
        <p:nvSpPr>
          <p:cNvPr id="18" name="num-71"/>
          <p:cNvSpPr/>
          <p:nvPr/>
        </p:nvSpPr>
        <p:spPr>
          <a:xfrm>
            <a:off x="9242069" y="4279392"/>
            <a:ext cx="457200" cy="457200"/>
          </a:xfrm>
          <a:prstGeom prst="ellipse">
            <a:avLst/>
          </a:prstGeom>
          <a:solidFill>
            <a:schemeClr val="accent1"/>
          </a:solidFill>
          <a:ln w="12700">
            <a:solidFill>
              <a:schemeClr val="accent1"/>
            </a:solidFill>
            <a:prstDash val="solid"/>
          </a:ln>
        </p:spPr>
      </p:sp>
      <p:sp>
        <p:nvSpPr>
          <p:cNvPr id="19" name="num-t-72"/>
          <p:cNvSpPr txBox="1"/>
          <p:nvPr/>
        </p:nvSpPr>
        <p:spPr>
          <a:xfrm>
            <a:off x="9242069" y="4279392"/>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4</a:t>
            </a:r>
            <a:endParaRPr lang="en-US" sz="1800" dirty="0"/>
          </a:p>
        </p:txBody>
      </p:sp>
      <p:sp>
        <p:nvSpPr>
          <p:cNvPr id="20" name="text-73"/>
          <p:cNvSpPr txBox="1"/>
          <p:nvPr/>
        </p:nvSpPr>
        <p:spPr>
          <a:xfrm>
            <a:off x="9242069" y="4828032"/>
            <a:ext cx="2236394" cy="868680"/>
          </a:xfrm>
          <a:prstGeom prst="rect">
            <a:avLst/>
          </a:prstGeom>
          <a:noFill/>
          <a:ln/>
        </p:spPr>
        <p:txBody>
          <a:bodyPr wrap="square" lIns="0" tIns="0" rIns="0" bIns="0" rtlCol="0" anchor="t"/>
          <a:lstStyle/>
          <a:p>
            <a:pPr indent="0" marL="0">
              <a:buNone/>
            </a:pPr>
            <a:r>
              <a:rPr lang="en-US" sz="1400" dirty="0">
                <a:solidFill>
                  <a:schemeClr val="tx1"/>
                </a:solidFill>
              </a:rPr>
              <a:t>Spearman ρ with the damage K-Merge caused; cluster bootstrap with 1,000 draws</a:t>
            </a:r>
            <a:endParaRPr lang="en-US" sz="1400" dirty="0"/>
          </a:p>
        </p:txBody>
      </p:sp>
      <p:sp>
        <p:nvSpPr>
          <p:cNvPr id="21" name="text-74"/>
          <p:cNvSpPr txBox="1"/>
          <p:nvPr/>
        </p:nvSpPr>
        <p:spPr>
          <a:xfrm>
            <a:off x="548640" y="5897880"/>
            <a:ext cx="11094415" cy="365760"/>
          </a:xfrm>
          <a:prstGeom prst="rect">
            <a:avLst/>
          </a:prstGeom>
          <a:noFill/>
          <a:ln/>
        </p:spPr>
        <p:txBody>
          <a:bodyPr wrap="square" lIns="0" tIns="0" rIns="0" bIns="0" rtlCol="0" anchor="t"/>
          <a:lstStyle/>
          <a:p>
            <a:pPr indent="0" marL="0">
              <a:buNone/>
            </a:pPr>
            <a:r>
              <a:rPr lang="en-US" sz="1200" i="1" dirty="0">
                <a:solidFill>
                  <a:schemeClr val="tx1"/>
                </a:solidFill>
              </a:rPr>
              <a:t>All on CPU from the saved Phase 3 adapters and result tables (Kaggle notebooks: merge lab v4–v5, real benchmark v8). No new training and no GPU time.</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Result 1: about 90% of every adapter is new</a:t>
            </a:r>
            <a:endParaRPr lang="en-US" sz="3000" dirty="0"/>
          </a:p>
        </p:txBody>
      </p:sp>
      <p:graphicFrame>
        <p:nvGraphicFramePr>
          <p:cNvPr id="3" name="Chart 0" descr=""/>
          <p:cNvGraphicFramePr/>
          <p:nvPr/>
        </p:nvGraphicFramePr>
        <p:xfrm>
          <a:off x="548640" y="1188720"/>
          <a:ext cx="6583680" cy="4572000"/>
        </p:xfrm>
        <a:graphic xmlns:a="http://schemas.openxmlformats.org/drawingml/2006/main">
          <a:graphicData uri="http://schemas.openxmlformats.org/drawingml/2006/chart">
            <c:chart xmlns:c="http://schemas.openxmlformats.org/drawingml/2006/chart" r:id="rId1"/>
          </a:graphicData>
        </a:graphic>
      </p:graphicFrame>
      <p:sp>
        <p:nvSpPr>
          <p:cNvPr id="4" name="card-75"/>
          <p:cNvSpPr/>
          <p:nvPr/>
        </p:nvSpPr>
        <p:spPr>
          <a:xfrm>
            <a:off x="7360920" y="1234440"/>
            <a:ext cx="4282135" cy="2011680"/>
          </a:xfrm>
          <a:prstGeom prst="roundRect">
            <a:avLst>
              <a:gd name="adj" fmla="val 5455"/>
            </a:avLst>
          </a:prstGeom>
          <a:solidFill>
            <a:schemeClr val="bg2"/>
          </a:solidFill>
          <a:ln w="12700">
            <a:solidFill>
              <a:schemeClr val="bg2"/>
            </a:solidFill>
            <a:prstDash val="solid"/>
          </a:ln>
        </p:spPr>
      </p:sp>
      <p:sp>
        <p:nvSpPr>
          <p:cNvPr id="5" name="text-76"/>
          <p:cNvSpPr txBox="1"/>
          <p:nvPr/>
        </p:nvSpPr>
        <p:spPr>
          <a:xfrm>
            <a:off x="7589520" y="1325880"/>
            <a:ext cx="3824935" cy="50292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k</a:t>
            </a:r>
            <a:pPr indent="0" marL="0">
              <a:buNone/>
            </a:pPr>
            <a:r>
              <a:rPr lang="en-US" sz="2600" b="1" baseline="-40000" dirty="0">
                <a:solidFill>
                  <a:schemeClr val="accent1"/>
                </a:solidFill>
                <a:latin typeface="Cambria" pitchFamily="34" charset="0"/>
                <a:ea typeface="Cambria" pitchFamily="34" charset="-122"/>
                <a:cs typeface="Cambria" pitchFamily="34" charset="-120"/>
              </a:rPr>
              <a:t>new</a:t>
            </a:r>
            <a:pPr indent="0" marL="0">
              <a:buNone/>
            </a:pPr>
            <a:r>
              <a:rPr lang="en-US" sz="2600" b="1" dirty="0">
                <a:solidFill>
                  <a:schemeClr val="accent1"/>
                </a:solidFill>
                <a:latin typeface="Cambria" pitchFamily="34" charset="0"/>
                <a:ea typeface="Cambria" pitchFamily="34" charset="-122"/>
                <a:cs typeface="Cambria" pitchFamily="34" charset="-120"/>
              </a:rPr>
              <a:t> ≈ k</a:t>
            </a:r>
            <a:pPr indent="0" marL="0">
              <a:buNone/>
            </a:pPr>
            <a:r>
              <a:rPr lang="en-US" sz="2600" b="1" baseline="-40000" dirty="0">
                <a:solidFill>
                  <a:schemeClr val="accent1"/>
                </a:solidFill>
                <a:latin typeface="Cambria" pitchFamily="34" charset="0"/>
                <a:ea typeface="Cambria" pitchFamily="34" charset="-122"/>
                <a:cs typeface="Cambria" pitchFamily="34" charset="-120"/>
              </a:rPr>
              <a:t>self</a:t>
            </a:r>
            <a:endParaRPr lang="en-US" sz="2600" dirty="0"/>
          </a:p>
        </p:txBody>
      </p:sp>
      <p:sp>
        <p:nvSpPr>
          <p:cNvPr id="6" name="text-77"/>
          <p:cNvSpPr txBox="1"/>
          <p:nvPr/>
        </p:nvSpPr>
        <p:spPr>
          <a:xfrm>
            <a:off x="7589520" y="1828800"/>
            <a:ext cx="3824935" cy="132588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Directions the slot would still need to cover 90% of a newcomer, against what it needs alone:</a:t>
            </a:r>
            <a:endParaRPr lang="en-US" sz="1400" dirty="0"/>
          </a:p>
          <a:p>
            <a:pPr indent="0" marL="0">
              <a:spcAft>
                <a:spcPts val="400"/>
              </a:spcAft>
              <a:buNone/>
            </a:pPr>
            <a:r>
              <a:rPr lang="en-US" sz="1400" b="1" dirty="0">
                <a:solidFill>
                  <a:schemeClr val="tx1"/>
                </a:solidFill>
              </a:rPr>
              <a:t>real 17.5 vs 17.1 of 32  ·  lab 4.4–4.6 vs 4.3–4.5 of 8</a:t>
            </a:r>
            <a:endParaRPr lang="en-US" sz="1400" dirty="0"/>
          </a:p>
          <a:p>
            <a:pPr indent="0" marL="0">
              <a:spcAft>
                <a:spcPts val="400"/>
              </a:spcAft>
              <a:buNone/>
            </a:pPr>
            <a:r>
              <a:rPr lang="en-US" sz="1400" dirty="0">
                <a:solidFill>
                  <a:schemeClr val="tx1"/>
                </a:solidFill>
              </a:rPr>
              <a:t>The slot's directions save almost no room.</a:t>
            </a:r>
            <a:endParaRPr lang="en-US" sz="1400" dirty="0"/>
          </a:p>
        </p:txBody>
      </p:sp>
      <p:sp>
        <p:nvSpPr>
          <p:cNvPr id="7" name="card-78"/>
          <p:cNvSpPr/>
          <p:nvPr/>
        </p:nvSpPr>
        <p:spPr>
          <a:xfrm>
            <a:off x="7360920" y="3383280"/>
            <a:ext cx="4282135" cy="2377440"/>
          </a:xfrm>
          <a:prstGeom prst="roundRect">
            <a:avLst>
              <a:gd name="adj" fmla="val 4615"/>
            </a:avLst>
          </a:prstGeom>
          <a:solidFill>
            <a:schemeClr val="bg2"/>
          </a:solidFill>
          <a:ln w="12700">
            <a:solidFill>
              <a:schemeClr val="bg2"/>
            </a:solidFill>
            <a:prstDash val="solid"/>
          </a:ln>
        </p:spPr>
      </p:sp>
      <p:sp>
        <p:nvSpPr>
          <p:cNvPr id="8" name="text-79"/>
          <p:cNvSpPr txBox="1"/>
          <p:nvPr/>
        </p:nvSpPr>
        <p:spPr>
          <a:xfrm>
            <a:off x="7589520" y="3474720"/>
            <a:ext cx="3824935" cy="36576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Three real arrivals</a:t>
            </a:r>
            <a:endParaRPr lang="en-US" sz="1600" dirty="0"/>
          </a:p>
        </p:txBody>
      </p:sp>
      <p:graphicFrame>
        <p:nvGraphicFramePr>
          <p:cNvPr id="7" name="arrivals"/>
          <p:cNvGraphicFramePr>
            <a:graphicFrameLocks noGrp="1"/>
          </p:cNvGraphicFramePr>
          <p:nvPr>
            <p:extLst>
              <p:ext uri="{D42A27DB-BD31-4B8C-83A1-F6EECF244321}">
                <p14:modId xmlns:p14="http://schemas.microsoft.com/office/powerpoint/2010/main" val="1579011935"/>
              </p:ext>
            </p:extLst>
          </p:nvPr>
        </p:nvGraphicFramePr>
        <p:xfrm>
          <a:off x="7543800" y="3886200"/>
          <a:ext cx="3916375" cy="914400"/>
        </p:xfrm>
        <a:graphic>
          <a:graphicData uri="http://schemas.openxmlformats.org/drawingml/2006/table">
            <a:tbl>
              <a:tblPr/>
              <a:tblGrid>
                <a:gridCol w="1874520"/>
                <a:gridCol w="777240"/>
                <a:gridCol w="1264615"/>
              </a:tblGrid>
              <a:tr h="42062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Arrival</a:t>
                      </a:r>
                      <a:endParaRPr lang="en-US" sz="12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B263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Overlap</a:t>
                      </a:r>
                      <a:endParaRPr lang="en-US" sz="12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B263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K-Merge damage</a:t>
                      </a:r>
                      <a:endParaRPr lang="en-US" sz="12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B263B"/>
                    </a:solidFill>
                  </a:tcPr>
                </a:tc>
              </a:tr>
              <a:tr h="457200">
                <a:tc>
                  <a:txBody>
                    <a:bodyPr/>
                    <a:lstStyle/>
                    <a:p>
                      <a:pPr indent="0" marL="0">
                        <a:buNone/>
                      </a:pPr>
                      <a:r>
                        <a:rPr lang="en-US" sz="1200" dirty="0">
                          <a:solidFill>
                            <a:srgbClr val="1B263B"/>
                          </a:solidFill>
                          <a:latin typeface="Calibri" pitchFamily="34" charset="0"/>
                          <a:ea typeface="Calibri" pitchFamily="34" charset="-122"/>
                          <a:cs typeface="Calibri" pitchFamily="34" charset="-120"/>
                        </a:rPr>
                        <a:t>Spanish summary → 3 summaries</a:t>
                      </a:r>
                      <a:endParaRPr lang="en-US" sz="12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63B"/>
                          </a:solidFill>
                          <a:latin typeface="Calibri" pitchFamily="34" charset="0"/>
                          <a:ea typeface="Calibri" pitchFamily="34" charset="-122"/>
                          <a:cs typeface="Calibri" pitchFamily="34" charset="-120"/>
                        </a:rPr>
                        <a:t>19.5%</a:t>
                      </a:r>
                      <a:endParaRPr lang="en-US" sz="13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63B"/>
                          </a:solidFill>
                          <a:latin typeface="Calibri" pitchFamily="34" charset="0"/>
                          <a:ea typeface="Calibri" pitchFamily="34" charset="-122"/>
                          <a:cs typeface="Calibri" pitchFamily="34" charset="-120"/>
                        </a:rPr>
                        <a:t>1.6%</a:t>
                      </a:r>
                      <a:endParaRPr lang="en-US" sz="13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B263B"/>
                          </a:solidFill>
                          <a:latin typeface="Calibri" pitchFamily="34" charset="0"/>
                          <a:ea typeface="Calibri" pitchFamily="34" charset="-122"/>
                          <a:cs typeface="Calibri" pitchFamily="34" charset="-120"/>
                        </a:rPr>
                        <a:t>German QA → 4 QA tasks</a:t>
                      </a:r>
                      <a:endParaRPr lang="en-US" sz="12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63B"/>
                          </a:solidFill>
                          <a:latin typeface="Calibri" pitchFamily="34" charset="0"/>
                          <a:ea typeface="Calibri" pitchFamily="34" charset="-122"/>
                          <a:cs typeface="Calibri" pitchFamily="34" charset="-120"/>
                        </a:rPr>
                        <a:t>12.4%</a:t>
                      </a:r>
                      <a:endParaRPr lang="en-US" sz="13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E7C86"/>
                          </a:solidFill>
                          <a:latin typeface="Calibri" pitchFamily="34" charset="0"/>
                          <a:ea typeface="Calibri" pitchFamily="34" charset="-122"/>
                          <a:cs typeface="Calibri" pitchFamily="34" charset="-120"/>
                        </a:rPr>
                        <a:t>−10.2% (gained)</a:t>
                      </a:r>
                      <a:endParaRPr lang="en-US" sz="13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B263B"/>
                          </a:solidFill>
                          <a:latin typeface="Calibri" pitchFamily="34" charset="0"/>
                          <a:ea typeface="Calibri" pitchFamily="34" charset="-122"/>
                          <a:cs typeface="Calibri" pitchFamily="34" charset="-120"/>
                        </a:rPr>
                        <a:t>Italian grammar → 11 tasks</a:t>
                      </a:r>
                      <a:endParaRPr lang="en-US" sz="12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63B"/>
                          </a:solidFill>
                          <a:latin typeface="Calibri" pitchFamily="34" charset="0"/>
                          <a:ea typeface="Calibri" pitchFamily="34" charset="-122"/>
                          <a:cs typeface="Calibri" pitchFamily="34" charset="-120"/>
                        </a:rPr>
                        <a:t>8.2%</a:t>
                      </a:r>
                      <a:endParaRPr lang="en-US" sz="13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D1495B"/>
                          </a:solidFill>
                          <a:latin typeface="Calibri" pitchFamily="34" charset="0"/>
                          <a:ea typeface="Calibri" pitchFamily="34" charset="-122"/>
                          <a:cs typeface="Calibri" pitchFamily="34" charset="-120"/>
                        </a:rPr>
                        <a:t>41.1%</a:t>
                      </a:r>
                      <a:endParaRPr lang="en-US" sz="13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10" name="text-80"/>
          <p:cNvSpPr txBox="1"/>
          <p:nvPr/>
        </p:nvSpPr>
        <p:spPr>
          <a:xfrm>
            <a:off x="548640" y="5897880"/>
            <a:ext cx="11094415" cy="365760"/>
          </a:xfrm>
          <a:prstGeom prst="rect">
            <a:avLst/>
          </a:prstGeom>
          <a:noFill/>
          <a:ln/>
        </p:spPr>
        <p:txBody>
          <a:bodyPr wrap="square" lIns="0" tIns="0" rIns="0" bIns="0" rtlCol="0" anchor="t"/>
          <a:lstStyle/>
          <a:p>
            <a:pPr indent="0" marL="0">
              <a:buNone/>
            </a:pPr>
            <a:r>
              <a:rPr lang="en-US" sz="1200" i="1" dirty="0">
                <a:solidFill>
                  <a:schemeClr val="tx1"/>
                </a:solidFill>
              </a:rPr>
              <a:t>Overlap pooled over all layers and modules, weighted by energy. The three arrivals were chosen to show the range; the bars are the averages.</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Result 2: task type, not language, decides overlap</a:t>
            </a:r>
            <a:endParaRPr lang="en-US" sz="3000" dirty="0"/>
          </a:p>
        </p:txBody>
      </p:sp>
      <p:sp>
        <p:nvSpPr>
          <p:cNvPr id="3" name="text-81"/>
          <p:cNvSpPr txBox="1"/>
          <p:nvPr/>
        </p:nvSpPr>
        <p:spPr>
          <a:xfrm>
            <a:off x="548640" y="1115568"/>
            <a:ext cx="7040880" cy="292608"/>
          </a:xfrm>
          <a:prstGeom prst="rect">
            <a:avLst/>
          </a:prstGeom>
          <a:noFill/>
          <a:ln/>
        </p:spPr>
        <p:txBody>
          <a:bodyPr wrap="square" lIns="0" tIns="0" rIns="0" bIns="0" rtlCol="0" anchor="t"/>
          <a:lstStyle/>
          <a:p>
            <a:pPr indent="0" marL="0">
              <a:buNone/>
            </a:pPr>
            <a:r>
              <a:rPr lang="en-US" sz="1200" i="1" dirty="0">
                <a:solidFill>
                  <a:schemeClr val="tx1"/>
                </a:solidFill>
              </a:rPr>
              <a:t>Rows: the incoming adapter  ·  Columns: the adapter already in the slot  ·  Cell: overlap, %</a:t>
            </a:r>
            <a:endParaRPr lang="en-US" sz="1200" dirty="0"/>
          </a:p>
        </p:txBody>
      </p:sp>
      <p:graphicFrame>
        <p:nvGraphicFramePr>
          <p:cNvPr id="8" name="overlap-map"/>
          <p:cNvGraphicFramePr>
            <a:graphicFrameLocks noGrp="1"/>
          </p:cNvGraphicFramePr>
          <p:nvPr>
            <p:extLst>
              <p:ext uri="{D42A27DB-BD31-4B8C-83A1-F6EECF244321}">
                <p14:modId xmlns:p14="http://schemas.microsoft.com/office/powerpoint/2010/main" val="1579011935"/>
              </p:ext>
            </p:extLst>
          </p:nvPr>
        </p:nvGraphicFramePr>
        <p:xfrm>
          <a:off x="548640" y="1463040"/>
          <a:ext cx="7013448" cy="914400"/>
        </p:xfrm>
        <a:graphic>
          <a:graphicData uri="http://schemas.openxmlformats.org/drawingml/2006/table">
            <a:tbl>
              <a:tblPr/>
              <a:tblGrid>
                <a:gridCol w="868680"/>
                <a:gridCol w="512064"/>
                <a:gridCol w="512064"/>
                <a:gridCol w="512064"/>
                <a:gridCol w="512064"/>
                <a:gridCol w="512064"/>
                <a:gridCol w="512064"/>
                <a:gridCol w="512064"/>
                <a:gridCol w="512064"/>
                <a:gridCol w="512064"/>
                <a:gridCol w="512064"/>
                <a:gridCol w="512064"/>
                <a:gridCol w="512064"/>
              </a:tblGrid>
              <a:tr h="420624">
                <a:tc>
                  <a:txBody>
                    <a:bodyPr/>
                    <a:lstStyle/>
                    <a:p>
                      <a:pPr indent="0" marL="0">
                        <a:buNone/>
                      </a:pPr>
                      <a:endParaRPr lang="en-US" sz="1200" dirty="0">
                        <a:latin typeface="Calibri" charset="0"/>
                        <a:ea typeface="Calibri" charset="0"/>
                        <a:cs typeface="Calibri" charset="0"/>
                      </a:endParaRPr>
                    </a:p>
                  </a:txBody>
                  <a:tcPr marL="18288" marR="18288" marT="18288" marB="18288">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B263B"/>
                          </a:solidFill>
                          <a:latin typeface="Calibri" pitchFamily="34" charset="0"/>
                          <a:ea typeface="Calibri" pitchFamily="34" charset="-122"/>
                          <a:cs typeface="Calibri" pitchFamily="34" charset="-120"/>
                        </a:rPr>
                        <a:t>GEC</a:t>
                      </a:r>
                      <a:endParaRPr lang="en-US" sz="1000" dirty="0">
                        <a:latin typeface="Calibri" charset="0"/>
                        <a:ea typeface="Calibri" charset="0"/>
                        <a:cs typeface="Calibri" charset="0"/>
                      </a:endParaRPr>
                    </a:p>
                    <a:p>
                      <a:pPr algn="ctr" indent="0" marL="0">
                        <a:buNone/>
                      </a:pPr>
                      <a:r>
                        <a:rPr lang="en-US" sz="1000" b="1" dirty="0">
                          <a:solidFill>
                            <a:srgbClr val="1B263B"/>
                          </a:solidFill>
                          <a:latin typeface="Calibri" pitchFamily="34" charset="0"/>
                          <a:ea typeface="Calibri" pitchFamily="34" charset="-122"/>
                          <a:cs typeface="Calibri" pitchFamily="34" charset="-120"/>
                        </a:rPr>
                        <a:t>EN</a:t>
                      </a:r>
                      <a:endParaRPr lang="en-US" sz="10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F6"/>
                    </a:solidFill>
                  </a:tcPr>
                </a:tc>
                <a:tc>
                  <a:txBody>
                    <a:bodyPr/>
                    <a:lstStyle/>
                    <a:p>
                      <a:pPr algn="ctr" indent="0" marL="0">
                        <a:buNone/>
                      </a:pPr>
                      <a:r>
                        <a:rPr lang="en-US" sz="1000" b="1" dirty="0">
                          <a:solidFill>
                            <a:srgbClr val="1B263B"/>
                          </a:solidFill>
                          <a:latin typeface="Calibri" pitchFamily="34" charset="0"/>
                          <a:ea typeface="Calibri" pitchFamily="34" charset="-122"/>
                          <a:cs typeface="Calibri" pitchFamily="34" charset="-120"/>
                        </a:rPr>
                        <a:t>GEC</a:t>
                      </a:r>
                      <a:endParaRPr lang="en-US" sz="1000" dirty="0">
                        <a:latin typeface="Calibri" charset="0"/>
                        <a:ea typeface="Calibri" charset="0"/>
                        <a:cs typeface="Calibri" charset="0"/>
                      </a:endParaRPr>
                    </a:p>
                    <a:p>
                      <a:pPr algn="ctr" indent="0" marL="0">
                        <a:buNone/>
                      </a:pPr>
                      <a:r>
                        <a:rPr lang="en-US" sz="1000" b="1" dirty="0">
                          <a:solidFill>
                            <a:srgbClr val="1B263B"/>
                          </a:solidFill>
                          <a:latin typeface="Calibri" pitchFamily="34" charset="0"/>
                          <a:ea typeface="Calibri" pitchFamily="34" charset="-122"/>
                          <a:cs typeface="Calibri" pitchFamily="34" charset="-120"/>
                        </a:rPr>
                        <a:t>DE</a:t>
                      </a:r>
                      <a:endParaRPr lang="en-US" sz="10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F6"/>
                    </a:solidFill>
                  </a:tcPr>
                </a:tc>
                <a:tc>
                  <a:txBody>
                    <a:bodyPr/>
                    <a:lstStyle/>
                    <a:p>
                      <a:pPr algn="ctr" indent="0" marL="0">
                        <a:buNone/>
                      </a:pPr>
                      <a:r>
                        <a:rPr lang="en-US" sz="1000" b="1" dirty="0">
                          <a:solidFill>
                            <a:srgbClr val="1B263B"/>
                          </a:solidFill>
                          <a:latin typeface="Calibri" pitchFamily="34" charset="0"/>
                          <a:ea typeface="Calibri" pitchFamily="34" charset="-122"/>
                          <a:cs typeface="Calibri" pitchFamily="34" charset="-120"/>
                        </a:rPr>
                        <a:t>GEC</a:t>
                      </a:r>
                      <a:endParaRPr lang="en-US" sz="1000" dirty="0">
                        <a:latin typeface="Calibri" charset="0"/>
                        <a:ea typeface="Calibri" charset="0"/>
                        <a:cs typeface="Calibri" charset="0"/>
                      </a:endParaRPr>
                    </a:p>
                    <a:p>
                      <a:pPr algn="ctr" indent="0" marL="0">
                        <a:buNone/>
                      </a:pPr>
                      <a:r>
                        <a:rPr lang="en-US" sz="1000" b="1" dirty="0">
                          <a:solidFill>
                            <a:srgbClr val="1B263B"/>
                          </a:solidFill>
                          <a:latin typeface="Calibri" pitchFamily="34" charset="0"/>
                          <a:ea typeface="Calibri" pitchFamily="34" charset="-122"/>
                          <a:cs typeface="Calibri" pitchFamily="34" charset="-120"/>
                        </a:rPr>
                        <a:t>ES</a:t>
                      </a:r>
                      <a:endParaRPr lang="en-US" sz="10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F6"/>
                    </a:solidFill>
                  </a:tcPr>
                </a:tc>
                <a:tc>
                  <a:txBody>
                    <a:bodyPr/>
                    <a:lstStyle/>
                    <a:p>
                      <a:pPr algn="ctr" indent="0" marL="0">
                        <a:buNone/>
                      </a:pPr>
                      <a:r>
                        <a:rPr lang="en-US" sz="1000" b="1" dirty="0">
                          <a:solidFill>
                            <a:srgbClr val="1B263B"/>
                          </a:solidFill>
                          <a:latin typeface="Calibri" pitchFamily="34" charset="0"/>
                          <a:ea typeface="Calibri" pitchFamily="34" charset="-122"/>
                          <a:cs typeface="Calibri" pitchFamily="34" charset="-120"/>
                        </a:rPr>
                        <a:t>GEC</a:t>
                      </a:r>
                      <a:endParaRPr lang="en-US" sz="1000" dirty="0">
                        <a:latin typeface="Calibri" charset="0"/>
                        <a:ea typeface="Calibri" charset="0"/>
                        <a:cs typeface="Calibri" charset="0"/>
                      </a:endParaRPr>
                    </a:p>
                    <a:p>
                      <a:pPr algn="ctr" indent="0" marL="0">
                        <a:buNone/>
                      </a:pPr>
                      <a:r>
                        <a:rPr lang="en-US" sz="1000" b="1" dirty="0">
                          <a:solidFill>
                            <a:srgbClr val="1B263B"/>
                          </a:solidFill>
                          <a:latin typeface="Calibri" pitchFamily="34" charset="0"/>
                          <a:ea typeface="Calibri" pitchFamily="34" charset="-122"/>
                          <a:cs typeface="Calibri" pitchFamily="34" charset="-120"/>
                        </a:rPr>
                        <a:t>IT</a:t>
                      </a:r>
                      <a:endParaRPr lang="en-US" sz="10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F6"/>
                    </a:solidFill>
                  </a:tcPr>
                </a:tc>
                <a:tc>
                  <a:txBody>
                    <a:bodyPr/>
                    <a:lstStyle/>
                    <a:p>
                      <a:pPr algn="ctr" indent="0" marL="0">
                        <a:buNone/>
                      </a:pPr>
                      <a:r>
                        <a:rPr lang="en-US" sz="1000" b="1" dirty="0">
                          <a:solidFill>
                            <a:srgbClr val="1B263B"/>
                          </a:solidFill>
                          <a:latin typeface="Calibri" pitchFamily="34" charset="0"/>
                          <a:ea typeface="Calibri" pitchFamily="34" charset="-122"/>
                          <a:cs typeface="Calibri" pitchFamily="34" charset="-120"/>
                        </a:rPr>
                        <a:t>SUM</a:t>
                      </a:r>
                      <a:endParaRPr lang="en-US" sz="1000" dirty="0">
                        <a:latin typeface="Calibri" charset="0"/>
                        <a:ea typeface="Calibri" charset="0"/>
                        <a:cs typeface="Calibri" charset="0"/>
                      </a:endParaRPr>
                    </a:p>
                    <a:p>
                      <a:pPr algn="ctr" indent="0" marL="0">
                        <a:buNone/>
                      </a:pPr>
                      <a:r>
                        <a:rPr lang="en-US" sz="1000" b="1" dirty="0">
                          <a:solidFill>
                            <a:srgbClr val="1B263B"/>
                          </a:solidFill>
                          <a:latin typeface="Calibri" pitchFamily="34" charset="0"/>
                          <a:ea typeface="Calibri" pitchFamily="34" charset="-122"/>
                          <a:cs typeface="Calibri" pitchFamily="34" charset="-120"/>
                        </a:rPr>
                        <a:t>EN</a:t>
                      </a:r>
                      <a:endParaRPr lang="en-US" sz="10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F6"/>
                    </a:solidFill>
                  </a:tcPr>
                </a:tc>
                <a:tc>
                  <a:txBody>
                    <a:bodyPr/>
                    <a:lstStyle/>
                    <a:p>
                      <a:pPr algn="ctr" indent="0" marL="0">
                        <a:buNone/>
                      </a:pPr>
                      <a:r>
                        <a:rPr lang="en-US" sz="1000" b="1" dirty="0">
                          <a:solidFill>
                            <a:srgbClr val="1B263B"/>
                          </a:solidFill>
                          <a:latin typeface="Calibri" pitchFamily="34" charset="0"/>
                          <a:ea typeface="Calibri" pitchFamily="34" charset="-122"/>
                          <a:cs typeface="Calibri" pitchFamily="34" charset="-120"/>
                        </a:rPr>
                        <a:t>SUM</a:t>
                      </a:r>
                      <a:endParaRPr lang="en-US" sz="1000" dirty="0">
                        <a:latin typeface="Calibri" charset="0"/>
                        <a:ea typeface="Calibri" charset="0"/>
                        <a:cs typeface="Calibri" charset="0"/>
                      </a:endParaRPr>
                    </a:p>
                    <a:p>
                      <a:pPr algn="ctr" indent="0" marL="0">
                        <a:buNone/>
                      </a:pPr>
                      <a:r>
                        <a:rPr lang="en-US" sz="1000" b="1" dirty="0">
                          <a:solidFill>
                            <a:srgbClr val="1B263B"/>
                          </a:solidFill>
                          <a:latin typeface="Calibri" pitchFamily="34" charset="0"/>
                          <a:ea typeface="Calibri" pitchFamily="34" charset="-122"/>
                          <a:cs typeface="Calibri" pitchFamily="34" charset="-120"/>
                        </a:rPr>
                        <a:t>DE</a:t>
                      </a:r>
                      <a:endParaRPr lang="en-US" sz="10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F6"/>
                    </a:solidFill>
                  </a:tcPr>
                </a:tc>
                <a:tc>
                  <a:txBody>
                    <a:bodyPr/>
                    <a:lstStyle/>
                    <a:p>
                      <a:pPr algn="ctr" indent="0" marL="0">
                        <a:buNone/>
                      </a:pPr>
                      <a:r>
                        <a:rPr lang="en-US" sz="1000" b="1" dirty="0">
                          <a:solidFill>
                            <a:srgbClr val="1B263B"/>
                          </a:solidFill>
                          <a:latin typeface="Calibri" pitchFamily="34" charset="0"/>
                          <a:ea typeface="Calibri" pitchFamily="34" charset="-122"/>
                          <a:cs typeface="Calibri" pitchFamily="34" charset="-120"/>
                        </a:rPr>
                        <a:t>SUM</a:t>
                      </a:r>
                      <a:endParaRPr lang="en-US" sz="1000" dirty="0">
                        <a:latin typeface="Calibri" charset="0"/>
                        <a:ea typeface="Calibri" charset="0"/>
                        <a:cs typeface="Calibri" charset="0"/>
                      </a:endParaRPr>
                    </a:p>
                    <a:p>
                      <a:pPr algn="ctr" indent="0" marL="0">
                        <a:buNone/>
                      </a:pPr>
                      <a:r>
                        <a:rPr lang="en-US" sz="1000" b="1" dirty="0">
                          <a:solidFill>
                            <a:srgbClr val="1B263B"/>
                          </a:solidFill>
                          <a:latin typeface="Calibri" pitchFamily="34" charset="0"/>
                          <a:ea typeface="Calibri" pitchFamily="34" charset="-122"/>
                          <a:cs typeface="Calibri" pitchFamily="34" charset="-120"/>
                        </a:rPr>
                        <a:t>ES</a:t>
                      </a:r>
                      <a:endParaRPr lang="en-US" sz="10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F6"/>
                    </a:solidFill>
                  </a:tcPr>
                </a:tc>
                <a:tc>
                  <a:txBody>
                    <a:bodyPr/>
                    <a:lstStyle/>
                    <a:p>
                      <a:pPr algn="ctr" indent="0" marL="0">
                        <a:buNone/>
                      </a:pPr>
                      <a:r>
                        <a:rPr lang="en-US" sz="1000" b="1" dirty="0">
                          <a:solidFill>
                            <a:srgbClr val="1B263B"/>
                          </a:solidFill>
                          <a:latin typeface="Calibri" pitchFamily="34" charset="0"/>
                          <a:ea typeface="Calibri" pitchFamily="34" charset="-122"/>
                          <a:cs typeface="Calibri" pitchFamily="34" charset="-120"/>
                        </a:rPr>
                        <a:t>SUM</a:t>
                      </a:r>
                      <a:endParaRPr lang="en-US" sz="1000" dirty="0">
                        <a:latin typeface="Calibri" charset="0"/>
                        <a:ea typeface="Calibri" charset="0"/>
                        <a:cs typeface="Calibri" charset="0"/>
                      </a:endParaRPr>
                    </a:p>
                    <a:p>
                      <a:pPr algn="ctr" indent="0" marL="0">
                        <a:buNone/>
                      </a:pPr>
                      <a:r>
                        <a:rPr lang="en-US" sz="1000" b="1" dirty="0">
                          <a:solidFill>
                            <a:srgbClr val="1B263B"/>
                          </a:solidFill>
                          <a:latin typeface="Calibri" pitchFamily="34" charset="0"/>
                          <a:ea typeface="Calibri" pitchFamily="34" charset="-122"/>
                          <a:cs typeface="Calibri" pitchFamily="34" charset="-120"/>
                        </a:rPr>
                        <a:t>IT</a:t>
                      </a:r>
                      <a:endParaRPr lang="en-US" sz="10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F6"/>
                    </a:solidFill>
                  </a:tcPr>
                </a:tc>
                <a:tc>
                  <a:txBody>
                    <a:bodyPr/>
                    <a:lstStyle/>
                    <a:p>
                      <a:pPr algn="ctr" indent="0" marL="0">
                        <a:buNone/>
                      </a:pPr>
                      <a:r>
                        <a:rPr lang="en-US" sz="1000" b="1" dirty="0">
                          <a:solidFill>
                            <a:srgbClr val="1B263B"/>
                          </a:solidFill>
                          <a:latin typeface="Calibri" pitchFamily="34" charset="0"/>
                          <a:ea typeface="Calibri" pitchFamily="34" charset="-122"/>
                          <a:cs typeface="Calibri" pitchFamily="34" charset="-120"/>
                        </a:rPr>
                        <a:t>QA</a:t>
                      </a:r>
                      <a:endParaRPr lang="en-US" sz="1000" dirty="0">
                        <a:latin typeface="Calibri" charset="0"/>
                        <a:ea typeface="Calibri" charset="0"/>
                        <a:cs typeface="Calibri" charset="0"/>
                      </a:endParaRPr>
                    </a:p>
                    <a:p>
                      <a:pPr algn="ctr" indent="0" marL="0">
                        <a:buNone/>
                      </a:pPr>
                      <a:r>
                        <a:rPr lang="en-US" sz="1000" b="1" dirty="0">
                          <a:solidFill>
                            <a:srgbClr val="1B263B"/>
                          </a:solidFill>
                          <a:latin typeface="Calibri" pitchFamily="34" charset="0"/>
                          <a:ea typeface="Calibri" pitchFamily="34" charset="-122"/>
                          <a:cs typeface="Calibri" pitchFamily="34" charset="-120"/>
                        </a:rPr>
                        <a:t>EN</a:t>
                      </a:r>
                      <a:endParaRPr lang="en-US" sz="10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F6"/>
                    </a:solidFill>
                  </a:tcPr>
                </a:tc>
                <a:tc>
                  <a:txBody>
                    <a:bodyPr/>
                    <a:lstStyle/>
                    <a:p>
                      <a:pPr algn="ctr" indent="0" marL="0">
                        <a:buNone/>
                      </a:pPr>
                      <a:r>
                        <a:rPr lang="en-US" sz="1000" b="1" dirty="0">
                          <a:solidFill>
                            <a:srgbClr val="1B263B"/>
                          </a:solidFill>
                          <a:latin typeface="Calibri" pitchFamily="34" charset="0"/>
                          <a:ea typeface="Calibri" pitchFamily="34" charset="-122"/>
                          <a:cs typeface="Calibri" pitchFamily="34" charset="-120"/>
                        </a:rPr>
                        <a:t>QA</a:t>
                      </a:r>
                      <a:endParaRPr lang="en-US" sz="1000" dirty="0">
                        <a:latin typeface="Calibri" charset="0"/>
                        <a:ea typeface="Calibri" charset="0"/>
                        <a:cs typeface="Calibri" charset="0"/>
                      </a:endParaRPr>
                    </a:p>
                    <a:p>
                      <a:pPr algn="ctr" indent="0" marL="0">
                        <a:buNone/>
                      </a:pPr>
                      <a:r>
                        <a:rPr lang="en-US" sz="1000" b="1" dirty="0">
                          <a:solidFill>
                            <a:srgbClr val="1B263B"/>
                          </a:solidFill>
                          <a:latin typeface="Calibri" pitchFamily="34" charset="0"/>
                          <a:ea typeface="Calibri" pitchFamily="34" charset="-122"/>
                          <a:cs typeface="Calibri" pitchFamily="34" charset="-120"/>
                        </a:rPr>
                        <a:t>DE</a:t>
                      </a:r>
                      <a:endParaRPr lang="en-US" sz="10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F6"/>
                    </a:solidFill>
                  </a:tcPr>
                </a:tc>
                <a:tc>
                  <a:txBody>
                    <a:bodyPr/>
                    <a:lstStyle/>
                    <a:p>
                      <a:pPr algn="ctr" indent="0" marL="0">
                        <a:buNone/>
                      </a:pPr>
                      <a:r>
                        <a:rPr lang="en-US" sz="1000" b="1" dirty="0">
                          <a:solidFill>
                            <a:srgbClr val="1B263B"/>
                          </a:solidFill>
                          <a:latin typeface="Calibri" pitchFamily="34" charset="0"/>
                          <a:ea typeface="Calibri" pitchFamily="34" charset="-122"/>
                          <a:cs typeface="Calibri" pitchFamily="34" charset="-120"/>
                        </a:rPr>
                        <a:t>QA</a:t>
                      </a:r>
                      <a:endParaRPr lang="en-US" sz="1000" dirty="0">
                        <a:latin typeface="Calibri" charset="0"/>
                        <a:ea typeface="Calibri" charset="0"/>
                        <a:cs typeface="Calibri" charset="0"/>
                      </a:endParaRPr>
                    </a:p>
                    <a:p>
                      <a:pPr algn="ctr" indent="0" marL="0">
                        <a:buNone/>
                      </a:pPr>
                      <a:r>
                        <a:rPr lang="en-US" sz="1000" b="1" dirty="0">
                          <a:solidFill>
                            <a:srgbClr val="1B263B"/>
                          </a:solidFill>
                          <a:latin typeface="Calibri" pitchFamily="34" charset="0"/>
                          <a:ea typeface="Calibri" pitchFamily="34" charset="-122"/>
                          <a:cs typeface="Calibri" pitchFamily="34" charset="-120"/>
                        </a:rPr>
                        <a:t>ES</a:t>
                      </a:r>
                      <a:endParaRPr lang="en-US" sz="10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F6"/>
                    </a:solidFill>
                  </a:tcPr>
                </a:tc>
                <a:tc>
                  <a:txBody>
                    <a:bodyPr/>
                    <a:lstStyle/>
                    <a:p>
                      <a:pPr algn="ctr" indent="0" marL="0">
                        <a:buNone/>
                      </a:pPr>
                      <a:r>
                        <a:rPr lang="en-US" sz="1000" b="1" dirty="0">
                          <a:solidFill>
                            <a:srgbClr val="1B263B"/>
                          </a:solidFill>
                          <a:latin typeface="Calibri" pitchFamily="34" charset="0"/>
                          <a:ea typeface="Calibri" pitchFamily="34" charset="-122"/>
                          <a:cs typeface="Calibri" pitchFamily="34" charset="-120"/>
                        </a:rPr>
                        <a:t>QA</a:t>
                      </a:r>
                      <a:endParaRPr lang="en-US" sz="1000" dirty="0">
                        <a:latin typeface="Calibri" charset="0"/>
                        <a:ea typeface="Calibri" charset="0"/>
                        <a:cs typeface="Calibri" charset="0"/>
                      </a:endParaRPr>
                    </a:p>
                    <a:p>
                      <a:pPr algn="ctr" indent="0" marL="0">
                        <a:buNone/>
                      </a:pPr>
                      <a:r>
                        <a:rPr lang="en-US" sz="1000" b="1" dirty="0">
                          <a:solidFill>
                            <a:srgbClr val="1B263B"/>
                          </a:solidFill>
                          <a:latin typeface="Calibri" pitchFamily="34" charset="0"/>
                          <a:ea typeface="Calibri" pitchFamily="34" charset="-122"/>
                          <a:cs typeface="Calibri" pitchFamily="34" charset="-120"/>
                        </a:rPr>
                        <a:t>IT</a:t>
                      </a:r>
                      <a:endParaRPr lang="en-US" sz="10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F6"/>
                    </a:solidFill>
                  </a:tcPr>
                </a:tc>
              </a:tr>
              <a:tr h="315468">
                <a:tc>
                  <a:txBody>
                    <a:bodyPr/>
                    <a:lstStyle/>
                    <a:p>
                      <a:pPr indent="0" marL="0">
                        <a:buNone/>
                      </a:pPr>
                      <a:r>
                        <a:rPr lang="en-US" sz="1100" b="1" dirty="0">
                          <a:solidFill>
                            <a:srgbClr val="1B263B"/>
                          </a:solidFill>
                          <a:latin typeface="Calibri" pitchFamily="34" charset="0"/>
                          <a:ea typeface="Calibri" pitchFamily="34" charset="-122"/>
                          <a:cs typeface="Calibri" pitchFamily="34" charset="-120"/>
                        </a:rPr>
                        <a:t>GEC-EN</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F6"/>
                    </a:solidFill>
                  </a:tcPr>
                </a:tc>
                <a:tc>
                  <a:txBody>
                    <a:bodyPr/>
                    <a:lstStyle/>
                    <a:p>
                      <a:pPr algn="ctr" indent="0" marL="0">
                        <a:buNone/>
                      </a:pPr>
                      <a:r>
                        <a:rPr lang="en-US" sz="1100" dirty="0">
                          <a:solidFill>
                            <a:srgbClr val="6B7785"/>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4F6F8"/>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7.4</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BDADD"/>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7.8</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3D6D9"/>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7.4</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BDADD"/>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5.1</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F3F4"/>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4.6</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3F8F9"/>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4.7</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1F7F8"/>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4.5</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5FAFA"/>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4.9</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DF5F6"/>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4.6</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3F8F9"/>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4.6</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3F8F9"/>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4.5</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5FAFA"/>
                    </a:solidFill>
                  </a:tcPr>
                </a:tc>
              </a:tr>
              <a:tr h="315468">
                <a:tc>
                  <a:txBody>
                    <a:bodyPr/>
                    <a:lstStyle/>
                    <a:p>
                      <a:pPr indent="0" marL="0">
                        <a:buNone/>
                      </a:pPr>
                      <a:r>
                        <a:rPr lang="en-US" sz="1100" b="1" dirty="0">
                          <a:solidFill>
                            <a:srgbClr val="1B263B"/>
                          </a:solidFill>
                          <a:latin typeface="Calibri" pitchFamily="34" charset="0"/>
                          <a:ea typeface="Calibri" pitchFamily="34" charset="-122"/>
                          <a:cs typeface="Calibri" pitchFamily="34" charset="-120"/>
                        </a:rPr>
                        <a:t>GEC-DE</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F6"/>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7.1</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1DDE0"/>
                    </a:solidFill>
                  </a:tcPr>
                </a:tc>
                <a:tc>
                  <a:txBody>
                    <a:bodyPr/>
                    <a:lstStyle/>
                    <a:p>
                      <a:pPr algn="ctr" indent="0" marL="0">
                        <a:buNone/>
                      </a:pPr>
                      <a:r>
                        <a:rPr lang="en-US" sz="1100" dirty="0">
                          <a:solidFill>
                            <a:srgbClr val="6B7785"/>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4F6F8"/>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7.5</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9D9DC"/>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8.1</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ADD2D6"/>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4.5</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5FAFA"/>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5.4</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3F0F1"/>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4.7</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1F7F8"/>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4.7</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1F7F8"/>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4.6</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3F8F9"/>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1EFF0"/>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4.8</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FF6F7"/>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4.7</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1F7F8"/>
                    </a:solidFill>
                  </a:tcPr>
                </a:tc>
              </a:tr>
              <a:tr h="315468">
                <a:tc>
                  <a:txBody>
                    <a:bodyPr/>
                    <a:lstStyle/>
                    <a:p>
                      <a:pPr indent="0" marL="0">
                        <a:buNone/>
                      </a:pPr>
                      <a:r>
                        <a:rPr lang="en-US" sz="1100" b="1" dirty="0">
                          <a:solidFill>
                            <a:srgbClr val="1B263B"/>
                          </a:solidFill>
                          <a:latin typeface="Calibri" pitchFamily="34" charset="0"/>
                          <a:ea typeface="Calibri" pitchFamily="34" charset="-122"/>
                          <a:cs typeface="Calibri" pitchFamily="34" charset="-120"/>
                        </a:rPr>
                        <a:t>GEC-ES</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F6"/>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8.1</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ADD2D6"/>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8.1</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ADD2D6"/>
                    </a:solidFill>
                  </a:tcPr>
                </a:tc>
                <a:tc>
                  <a:txBody>
                    <a:bodyPr/>
                    <a:lstStyle/>
                    <a:p>
                      <a:pPr algn="ctr" indent="0" marL="0">
                        <a:buNone/>
                      </a:pPr>
                      <a:r>
                        <a:rPr lang="en-US" sz="1100" dirty="0">
                          <a:solidFill>
                            <a:srgbClr val="6B7785"/>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4F6F8"/>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8.3</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A9D0D4"/>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4.9</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DF5F6"/>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5.2</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F2F3"/>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5.4</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3F0F1"/>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5.0</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BF4F5"/>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4.6</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3F8F9"/>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5.0</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BF4F5"/>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5.1</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F3F4"/>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5.1</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F3F4"/>
                    </a:solidFill>
                  </a:tcPr>
                </a:tc>
              </a:tr>
              <a:tr h="315468">
                <a:tc>
                  <a:txBody>
                    <a:bodyPr/>
                    <a:lstStyle/>
                    <a:p>
                      <a:pPr indent="0" marL="0">
                        <a:buNone/>
                      </a:pPr>
                      <a:r>
                        <a:rPr lang="en-US" sz="1100" b="1" dirty="0">
                          <a:solidFill>
                            <a:srgbClr val="1B263B"/>
                          </a:solidFill>
                          <a:latin typeface="Calibri" pitchFamily="34" charset="0"/>
                          <a:ea typeface="Calibri" pitchFamily="34" charset="-122"/>
                          <a:cs typeface="Calibri" pitchFamily="34" charset="-120"/>
                        </a:rPr>
                        <a:t>GEC-IT</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F6"/>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7.6</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7D8DB"/>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8.8</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9FCBCF"/>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8.2</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ABD1D5"/>
                    </a:solidFill>
                  </a:tcPr>
                </a:tc>
                <a:tc>
                  <a:txBody>
                    <a:bodyPr/>
                    <a:lstStyle/>
                    <a:p>
                      <a:pPr algn="ctr" indent="0" marL="0">
                        <a:buNone/>
                      </a:pPr>
                      <a:r>
                        <a:rPr lang="en-US" sz="1100" dirty="0">
                          <a:solidFill>
                            <a:srgbClr val="6B7785"/>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4F6F8"/>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4.5</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5FAFA"/>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4.9</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DF5F6"/>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4.9</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DF5F6"/>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5.1</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F3F4"/>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4.4</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7FBFB"/>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4.9</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DF5F6"/>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5.1</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F3F4"/>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5.2</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F2F3"/>
                    </a:solidFill>
                  </a:tcPr>
                </a:tc>
              </a:tr>
              <a:tr h="315468">
                <a:tc>
                  <a:txBody>
                    <a:bodyPr/>
                    <a:lstStyle/>
                    <a:p>
                      <a:pPr indent="0" marL="0">
                        <a:buNone/>
                      </a:pPr>
                      <a:r>
                        <a:rPr lang="en-US" sz="1100" b="1" dirty="0">
                          <a:solidFill>
                            <a:srgbClr val="1B263B"/>
                          </a:solidFill>
                          <a:latin typeface="Calibri" pitchFamily="34" charset="0"/>
                          <a:ea typeface="Calibri" pitchFamily="34" charset="-122"/>
                          <a:cs typeface="Calibri" pitchFamily="34" charset="-120"/>
                        </a:rPr>
                        <a:t>SUM-EN</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F6"/>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4.8</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FF6F7"/>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4.2</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BFDFD"/>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4.3</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9FCFC"/>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4.2</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BFDFD"/>
                    </a:solidFill>
                  </a:tcPr>
                </a:tc>
                <a:tc>
                  <a:txBody>
                    <a:bodyPr/>
                    <a:lstStyle/>
                    <a:p>
                      <a:pPr algn="ctr" indent="0" marL="0">
                        <a:buNone/>
                      </a:pPr>
                      <a:r>
                        <a:rPr lang="en-US" sz="1100" dirty="0">
                          <a:solidFill>
                            <a:srgbClr val="6B7785"/>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4F6F8"/>
                    </a:solidFill>
                  </a:tcPr>
                </a:tc>
                <a:tc>
                  <a:txBody>
                    <a:bodyPr/>
                    <a:lstStyle/>
                    <a:p>
                      <a:pPr algn="ctr" indent="0" marL="0">
                        <a:buNone/>
                      </a:pPr>
                      <a:r>
                        <a:rPr lang="en-US" sz="1100" dirty="0">
                          <a:solidFill>
                            <a:srgbClr val="FFFFFF"/>
                          </a:solidFill>
                          <a:latin typeface="Calibri" pitchFamily="34" charset="0"/>
                          <a:ea typeface="Calibri" pitchFamily="34" charset="-122"/>
                          <a:cs typeface="Calibri" pitchFamily="34" charset="-120"/>
                        </a:rPr>
                        <a:t>12.1</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5CA7AD"/>
                    </a:solidFill>
                  </a:tcPr>
                </a:tc>
                <a:tc>
                  <a:txBody>
                    <a:bodyPr/>
                    <a:lstStyle/>
                    <a:p>
                      <a:pPr algn="ctr" indent="0" marL="0">
                        <a:buNone/>
                      </a:pPr>
                      <a:r>
                        <a:rPr lang="en-US" sz="1100" dirty="0">
                          <a:solidFill>
                            <a:srgbClr val="FFFFFF"/>
                          </a:solidFill>
                          <a:latin typeface="Calibri" pitchFamily="34" charset="0"/>
                          <a:ea typeface="Calibri" pitchFamily="34" charset="-122"/>
                          <a:cs typeface="Calibri" pitchFamily="34" charset="-120"/>
                        </a:rPr>
                        <a:t>13.7</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3C959D"/>
                    </a:solidFill>
                  </a:tcPr>
                </a:tc>
                <a:tc>
                  <a:txBody>
                    <a:bodyPr/>
                    <a:lstStyle/>
                    <a:p>
                      <a:pPr algn="ctr" indent="0" marL="0">
                        <a:buNone/>
                      </a:pPr>
                      <a:r>
                        <a:rPr lang="en-US" sz="1100" dirty="0">
                          <a:solidFill>
                            <a:srgbClr val="FFFFFF"/>
                          </a:solidFill>
                          <a:latin typeface="Calibri" pitchFamily="34" charset="0"/>
                          <a:ea typeface="Calibri" pitchFamily="34" charset="-122"/>
                          <a:cs typeface="Calibri" pitchFamily="34" charset="-120"/>
                        </a:rPr>
                        <a:t>12.1</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5CA7AD"/>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4.7</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1F7F8"/>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4.3</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9FCFC"/>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4.5</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5FAFA"/>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4.4</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7FBFB"/>
                    </a:solidFill>
                  </a:tcPr>
                </a:tc>
              </a:tr>
              <a:tr h="315468">
                <a:tc>
                  <a:txBody>
                    <a:bodyPr/>
                    <a:lstStyle/>
                    <a:p>
                      <a:pPr indent="0" marL="0">
                        <a:buNone/>
                      </a:pPr>
                      <a:r>
                        <a:rPr lang="en-US" sz="1100" b="1" dirty="0">
                          <a:solidFill>
                            <a:srgbClr val="1B263B"/>
                          </a:solidFill>
                          <a:latin typeface="Calibri" pitchFamily="34" charset="0"/>
                          <a:ea typeface="Calibri" pitchFamily="34" charset="-122"/>
                          <a:cs typeface="Calibri" pitchFamily="34" charset="-120"/>
                        </a:rPr>
                        <a:t>SUM-DE</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F6"/>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4.2</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BFDFD"/>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4.8</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FF6F7"/>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4.3</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9FCFC"/>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4.3</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9FCFC"/>
                    </a:solidFill>
                  </a:tcPr>
                </a:tc>
                <a:tc>
                  <a:txBody>
                    <a:bodyPr/>
                    <a:lstStyle/>
                    <a:p>
                      <a:pPr algn="ctr" indent="0" marL="0">
                        <a:buNone/>
                      </a:pPr>
                      <a:r>
                        <a:rPr lang="en-US" sz="1100" dirty="0">
                          <a:solidFill>
                            <a:srgbClr val="FFFFFF"/>
                          </a:solidFill>
                          <a:latin typeface="Calibri" pitchFamily="34" charset="0"/>
                          <a:ea typeface="Calibri" pitchFamily="34" charset="-122"/>
                          <a:cs typeface="Calibri" pitchFamily="34" charset="-120"/>
                        </a:rPr>
                        <a:t>11.9</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60A9AF"/>
                    </a:solidFill>
                  </a:tcPr>
                </a:tc>
                <a:tc>
                  <a:txBody>
                    <a:bodyPr/>
                    <a:lstStyle/>
                    <a:p>
                      <a:pPr algn="ctr" indent="0" marL="0">
                        <a:buNone/>
                      </a:pPr>
                      <a:r>
                        <a:rPr lang="en-US" sz="1100" dirty="0">
                          <a:solidFill>
                            <a:srgbClr val="6B7785"/>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4F6F8"/>
                    </a:solidFill>
                  </a:tcPr>
                </a:tc>
                <a:tc>
                  <a:txBody>
                    <a:bodyPr/>
                    <a:lstStyle/>
                    <a:p>
                      <a:pPr algn="ctr" indent="0" marL="0">
                        <a:buNone/>
                      </a:pPr>
                      <a:r>
                        <a:rPr lang="en-US" sz="1100" dirty="0">
                          <a:solidFill>
                            <a:srgbClr val="FFFFFF"/>
                          </a:solidFill>
                          <a:latin typeface="Calibri" pitchFamily="34" charset="0"/>
                          <a:ea typeface="Calibri" pitchFamily="34" charset="-122"/>
                          <a:cs typeface="Calibri" pitchFamily="34" charset="-120"/>
                        </a:rPr>
                        <a:t>12.2</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5AA5AC"/>
                    </a:solidFill>
                  </a:tcPr>
                </a:tc>
                <a:tc>
                  <a:txBody>
                    <a:bodyPr/>
                    <a:lstStyle/>
                    <a:p>
                      <a:pPr algn="ctr" indent="0" marL="0">
                        <a:buNone/>
                      </a:pPr>
                      <a:r>
                        <a:rPr lang="en-US" sz="1100" dirty="0">
                          <a:solidFill>
                            <a:srgbClr val="FFFFFF"/>
                          </a:solidFill>
                          <a:latin typeface="Calibri" pitchFamily="34" charset="0"/>
                          <a:ea typeface="Calibri" pitchFamily="34" charset="-122"/>
                          <a:cs typeface="Calibri" pitchFamily="34" charset="-120"/>
                        </a:rPr>
                        <a:t>12.0</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5EA8AE"/>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4.2</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BFDFD"/>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5.1</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9F3F4"/>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4.4</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7FBFB"/>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4.5</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5FAFA"/>
                    </a:solidFill>
                  </a:tcPr>
                </a:tc>
              </a:tr>
              <a:tr h="315468">
                <a:tc>
                  <a:txBody>
                    <a:bodyPr/>
                    <a:lstStyle/>
                    <a:p>
                      <a:pPr indent="0" marL="0">
                        <a:buNone/>
                      </a:pPr>
                      <a:r>
                        <a:rPr lang="en-US" sz="1100" b="1" dirty="0">
                          <a:solidFill>
                            <a:srgbClr val="1B263B"/>
                          </a:solidFill>
                          <a:latin typeface="Calibri" pitchFamily="34" charset="0"/>
                          <a:ea typeface="Calibri" pitchFamily="34" charset="-122"/>
                          <a:cs typeface="Calibri" pitchFamily="34" charset="-120"/>
                        </a:rPr>
                        <a:t>SUM-ES</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F6"/>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4.2</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BFDFD"/>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4.3</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9FCFC"/>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4.6</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3F8F9"/>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4.3</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9FCFC"/>
                    </a:solidFill>
                  </a:tcPr>
                </a:tc>
                <a:tc>
                  <a:txBody>
                    <a:bodyPr/>
                    <a:lstStyle/>
                    <a:p>
                      <a:pPr algn="ctr" indent="0" marL="0">
                        <a:buNone/>
                      </a:pPr>
                      <a:r>
                        <a:rPr lang="en-US" sz="1100" dirty="0">
                          <a:solidFill>
                            <a:srgbClr val="FFFFFF"/>
                          </a:solidFill>
                          <a:latin typeface="Calibri" pitchFamily="34" charset="0"/>
                          <a:ea typeface="Calibri" pitchFamily="34" charset="-122"/>
                          <a:cs typeface="Calibri" pitchFamily="34" charset="-120"/>
                        </a:rPr>
                        <a:t>13.4</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4298A0"/>
                    </a:solidFill>
                  </a:tcPr>
                </a:tc>
                <a:tc>
                  <a:txBody>
                    <a:bodyPr/>
                    <a:lstStyle/>
                    <a:p>
                      <a:pPr algn="ctr" indent="0" marL="0">
                        <a:buNone/>
                      </a:pPr>
                      <a:r>
                        <a:rPr lang="en-US" sz="1100" dirty="0">
                          <a:solidFill>
                            <a:srgbClr val="FFFFFF"/>
                          </a:solidFill>
                          <a:latin typeface="Calibri" pitchFamily="34" charset="0"/>
                          <a:ea typeface="Calibri" pitchFamily="34" charset="-122"/>
                          <a:cs typeface="Calibri" pitchFamily="34" charset="-120"/>
                        </a:rPr>
                        <a:t>12.1</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5CA7AD"/>
                    </a:solidFill>
                  </a:tcPr>
                </a:tc>
                <a:tc>
                  <a:txBody>
                    <a:bodyPr/>
                    <a:lstStyle/>
                    <a:p>
                      <a:pPr algn="ctr" indent="0" marL="0">
                        <a:buNone/>
                      </a:pPr>
                      <a:r>
                        <a:rPr lang="en-US" sz="1100" dirty="0">
                          <a:solidFill>
                            <a:srgbClr val="6B7785"/>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4F6F8"/>
                    </a:solidFill>
                  </a:tcPr>
                </a:tc>
                <a:tc>
                  <a:txBody>
                    <a:bodyPr/>
                    <a:lstStyle/>
                    <a:p>
                      <a:pPr algn="ctr" indent="0" marL="0">
                        <a:buNone/>
                      </a:pPr>
                      <a:r>
                        <a:rPr lang="en-US" sz="1100" dirty="0">
                          <a:solidFill>
                            <a:srgbClr val="FFFFFF"/>
                          </a:solidFill>
                          <a:latin typeface="Calibri" pitchFamily="34" charset="0"/>
                          <a:ea typeface="Calibri" pitchFamily="34" charset="-122"/>
                          <a:cs typeface="Calibri" pitchFamily="34" charset="-120"/>
                        </a:rPr>
                        <a:t>15.8</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27E88"/>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4.3</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9FCFC"/>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4.6</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3F8F9"/>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4.7</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1F7F8"/>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4.5</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5FAFA"/>
                    </a:solidFill>
                  </a:tcPr>
                </a:tc>
              </a:tr>
              <a:tr h="315468">
                <a:tc>
                  <a:txBody>
                    <a:bodyPr/>
                    <a:lstStyle/>
                    <a:p>
                      <a:pPr indent="0" marL="0">
                        <a:buNone/>
                      </a:pPr>
                      <a:r>
                        <a:rPr lang="en-US" sz="1100" b="1" dirty="0">
                          <a:solidFill>
                            <a:srgbClr val="1B263B"/>
                          </a:solidFill>
                          <a:latin typeface="Calibri" pitchFamily="34" charset="0"/>
                          <a:ea typeface="Calibri" pitchFamily="34" charset="-122"/>
                          <a:cs typeface="Calibri" pitchFamily="34" charset="-120"/>
                        </a:rPr>
                        <a:t>SUM-IT</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F6"/>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4.1</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FEFE"/>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4.3</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9FCFC"/>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4.4</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7FBFB"/>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4.6</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3F8F9"/>
                    </a:solidFill>
                  </a:tcPr>
                </a:tc>
                <a:tc>
                  <a:txBody>
                    <a:bodyPr/>
                    <a:lstStyle/>
                    <a:p>
                      <a:pPr algn="ctr" indent="0" marL="0">
                        <a:buNone/>
                      </a:pPr>
                      <a:r>
                        <a:rPr lang="en-US" sz="1100" dirty="0">
                          <a:solidFill>
                            <a:srgbClr val="FFFFFF"/>
                          </a:solidFill>
                          <a:latin typeface="Calibri" pitchFamily="34" charset="0"/>
                          <a:ea typeface="Calibri" pitchFamily="34" charset="-122"/>
                          <a:cs typeface="Calibri" pitchFamily="34" charset="-120"/>
                        </a:rPr>
                        <a:t>11.3</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6CAFB5"/>
                    </a:solidFill>
                  </a:tcPr>
                </a:tc>
                <a:tc>
                  <a:txBody>
                    <a:bodyPr/>
                    <a:lstStyle/>
                    <a:p>
                      <a:pPr algn="ctr" indent="0" marL="0">
                        <a:buNone/>
                      </a:pPr>
                      <a:r>
                        <a:rPr lang="en-US" sz="1100" dirty="0">
                          <a:solidFill>
                            <a:srgbClr val="FFFFFF"/>
                          </a:solidFill>
                          <a:latin typeface="Calibri" pitchFamily="34" charset="0"/>
                          <a:ea typeface="Calibri" pitchFamily="34" charset="-122"/>
                          <a:cs typeface="Calibri" pitchFamily="34" charset="-120"/>
                        </a:rPr>
                        <a:t>11.5</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68ADB3"/>
                    </a:solidFill>
                  </a:tcPr>
                </a:tc>
                <a:tc>
                  <a:txBody>
                    <a:bodyPr/>
                    <a:lstStyle/>
                    <a:p>
                      <a:pPr algn="ctr" indent="0" marL="0">
                        <a:buNone/>
                      </a:pPr>
                      <a:r>
                        <a:rPr lang="en-US" sz="1100" dirty="0">
                          <a:solidFill>
                            <a:srgbClr val="FFFFFF"/>
                          </a:solidFill>
                          <a:latin typeface="Calibri" pitchFamily="34" charset="0"/>
                          <a:ea typeface="Calibri" pitchFamily="34" charset="-122"/>
                          <a:cs typeface="Calibri" pitchFamily="34" charset="-120"/>
                        </a:rPr>
                        <a:t>15.2</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E858E"/>
                    </a:solidFill>
                  </a:tcPr>
                </a:tc>
                <a:tc>
                  <a:txBody>
                    <a:bodyPr/>
                    <a:lstStyle/>
                    <a:p>
                      <a:pPr algn="ctr" indent="0" marL="0">
                        <a:buNone/>
                      </a:pPr>
                      <a:r>
                        <a:rPr lang="en-US" sz="1100" dirty="0">
                          <a:solidFill>
                            <a:srgbClr val="6B7785"/>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4F6F8"/>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4.0</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4.6</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3F8F9"/>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4.5</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5FAFA"/>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4.7</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1F7F8"/>
                    </a:solidFill>
                  </a:tcPr>
                </a:tc>
              </a:tr>
              <a:tr h="315468">
                <a:tc>
                  <a:txBody>
                    <a:bodyPr/>
                    <a:lstStyle/>
                    <a:p>
                      <a:pPr indent="0" marL="0">
                        <a:buNone/>
                      </a:pPr>
                      <a:r>
                        <a:rPr lang="en-US" sz="1100" b="1" dirty="0">
                          <a:solidFill>
                            <a:srgbClr val="1B263B"/>
                          </a:solidFill>
                          <a:latin typeface="Calibri" pitchFamily="34" charset="0"/>
                          <a:ea typeface="Calibri" pitchFamily="34" charset="-122"/>
                          <a:cs typeface="Calibri" pitchFamily="34" charset="-120"/>
                        </a:rPr>
                        <a:t>QA-EN</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F6"/>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4.6</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3F8F9"/>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4.3</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9FCFC"/>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4.1</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DFEFE"/>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4.2</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BFDFD"/>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4.7</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1F7F8"/>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4.3</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9FCFC"/>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4.4</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7FBFB"/>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4.2</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BFDFD"/>
                    </a:solidFill>
                  </a:tcPr>
                </a:tc>
                <a:tc>
                  <a:txBody>
                    <a:bodyPr/>
                    <a:lstStyle/>
                    <a:p>
                      <a:pPr algn="ctr" indent="0" marL="0">
                        <a:buNone/>
                      </a:pPr>
                      <a:r>
                        <a:rPr lang="en-US" sz="1100" dirty="0">
                          <a:solidFill>
                            <a:srgbClr val="6B7785"/>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4F6F8"/>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8.2</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ABD1D5"/>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9.4</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93C4C9"/>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8.5</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A5CED2"/>
                    </a:solidFill>
                  </a:tcPr>
                </a:tc>
              </a:tr>
              <a:tr h="315468">
                <a:tc>
                  <a:txBody>
                    <a:bodyPr/>
                    <a:lstStyle/>
                    <a:p>
                      <a:pPr indent="0" marL="0">
                        <a:buNone/>
                      </a:pPr>
                      <a:r>
                        <a:rPr lang="en-US" sz="1100" b="1" dirty="0">
                          <a:solidFill>
                            <a:srgbClr val="1B263B"/>
                          </a:solidFill>
                          <a:latin typeface="Calibri" pitchFamily="34" charset="0"/>
                          <a:ea typeface="Calibri" pitchFamily="34" charset="-122"/>
                          <a:cs typeface="Calibri" pitchFamily="34" charset="-120"/>
                        </a:rPr>
                        <a:t>QA-DE</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F6"/>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4.2</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BFDFD"/>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5.2</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F2F3"/>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4.3</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9FCFC"/>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4.5</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5FAFA"/>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4.3</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9FCFC"/>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4.9</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DF5F6"/>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4.6</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3F8F9"/>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4.6</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3F8F9"/>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7.4</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BDADD"/>
                    </a:solidFill>
                  </a:tcPr>
                </a:tc>
                <a:tc>
                  <a:txBody>
                    <a:bodyPr/>
                    <a:lstStyle/>
                    <a:p>
                      <a:pPr algn="ctr" indent="0" marL="0">
                        <a:buNone/>
                      </a:pPr>
                      <a:r>
                        <a:rPr lang="en-US" sz="1100" dirty="0">
                          <a:solidFill>
                            <a:srgbClr val="6B7785"/>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4F6F8"/>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10.6</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AB7BC"/>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87BEC3"/>
                    </a:solidFill>
                  </a:tcPr>
                </a:tc>
              </a:tr>
              <a:tr h="315468">
                <a:tc>
                  <a:txBody>
                    <a:bodyPr/>
                    <a:lstStyle/>
                    <a:p>
                      <a:pPr indent="0" marL="0">
                        <a:buNone/>
                      </a:pPr>
                      <a:r>
                        <a:rPr lang="en-US" sz="1100" b="1" dirty="0">
                          <a:solidFill>
                            <a:srgbClr val="1B263B"/>
                          </a:solidFill>
                          <a:latin typeface="Calibri" pitchFamily="34" charset="0"/>
                          <a:ea typeface="Calibri" pitchFamily="34" charset="-122"/>
                          <a:cs typeface="Calibri" pitchFamily="34" charset="-120"/>
                        </a:rPr>
                        <a:t>QA-ES</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F6"/>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4.3</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9FCFC"/>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4.4</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7FBFB"/>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4.6</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3F8F9"/>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4.3</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9FCFC"/>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4.3</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9FCFC"/>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4.4</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7FBFB"/>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4.8</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FF6F7"/>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4.5</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5FAFA"/>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8.7</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A1CCD0"/>
                    </a:solidFill>
                  </a:tcPr>
                </a:tc>
                <a:tc>
                  <a:txBody>
                    <a:bodyPr/>
                    <a:lstStyle/>
                    <a:p>
                      <a:pPr algn="ctr" indent="0" marL="0">
                        <a:buNone/>
                      </a:pPr>
                      <a:r>
                        <a:rPr lang="en-US" sz="1100" dirty="0">
                          <a:solidFill>
                            <a:srgbClr val="FFFFFF"/>
                          </a:solidFill>
                          <a:latin typeface="Calibri" pitchFamily="34" charset="0"/>
                          <a:ea typeface="Calibri" pitchFamily="34" charset="-122"/>
                          <a:cs typeface="Calibri" pitchFamily="34" charset="-120"/>
                        </a:rPr>
                        <a:t>10.7</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78B6BB"/>
                    </a:solidFill>
                  </a:tcPr>
                </a:tc>
                <a:tc>
                  <a:txBody>
                    <a:bodyPr/>
                    <a:lstStyle/>
                    <a:p>
                      <a:pPr algn="ctr" indent="0" marL="0">
                        <a:buNone/>
                      </a:pPr>
                      <a:r>
                        <a:rPr lang="en-US" sz="1100" dirty="0">
                          <a:solidFill>
                            <a:srgbClr val="6B7785"/>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4F6F8"/>
                    </a:solidFill>
                  </a:tcPr>
                </a:tc>
                <a:tc>
                  <a:txBody>
                    <a:bodyPr/>
                    <a:lstStyle/>
                    <a:p>
                      <a:pPr algn="ctr" indent="0" marL="0">
                        <a:buNone/>
                      </a:pPr>
                      <a:r>
                        <a:rPr lang="en-US" sz="1100" dirty="0">
                          <a:solidFill>
                            <a:srgbClr val="FFFFFF"/>
                          </a:solidFill>
                          <a:latin typeface="Calibri" pitchFamily="34" charset="0"/>
                          <a:ea typeface="Calibri" pitchFamily="34" charset="-122"/>
                          <a:cs typeface="Calibri" pitchFamily="34" charset="-120"/>
                        </a:rPr>
                        <a:t>13.2</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469BA2"/>
                    </a:solidFill>
                  </a:tcPr>
                </a:tc>
              </a:tr>
              <a:tr h="315468">
                <a:tc>
                  <a:txBody>
                    <a:bodyPr/>
                    <a:lstStyle/>
                    <a:p>
                      <a:pPr indent="0" marL="0">
                        <a:buNone/>
                      </a:pPr>
                      <a:r>
                        <a:rPr lang="en-US" sz="1100" b="1" dirty="0">
                          <a:solidFill>
                            <a:srgbClr val="1B263B"/>
                          </a:solidFill>
                          <a:latin typeface="Calibri" pitchFamily="34" charset="0"/>
                          <a:ea typeface="Calibri" pitchFamily="34" charset="-122"/>
                          <a:cs typeface="Calibri" pitchFamily="34" charset="-120"/>
                        </a:rPr>
                        <a:t>QA-IT</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F6"/>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4.2</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BFDFD"/>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4.5</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5FAFA"/>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4.3</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9FCFC"/>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4.6</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3F8F9"/>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4.3</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9FCFC"/>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4.6</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3F8F9"/>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4.5</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5FAFA"/>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4.6</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3F8F9"/>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8.0</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AFD3D7"/>
                    </a:solidFill>
                  </a:tcPr>
                </a:tc>
                <a:tc>
                  <a:txBody>
                    <a:bodyPr/>
                    <a:lstStyle/>
                    <a:p>
                      <a:pPr algn="ctr" indent="0" marL="0">
                        <a:buNone/>
                      </a:pPr>
                      <a:r>
                        <a:rPr lang="en-US" sz="1100" dirty="0">
                          <a:solidFill>
                            <a:srgbClr val="1B263B"/>
                          </a:solidFill>
                          <a:latin typeface="Calibri" pitchFamily="34" charset="0"/>
                          <a:ea typeface="Calibri" pitchFamily="34" charset="-122"/>
                          <a:cs typeface="Calibri" pitchFamily="34" charset="-120"/>
                        </a:rPr>
                        <a:t>10.2</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82BBC0"/>
                    </a:solidFill>
                  </a:tcPr>
                </a:tc>
                <a:tc>
                  <a:txBody>
                    <a:bodyPr/>
                    <a:lstStyle/>
                    <a:p>
                      <a:pPr algn="ctr" indent="0" marL="0">
                        <a:buNone/>
                      </a:pPr>
                      <a:r>
                        <a:rPr lang="en-US" sz="1100" dirty="0">
                          <a:solidFill>
                            <a:srgbClr val="FFFFFF"/>
                          </a:solidFill>
                          <a:latin typeface="Calibri" pitchFamily="34" charset="0"/>
                          <a:ea typeface="Calibri" pitchFamily="34" charset="-122"/>
                          <a:cs typeface="Calibri" pitchFamily="34" charset="-120"/>
                        </a:rPr>
                        <a:t>13.2</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469BA2"/>
                    </a:solidFill>
                  </a:tcPr>
                </a:tc>
                <a:tc>
                  <a:txBody>
                    <a:bodyPr/>
                    <a:lstStyle/>
                    <a:p>
                      <a:pPr algn="ctr" indent="0" marL="0">
                        <a:buNone/>
                      </a:pPr>
                      <a:r>
                        <a:rPr lang="en-US" sz="1100" dirty="0">
                          <a:solidFill>
                            <a:srgbClr val="6B7785"/>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18288" marR="18288" marT="18288" marB="1828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4F6F8"/>
                    </a:solidFill>
                  </a:tcPr>
                </a:tc>
              </a:tr>
            </a:tbl>
          </a:graphicData>
        </a:graphic>
      </p:graphicFrame>
      <p:sp>
        <p:nvSpPr>
          <p:cNvPr id="5" name="card-82"/>
          <p:cNvSpPr/>
          <p:nvPr/>
        </p:nvSpPr>
        <p:spPr>
          <a:xfrm>
            <a:off x="7818120" y="1234440"/>
            <a:ext cx="3824935" cy="896112"/>
          </a:xfrm>
          <a:prstGeom prst="roundRect">
            <a:avLst>
              <a:gd name="adj" fmla="val 12245"/>
            </a:avLst>
          </a:prstGeom>
          <a:solidFill>
            <a:schemeClr val="bg2"/>
          </a:solidFill>
          <a:ln w="12700">
            <a:solidFill>
              <a:schemeClr val="bg2"/>
            </a:solidFill>
            <a:prstDash val="solid"/>
          </a:ln>
        </p:spPr>
      </p:sp>
      <p:sp>
        <p:nvSpPr>
          <p:cNvPr id="6" name="text-83"/>
          <p:cNvSpPr txBox="1"/>
          <p:nvPr/>
        </p:nvSpPr>
        <p:spPr>
          <a:xfrm>
            <a:off x="8046720" y="1234440"/>
            <a:ext cx="1234440" cy="896112"/>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10.2%</a:t>
            </a:r>
            <a:endParaRPr lang="en-US" sz="2600" dirty="0"/>
          </a:p>
        </p:txBody>
      </p:sp>
      <p:sp>
        <p:nvSpPr>
          <p:cNvPr id="7" name="text-84"/>
          <p:cNvSpPr txBox="1"/>
          <p:nvPr/>
        </p:nvSpPr>
        <p:spPr>
          <a:xfrm>
            <a:off x="9326880" y="1234440"/>
            <a:ext cx="2133295" cy="896112"/>
          </a:xfrm>
          <a:prstGeom prst="rect">
            <a:avLst/>
          </a:prstGeom>
          <a:noFill/>
          <a:ln/>
        </p:spPr>
        <p:txBody>
          <a:bodyPr wrap="square" lIns="0" tIns="0" rIns="0" bIns="0" rtlCol="0" anchor="ctr"/>
          <a:lstStyle/>
          <a:p>
            <a:pPr indent="0" marL="0">
              <a:buNone/>
            </a:pPr>
            <a:r>
              <a:rPr lang="en-US" sz="1400" dirty="0">
                <a:solidFill>
                  <a:schemeClr val="tx1"/>
                </a:solidFill>
              </a:rPr>
              <a:t>same task type (cosine 0.16)</a:t>
            </a:r>
            <a:endParaRPr lang="en-US" sz="1400" dirty="0"/>
          </a:p>
        </p:txBody>
      </p:sp>
      <p:sp>
        <p:nvSpPr>
          <p:cNvPr id="8" name="card-85"/>
          <p:cNvSpPr/>
          <p:nvPr/>
        </p:nvSpPr>
        <p:spPr>
          <a:xfrm>
            <a:off x="7818120" y="2258568"/>
            <a:ext cx="3824935" cy="896112"/>
          </a:xfrm>
          <a:prstGeom prst="roundRect">
            <a:avLst>
              <a:gd name="adj" fmla="val 12245"/>
            </a:avLst>
          </a:prstGeom>
          <a:solidFill>
            <a:schemeClr val="bg2"/>
          </a:solidFill>
          <a:ln w="12700">
            <a:solidFill>
              <a:schemeClr val="bg2"/>
            </a:solidFill>
            <a:prstDash val="solid"/>
          </a:ln>
        </p:spPr>
      </p:sp>
      <p:sp>
        <p:nvSpPr>
          <p:cNvPr id="9" name="text-86"/>
          <p:cNvSpPr txBox="1"/>
          <p:nvPr/>
        </p:nvSpPr>
        <p:spPr>
          <a:xfrm>
            <a:off x="8046720" y="2258568"/>
            <a:ext cx="1234440" cy="896112"/>
          </a:xfrm>
          <a:prstGeom prst="rect">
            <a:avLst/>
          </a:prstGeom>
          <a:noFill/>
          <a:ln/>
        </p:spPr>
        <p:txBody>
          <a:bodyPr wrap="square" lIns="0" tIns="0" rIns="0" bIns="0" rtlCol="0" anchor="ctr"/>
          <a:lstStyle/>
          <a:p>
            <a:pPr indent="0" marL="0">
              <a:buNone/>
            </a:pPr>
            <a:r>
              <a:rPr lang="en-US" sz="2600" b="1" dirty="0">
                <a:solidFill>
                  <a:schemeClr val="tx1"/>
                </a:solidFill>
                <a:latin typeface="Cambria" pitchFamily="34" charset="0"/>
                <a:ea typeface="Cambria" pitchFamily="34" charset="-122"/>
                <a:cs typeface="Cambria" pitchFamily="34" charset="-120"/>
              </a:rPr>
              <a:t>4.9%</a:t>
            </a:r>
            <a:endParaRPr lang="en-US" sz="2600" dirty="0"/>
          </a:p>
        </p:txBody>
      </p:sp>
      <p:sp>
        <p:nvSpPr>
          <p:cNvPr id="10" name="text-87"/>
          <p:cNvSpPr txBox="1"/>
          <p:nvPr/>
        </p:nvSpPr>
        <p:spPr>
          <a:xfrm>
            <a:off x="9326880" y="2258568"/>
            <a:ext cx="2133295" cy="896112"/>
          </a:xfrm>
          <a:prstGeom prst="rect">
            <a:avLst/>
          </a:prstGeom>
          <a:noFill/>
          <a:ln/>
        </p:spPr>
        <p:txBody>
          <a:bodyPr wrap="square" lIns="0" tIns="0" rIns="0" bIns="0" rtlCol="0" anchor="ctr"/>
          <a:lstStyle/>
          <a:p>
            <a:pPr indent="0" marL="0">
              <a:buNone/>
            </a:pPr>
            <a:r>
              <a:rPr lang="en-US" sz="1400" dirty="0">
                <a:solidFill>
                  <a:schemeClr val="tx1"/>
                </a:solidFill>
              </a:rPr>
              <a:t>same language, different task (cosine 0.02)</a:t>
            </a:r>
            <a:endParaRPr lang="en-US" sz="1400" dirty="0"/>
          </a:p>
        </p:txBody>
      </p:sp>
      <p:sp>
        <p:nvSpPr>
          <p:cNvPr id="11" name="card-88"/>
          <p:cNvSpPr/>
          <p:nvPr/>
        </p:nvSpPr>
        <p:spPr>
          <a:xfrm>
            <a:off x="7818120" y="3282696"/>
            <a:ext cx="3824935" cy="896112"/>
          </a:xfrm>
          <a:prstGeom prst="roundRect">
            <a:avLst>
              <a:gd name="adj" fmla="val 12245"/>
            </a:avLst>
          </a:prstGeom>
          <a:solidFill>
            <a:schemeClr val="bg2"/>
          </a:solidFill>
          <a:ln w="12700">
            <a:solidFill>
              <a:schemeClr val="bg2"/>
            </a:solidFill>
            <a:prstDash val="solid"/>
          </a:ln>
        </p:spPr>
      </p:sp>
      <p:sp>
        <p:nvSpPr>
          <p:cNvPr id="12" name="text-89"/>
          <p:cNvSpPr txBox="1"/>
          <p:nvPr/>
        </p:nvSpPr>
        <p:spPr>
          <a:xfrm>
            <a:off x="8046720" y="3282696"/>
            <a:ext cx="1234440" cy="896112"/>
          </a:xfrm>
          <a:prstGeom prst="rect">
            <a:avLst/>
          </a:prstGeom>
          <a:noFill/>
          <a:ln/>
        </p:spPr>
        <p:txBody>
          <a:bodyPr wrap="square" lIns="0" tIns="0" rIns="0" bIns="0" rtlCol="0" anchor="ctr"/>
          <a:lstStyle/>
          <a:p>
            <a:pPr indent="0" marL="0">
              <a:buNone/>
            </a:pPr>
            <a:r>
              <a:rPr lang="en-US" sz="2600" b="1" dirty="0">
                <a:solidFill>
                  <a:schemeClr val="tx1"/>
                </a:solidFill>
                <a:latin typeface="Cambria" pitchFamily="34" charset="0"/>
                <a:ea typeface="Cambria" pitchFamily="34" charset="-122"/>
                <a:cs typeface="Cambria" pitchFamily="34" charset="-120"/>
              </a:rPr>
              <a:t>4.5%</a:t>
            </a:r>
            <a:endParaRPr lang="en-US" sz="2600" dirty="0"/>
          </a:p>
        </p:txBody>
      </p:sp>
      <p:sp>
        <p:nvSpPr>
          <p:cNvPr id="13" name="text-90"/>
          <p:cNvSpPr txBox="1"/>
          <p:nvPr/>
        </p:nvSpPr>
        <p:spPr>
          <a:xfrm>
            <a:off x="9326880" y="3282696"/>
            <a:ext cx="2133295" cy="896112"/>
          </a:xfrm>
          <a:prstGeom prst="rect">
            <a:avLst/>
          </a:prstGeom>
          <a:noFill/>
          <a:ln/>
        </p:spPr>
        <p:txBody>
          <a:bodyPr wrap="square" lIns="0" tIns="0" rIns="0" bIns="0" rtlCol="0" anchor="ctr"/>
          <a:lstStyle/>
          <a:p>
            <a:pPr indent="0" marL="0">
              <a:buNone/>
            </a:pPr>
            <a:r>
              <a:rPr lang="en-US" sz="1400" dirty="0">
                <a:solidFill>
                  <a:schemeClr val="tx1"/>
                </a:solidFill>
              </a:rPr>
              <a:t>different task and language (cosine 0.02)</a:t>
            </a:r>
            <a:endParaRPr lang="en-US" sz="1400" dirty="0"/>
          </a:p>
        </p:txBody>
      </p:sp>
      <p:sp>
        <p:nvSpPr>
          <p:cNvPr id="14" name="outline-91"/>
          <p:cNvSpPr/>
          <p:nvPr/>
        </p:nvSpPr>
        <p:spPr>
          <a:xfrm>
            <a:off x="7818120" y="4389120"/>
            <a:ext cx="3824935" cy="1325880"/>
          </a:xfrm>
          <a:prstGeom prst="roundRect">
            <a:avLst>
              <a:gd name="adj" fmla="val 8276"/>
            </a:avLst>
          </a:prstGeom>
          <a:solidFill>
            <a:schemeClr val="bg1"/>
          </a:solidFill>
          <a:ln w="15875">
            <a:solidFill>
              <a:schemeClr val="accent1"/>
            </a:solidFill>
            <a:prstDash val="solid"/>
          </a:ln>
        </p:spPr>
      </p:sp>
      <p:sp>
        <p:nvSpPr>
          <p:cNvPr id="15" name="text-92"/>
          <p:cNvSpPr txBox="1"/>
          <p:nvPr/>
        </p:nvSpPr>
        <p:spPr>
          <a:xfrm>
            <a:off x="8019288" y="4434840"/>
            <a:ext cx="3422599" cy="1234440"/>
          </a:xfrm>
          <a:prstGeom prst="rect">
            <a:avLst/>
          </a:prstGeom>
          <a:noFill/>
          <a:ln/>
        </p:spPr>
        <p:txBody>
          <a:bodyPr wrap="square" lIns="0" tIns="0" rIns="0" bIns="0" rtlCol="0" anchor="ctr"/>
          <a:lstStyle/>
          <a:p>
            <a:pPr indent="0" marL="0">
              <a:buNone/>
            </a:pPr>
            <a:r>
              <a:rPr lang="en-US" sz="1400" b="1" dirty="0">
                <a:solidFill>
                  <a:schemeClr val="tx1"/>
                </a:solidFill>
              </a:rPr>
              <a:t>Same language adds almost nothing </a:t>
            </a:r>
            <a:pPr indent="0" marL="0">
              <a:buNone/>
            </a:pPr>
            <a:r>
              <a:rPr lang="en-US" sz="1400" dirty="0">
                <a:solidFill>
                  <a:schemeClr val="tx1"/>
                </a:solidFill>
              </a:rPr>
              <a:t>over unrelated pairs (4.9% vs 4.5%). Closest pair: Spanish → Italian summaries, 15.8%. Part answer to your RQ7: the geometry is organised by task, not language.</a:t>
            </a:r>
            <a:endParaRPr lang="en-US" sz="1400" dirty="0"/>
          </a:p>
        </p:txBody>
      </p:sp>
      <p:sp>
        <p:nvSpPr>
          <p:cNvPr id="16" name="text-93"/>
          <p:cNvSpPr txBox="1"/>
          <p:nvPr/>
        </p:nvSpPr>
        <p:spPr>
          <a:xfrm>
            <a:off x="548640" y="5897880"/>
            <a:ext cx="11094415" cy="365760"/>
          </a:xfrm>
          <a:prstGeom prst="rect">
            <a:avLst/>
          </a:prstGeom>
          <a:noFill/>
          <a:ln/>
        </p:spPr>
        <p:txBody>
          <a:bodyPr wrap="square" lIns="0" tIns="0" rIns="0" bIns="0" rtlCol="0" anchor="t"/>
          <a:lstStyle/>
          <a:p>
            <a:pPr indent="0" marL="0">
              <a:buNone/>
            </a:pPr>
            <a:r>
              <a:rPr lang="en-US" sz="1200" i="1" dirty="0">
                <a:solidFill>
                  <a:schemeClr val="tx1"/>
                </a:solidFill>
              </a:rPr>
              <a:t>Real adapters, seed 0, all 28 layers × q, k, v, o; 132 ordered pairs. GEC = grammar correction, SUM = summaries, QA = question answering.</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Result 3: demand vs cosine as a damage predictor</a:t>
            </a:r>
            <a:endParaRPr lang="en-US" sz="3000" dirty="0"/>
          </a:p>
        </p:txBody>
      </p:sp>
      <p:graphicFrame>
        <p:nvGraphicFramePr>
          <p:cNvPr id="3" name="Chart 0" descr=""/>
          <p:cNvGraphicFramePr/>
          <p:nvPr/>
        </p:nvGraphicFramePr>
        <p:xfrm>
          <a:off x="548640" y="1188720"/>
          <a:ext cx="6629400" cy="4572000"/>
        </p:xfrm>
        <a:graphic xmlns:a="http://schemas.openxmlformats.org/drawingml/2006/main">
          <a:graphicData uri="http://schemas.openxmlformats.org/drawingml/2006/chart">
            <c:chart xmlns:c="http://schemas.openxmlformats.org/drawingml/2006/chart" r:id="rId1"/>
          </a:graphicData>
        </a:graphic>
      </p:graphicFrame>
      <p:sp>
        <p:nvSpPr>
          <p:cNvPr id="4" name="text-94"/>
          <p:cNvSpPr txBox="1"/>
          <p:nvPr/>
        </p:nvSpPr>
        <p:spPr>
          <a:xfrm>
            <a:off x="7498080" y="1234440"/>
            <a:ext cx="4144975" cy="36576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Demand minus cosine (95% interval)</a:t>
            </a:r>
            <a:endParaRPr lang="en-US" sz="1600" dirty="0"/>
          </a:p>
        </p:txBody>
      </p:sp>
      <p:sp>
        <p:nvSpPr>
          <p:cNvPr id="5" name="card-95"/>
          <p:cNvSpPr/>
          <p:nvPr/>
        </p:nvSpPr>
        <p:spPr>
          <a:xfrm>
            <a:off x="7498080" y="1691640"/>
            <a:ext cx="4144975" cy="804672"/>
          </a:xfrm>
          <a:prstGeom prst="roundRect">
            <a:avLst>
              <a:gd name="adj" fmla="val 13636"/>
            </a:avLst>
          </a:prstGeom>
          <a:solidFill>
            <a:schemeClr val="bg2"/>
          </a:solidFill>
          <a:ln w="12700">
            <a:solidFill>
              <a:schemeClr val="bg2"/>
            </a:solidFill>
            <a:prstDash val="solid"/>
          </a:ln>
        </p:spPr>
      </p:sp>
      <p:sp>
        <p:nvSpPr>
          <p:cNvPr id="6" name="text-96"/>
          <p:cNvSpPr txBox="1"/>
          <p:nvPr/>
        </p:nvSpPr>
        <p:spPr>
          <a:xfrm>
            <a:off x="7699248" y="1691640"/>
            <a:ext cx="2514600" cy="804672"/>
          </a:xfrm>
          <a:prstGeom prst="rect">
            <a:avLst/>
          </a:prstGeom>
          <a:noFill/>
          <a:ln/>
        </p:spPr>
        <p:txBody>
          <a:bodyPr wrap="square" lIns="0" tIns="0" rIns="0" bIns="0" rtlCol="0" anchor="ctr"/>
          <a:lstStyle/>
          <a:p>
            <a:pPr indent="0" marL="0">
              <a:buNone/>
            </a:pPr>
            <a:r>
              <a:rPr lang="en-US" sz="1500" b="1" dirty="0">
                <a:solidFill>
                  <a:schemeClr val="tx1"/>
                </a:solidFill>
              </a:rPr>
              <a:t>0.5B lab</a:t>
            </a:r>
            <a:endParaRPr lang="en-US" sz="1500" dirty="0"/>
          </a:p>
          <a:p>
            <a:pPr indent="0" marL="0">
              <a:buNone/>
            </a:pPr>
            <a:r>
              <a:rPr lang="en-US" sz="1500" dirty="0">
                <a:solidFill>
                  <a:schemeClr val="tx1"/>
                </a:solidFill>
              </a:rPr>
              <a:t>+0.14  (+0.01 to +0.32)</a:t>
            </a:r>
            <a:endParaRPr lang="en-US" sz="1500" dirty="0"/>
          </a:p>
        </p:txBody>
      </p:sp>
      <p:sp>
        <p:nvSpPr>
          <p:cNvPr id="7" name="text-97"/>
          <p:cNvSpPr txBox="1"/>
          <p:nvPr/>
        </p:nvSpPr>
        <p:spPr>
          <a:xfrm>
            <a:off x="10195560" y="1691640"/>
            <a:ext cx="1310335" cy="804672"/>
          </a:xfrm>
          <a:prstGeom prst="rect">
            <a:avLst/>
          </a:prstGeom>
          <a:noFill/>
          <a:ln/>
        </p:spPr>
        <p:txBody>
          <a:bodyPr wrap="square" lIns="0" tIns="0" rIns="0" bIns="0" rtlCol="0" anchor="ctr"/>
          <a:lstStyle/>
          <a:p>
            <a:pPr algn="r" indent="0" marL="0">
              <a:buNone/>
            </a:pPr>
            <a:r>
              <a:rPr lang="en-US" sz="1500" b="1" dirty="0">
                <a:solidFill>
                  <a:schemeClr val="accent1"/>
                </a:solidFill>
              </a:rPr>
              <a:t>Better</a:t>
            </a:r>
            <a:endParaRPr lang="en-US" sz="1500" dirty="0"/>
          </a:p>
        </p:txBody>
      </p:sp>
      <p:sp>
        <p:nvSpPr>
          <p:cNvPr id="8" name="card-98"/>
          <p:cNvSpPr/>
          <p:nvPr/>
        </p:nvSpPr>
        <p:spPr>
          <a:xfrm>
            <a:off x="7498080" y="2606040"/>
            <a:ext cx="4144975" cy="804672"/>
          </a:xfrm>
          <a:prstGeom prst="roundRect">
            <a:avLst>
              <a:gd name="adj" fmla="val 13636"/>
            </a:avLst>
          </a:prstGeom>
          <a:solidFill>
            <a:schemeClr val="bg2"/>
          </a:solidFill>
          <a:ln w="12700">
            <a:solidFill>
              <a:schemeClr val="bg2"/>
            </a:solidFill>
            <a:prstDash val="solid"/>
          </a:ln>
        </p:spPr>
      </p:sp>
      <p:sp>
        <p:nvSpPr>
          <p:cNvPr id="9" name="text-99"/>
          <p:cNvSpPr txBox="1"/>
          <p:nvPr/>
        </p:nvSpPr>
        <p:spPr>
          <a:xfrm>
            <a:off x="7699248" y="2606040"/>
            <a:ext cx="2514600" cy="804672"/>
          </a:xfrm>
          <a:prstGeom prst="rect">
            <a:avLst/>
          </a:prstGeom>
          <a:noFill/>
          <a:ln/>
        </p:spPr>
        <p:txBody>
          <a:bodyPr wrap="square" lIns="0" tIns="0" rIns="0" bIns="0" rtlCol="0" anchor="ctr"/>
          <a:lstStyle/>
          <a:p>
            <a:pPr indent="0" marL="0">
              <a:buNone/>
            </a:pPr>
            <a:r>
              <a:rPr lang="en-US" sz="1500" b="1" dirty="0">
                <a:solidFill>
                  <a:schemeClr val="tx1"/>
                </a:solidFill>
              </a:rPr>
              <a:t>1.5B lab</a:t>
            </a:r>
            <a:endParaRPr lang="en-US" sz="1500" dirty="0"/>
          </a:p>
          <a:p>
            <a:pPr indent="0" marL="0">
              <a:buNone/>
            </a:pPr>
            <a:r>
              <a:rPr lang="en-US" sz="1500" dirty="0">
                <a:solidFill>
                  <a:schemeClr val="tx1"/>
                </a:solidFill>
              </a:rPr>
              <a:t>+0.09  (−0.11 to +0.31)</a:t>
            </a:r>
            <a:endParaRPr lang="en-US" sz="1500" dirty="0"/>
          </a:p>
        </p:txBody>
      </p:sp>
      <p:sp>
        <p:nvSpPr>
          <p:cNvPr id="10" name="text-100"/>
          <p:cNvSpPr txBox="1"/>
          <p:nvPr/>
        </p:nvSpPr>
        <p:spPr>
          <a:xfrm>
            <a:off x="10195560" y="2606040"/>
            <a:ext cx="1310335" cy="804672"/>
          </a:xfrm>
          <a:prstGeom prst="rect">
            <a:avLst/>
          </a:prstGeom>
          <a:noFill/>
          <a:ln/>
        </p:spPr>
        <p:txBody>
          <a:bodyPr wrap="square" lIns="0" tIns="0" rIns="0" bIns="0" rtlCol="0" anchor="ctr"/>
          <a:lstStyle/>
          <a:p>
            <a:pPr algn="r" indent="0" marL="0">
              <a:buNone/>
            </a:pPr>
            <a:r>
              <a:rPr lang="en-US" sz="1500" b="1" dirty="0">
                <a:solidFill>
                  <a:schemeClr val="accent5"/>
                </a:solidFill>
              </a:rPr>
              <a:t>Not significant</a:t>
            </a:r>
            <a:endParaRPr lang="en-US" sz="1500" dirty="0"/>
          </a:p>
        </p:txBody>
      </p:sp>
      <p:sp>
        <p:nvSpPr>
          <p:cNvPr id="11" name="card-101"/>
          <p:cNvSpPr/>
          <p:nvPr/>
        </p:nvSpPr>
        <p:spPr>
          <a:xfrm>
            <a:off x="7498080" y="3520440"/>
            <a:ext cx="4144975" cy="804672"/>
          </a:xfrm>
          <a:prstGeom prst="roundRect">
            <a:avLst>
              <a:gd name="adj" fmla="val 13636"/>
            </a:avLst>
          </a:prstGeom>
          <a:solidFill>
            <a:schemeClr val="bg2"/>
          </a:solidFill>
          <a:ln w="12700">
            <a:solidFill>
              <a:schemeClr val="bg2"/>
            </a:solidFill>
            <a:prstDash val="solid"/>
          </a:ln>
        </p:spPr>
      </p:sp>
      <p:sp>
        <p:nvSpPr>
          <p:cNvPr id="12" name="text-102"/>
          <p:cNvSpPr txBox="1"/>
          <p:nvPr/>
        </p:nvSpPr>
        <p:spPr>
          <a:xfrm>
            <a:off x="7699248" y="3520440"/>
            <a:ext cx="2514600" cy="804672"/>
          </a:xfrm>
          <a:prstGeom prst="rect">
            <a:avLst/>
          </a:prstGeom>
          <a:noFill/>
          <a:ln/>
        </p:spPr>
        <p:txBody>
          <a:bodyPr wrap="square" lIns="0" tIns="0" rIns="0" bIns="0" rtlCol="0" anchor="ctr"/>
          <a:lstStyle/>
          <a:p>
            <a:pPr indent="0" marL="0">
              <a:buNone/>
            </a:pPr>
            <a:r>
              <a:rPr lang="en-US" sz="1500" b="1" dirty="0">
                <a:solidFill>
                  <a:schemeClr val="tx1"/>
                </a:solidFill>
              </a:rPr>
              <a:t>12 real tasks</a:t>
            </a:r>
            <a:endParaRPr lang="en-US" sz="1500" dirty="0"/>
          </a:p>
          <a:p>
            <a:pPr indent="0" marL="0">
              <a:buNone/>
            </a:pPr>
            <a:r>
              <a:rPr lang="en-US" sz="1500" dirty="0">
                <a:solidFill>
                  <a:schemeClr val="tx1"/>
                </a:solidFill>
              </a:rPr>
              <a:t>−0.03  (−0.06 to +0.004)</a:t>
            </a:r>
            <a:endParaRPr lang="en-US" sz="1500" dirty="0"/>
          </a:p>
        </p:txBody>
      </p:sp>
      <p:sp>
        <p:nvSpPr>
          <p:cNvPr id="13" name="text-103"/>
          <p:cNvSpPr txBox="1"/>
          <p:nvPr/>
        </p:nvSpPr>
        <p:spPr>
          <a:xfrm>
            <a:off x="10195560" y="3520440"/>
            <a:ext cx="1310335" cy="804672"/>
          </a:xfrm>
          <a:prstGeom prst="rect">
            <a:avLst/>
          </a:prstGeom>
          <a:noFill/>
          <a:ln/>
        </p:spPr>
        <p:txBody>
          <a:bodyPr wrap="square" lIns="0" tIns="0" rIns="0" bIns="0" rtlCol="0" anchor="ctr"/>
          <a:lstStyle/>
          <a:p>
            <a:pPr algn="r" indent="0" marL="0">
              <a:buNone/>
            </a:pPr>
            <a:r>
              <a:rPr lang="en-US" sz="1500" b="1" dirty="0">
                <a:solidFill>
                  <a:schemeClr val="accent2"/>
                </a:solidFill>
              </a:rPr>
              <a:t>Not better</a:t>
            </a:r>
            <a:endParaRPr lang="en-US" sz="1500" dirty="0"/>
          </a:p>
        </p:txBody>
      </p:sp>
      <p:sp>
        <p:nvSpPr>
          <p:cNvPr id="14" name="outline-104"/>
          <p:cNvSpPr/>
          <p:nvPr/>
        </p:nvSpPr>
        <p:spPr>
          <a:xfrm>
            <a:off x="7498080" y="4526280"/>
            <a:ext cx="4144975" cy="566928"/>
          </a:xfrm>
          <a:prstGeom prst="roundRect">
            <a:avLst>
              <a:gd name="adj" fmla="val 19355"/>
            </a:avLst>
          </a:prstGeom>
          <a:solidFill>
            <a:schemeClr val="bg1"/>
          </a:solidFill>
          <a:ln w="19050">
            <a:solidFill>
              <a:schemeClr val="accent2"/>
            </a:solidFill>
            <a:prstDash val="solid"/>
          </a:ln>
        </p:spPr>
      </p:sp>
      <p:sp>
        <p:nvSpPr>
          <p:cNvPr id="15" name="text-105"/>
          <p:cNvSpPr txBox="1"/>
          <p:nvPr/>
        </p:nvSpPr>
        <p:spPr>
          <a:xfrm>
            <a:off x="7699248" y="4526280"/>
            <a:ext cx="3742639" cy="566928"/>
          </a:xfrm>
          <a:prstGeom prst="rect">
            <a:avLst/>
          </a:prstGeom>
          <a:noFill/>
          <a:ln/>
        </p:spPr>
        <p:txBody>
          <a:bodyPr wrap="square" lIns="0" tIns="0" rIns="0" bIns="0" rtlCol="0" anchor="ctr"/>
          <a:lstStyle/>
          <a:p>
            <a:pPr indent="0" marL="0">
              <a:buNone/>
            </a:pPr>
            <a:r>
              <a:rPr lang="en-US" sz="1800" b="1" dirty="0">
                <a:solidFill>
                  <a:schemeClr val="accent2"/>
                </a:solidFill>
              </a:rPr>
              <a:t>Pass rule: not met</a:t>
            </a:r>
            <a:endParaRPr lang="en-US" sz="1800" dirty="0"/>
          </a:p>
        </p:txBody>
      </p:sp>
      <p:sp>
        <p:nvSpPr>
          <p:cNvPr id="16" name="text-106"/>
          <p:cNvSpPr txBox="1"/>
          <p:nvPr/>
        </p:nvSpPr>
        <p:spPr>
          <a:xfrm>
            <a:off x="7498080" y="5212080"/>
            <a:ext cx="4144975" cy="548640"/>
          </a:xfrm>
          <a:prstGeom prst="rect">
            <a:avLst/>
          </a:prstGeom>
          <a:noFill/>
          <a:ln/>
        </p:spPr>
        <p:txBody>
          <a:bodyPr wrap="square" lIns="0" tIns="0" rIns="0" bIns="0" rtlCol="0" anchor="t"/>
          <a:lstStyle/>
          <a:p>
            <a:pPr indent="0" marL="0">
              <a:buNone/>
            </a:pPr>
            <a:r>
              <a:rPr lang="en-US" sz="1300" dirty="0">
                <a:solidFill>
                  <a:schemeClr val="tx1"/>
                </a:solidFill>
              </a:rPr>
              <a:t>With the 3-task slots added: 0.5B +0.14 (+0.06 to +0.24); 1.5B +0.06 (−0.06 to +0.18).</a:t>
            </a:r>
            <a:endParaRPr lang="en-US" sz="1300" dirty="0"/>
          </a:p>
        </p:txBody>
      </p:sp>
      <p:sp>
        <p:nvSpPr>
          <p:cNvPr id="17" name="text-107"/>
          <p:cNvSpPr txBox="1"/>
          <p:nvPr/>
        </p:nvSpPr>
        <p:spPr>
          <a:xfrm>
            <a:off x="548640" y="5870448"/>
            <a:ext cx="11094415" cy="457200"/>
          </a:xfrm>
          <a:prstGeom prst="rect">
            <a:avLst/>
          </a:prstGeom>
          <a:noFill/>
          <a:ln/>
        </p:spPr>
        <p:txBody>
          <a:bodyPr wrap="square" lIns="0" tIns="0" rIns="0" bIns="0" rtlCol="0" anchor="t"/>
          <a:lstStyle/>
          <a:p>
            <a:pPr indent="0" marL="0">
              <a:buNone/>
            </a:pPr>
            <a:r>
              <a:rPr lang="en-US" sz="1200" i="1" dirty="0">
                <a:solidFill>
                  <a:schemeClr val="tx1"/>
                </a:solidFill>
              </a:rPr>
              <a:t>Cosine enters with its sign flipped, so for both scores a higher value should mean more damage. Intervals: cluster bootstrap, 1,000 draws, both tasks of a merge resampled together. Cases: 36, 36, 86.</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Check: the 90% cut-off does not change the answer</a:t>
            </a:r>
            <a:endParaRPr lang="en-US" sz="3000" dirty="0"/>
          </a:p>
        </p:txBody>
      </p:sp>
      <p:graphicFrame>
        <p:nvGraphicFramePr>
          <p:cNvPr id="10" name="cutoff-table"/>
          <p:cNvGraphicFramePr>
            <a:graphicFrameLocks noGrp="1"/>
          </p:cNvGraphicFramePr>
          <p:nvPr>
            <p:extLst>
              <p:ext uri="{D42A27DB-BD31-4B8C-83A1-F6EECF244321}">
                <p14:modId xmlns:p14="http://schemas.microsoft.com/office/powerpoint/2010/main" val="1579011935"/>
              </p:ext>
            </p:extLst>
          </p:nvPr>
        </p:nvGraphicFramePr>
        <p:xfrm>
          <a:off x="548640" y="1188720"/>
          <a:ext cx="11094415" cy="914400"/>
        </p:xfrm>
        <a:graphic>
          <a:graphicData uri="http://schemas.openxmlformats.org/drawingml/2006/table">
            <a:tbl>
              <a:tblPr/>
              <a:tblGrid>
                <a:gridCol w="1828800"/>
                <a:gridCol w="1417320"/>
                <a:gridCol w="1508760"/>
                <a:gridCol w="1508760"/>
                <a:gridCol w="1609344"/>
                <a:gridCol w="1609344"/>
                <a:gridCol w="1612087"/>
              </a:tblGrid>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Energy cut-off</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B263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New share, real tasks</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B263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Lowest new share, all 221 cases</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B263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k_new vs k_self, real tasks</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B263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Demand − cosine: 0.5B lab</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B263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1.5B lab</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B263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12 real tasks</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B263B"/>
                    </a:solidFill>
                  </a:tcPr>
                </a:tc>
              </a:tr>
              <a:tr h="658368">
                <a:tc>
                  <a:txBody>
                    <a:bodyPr/>
                    <a:lstStyle/>
                    <a:p>
                      <a:pPr indent="0" marL="0">
                        <a:buNone/>
                      </a:pPr>
                      <a:r>
                        <a:rPr lang="en-US" sz="1400" b="1" dirty="0">
                          <a:solidFill>
                            <a:srgbClr val="1B263B"/>
                          </a:solidFill>
                          <a:latin typeface="Calibri" pitchFamily="34" charset="0"/>
                          <a:ea typeface="Calibri" pitchFamily="34" charset="-122"/>
                          <a:cs typeface="Calibri" pitchFamily="34" charset="-120"/>
                        </a:rPr>
                        <a:t>80%</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63B"/>
                          </a:solidFill>
                          <a:latin typeface="Calibri" pitchFamily="34" charset="0"/>
                          <a:ea typeface="Calibri" pitchFamily="34" charset="-122"/>
                          <a:cs typeface="Calibri" pitchFamily="34" charset="-120"/>
                        </a:rPr>
                        <a:t>91.6%</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63B"/>
                          </a:solidFill>
                          <a:latin typeface="Calibri" pitchFamily="34" charset="0"/>
                          <a:ea typeface="Calibri" pitchFamily="34" charset="-122"/>
                          <a:cs typeface="Calibri" pitchFamily="34" charset="-120"/>
                        </a:rPr>
                        <a:t>83.5%</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63B"/>
                          </a:solidFill>
                          <a:latin typeface="Calibri" pitchFamily="34" charset="0"/>
                          <a:ea typeface="Calibri" pitchFamily="34" charset="-122"/>
                          <a:cs typeface="Calibri" pitchFamily="34" charset="-120"/>
                        </a:rPr>
                        <a:t>11.0 vs 10.8</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0E7C86"/>
                          </a:solidFill>
                          <a:latin typeface="Calibri" pitchFamily="34" charset="0"/>
                          <a:ea typeface="Calibri" pitchFamily="34" charset="-122"/>
                          <a:cs typeface="Calibri" pitchFamily="34" charset="-120"/>
                        </a:rPr>
                        <a:t>+0.16</a:t>
                      </a:r>
                      <a:endParaRPr lang="en-US" sz="1200" dirty="0">
                        <a:latin typeface="Calibri" charset="0"/>
                        <a:ea typeface="Calibri" charset="0"/>
                        <a:cs typeface="Calibri" charset="0"/>
                      </a:endParaRPr>
                    </a:p>
                    <a:p>
                      <a:pPr algn="ctr" indent="0" marL="0">
                        <a:buNone/>
                      </a:pPr>
                      <a:r>
                        <a:rPr lang="en-US" sz="1100" dirty="0">
                          <a:solidFill>
                            <a:srgbClr val="6B7785"/>
                          </a:solidFill>
                          <a:latin typeface="Calibri" pitchFamily="34" charset="0"/>
                          <a:ea typeface="Calibri" pitchFamily="34" charset="-122"/>
                          <a:cs typeface="Calibri" pitchFamily="34" charset="-120"/>
                        </a:rPr>
                        <a:t>(+0.05 to +0.34)</a:t>
                      </a:r>
                      <a:endParaRPr lang="en-US" sz="12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6B7785"/>
                          </a:solidFill>
                          <a:latin typeface="Calibri" pitchFamily="34" charset="0"/>
                          <a:ea typeface="Calibri" pitchFamily="34" charset="-122"/>
                          <a:cs typeface="Calibri" pitchFamily="34" charset="-120"/>
                        </a:rPr>
                        <a:t>+0.11</a:t>
                      </a:r>
                      <a:endParaRPr lang="en-US" sz="1200" dirty="0">
                        <a:latin typeface="Calibri" charset="0"/>
                        <a:ea typeface="Calibri" charset="0"/>
                        <a:cs typeface="Calibri" charset="0"/>
                      </a:endParaRPr>
                    </a:p>
                    <a:p>
                      <a:pPr algn="ctr" indent="0" marL="0">
                        <a:buNone/>
                      </a:pPr>
                      <a:r>
                        <a:rPr lang="en-US" sz="1100" dirty="0">
                          <a:solidFill>
                            <a:srgbClr val="6B7785"/>
                          </a:solidFill>
                          <a:latin typeface="Calibri" pitchFamily="34" charset="0"/>
                          <a:ea typeface="Calibri" pitchFamily="34" charset="-122"/>
                          <a:cs typeface="Calibri" pitchFamily="34" charset="-120"/>
                        </a:rPr>
                        <a:t>(−0.08 to +0.36)</a:t>
                      </a:r>
                      <a:endParaRPr lang="en-US" sz="12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6B7785"/>
                          </a:solidFill>
                          <a:latin typeface="Calibri" pitchFamily="34" charset="0"/>
                          <a:ea typeface="Calibri" pitchFamily="34" charset="-122"/>
                          <a:cs typeface="Calibri" pitchFamily="34" charset="-120"/>
                        </a:rPr>
                        <a:t>−0.01</a:t>
                      </a:r>
                      <a:endParaRPr lang="en-US" sz="1200" dirty="0">
                        <a:latin typeface="Calibri" charset="0"/>
                        <a:ea typeface="Calibri" charset="0"/>
                        <a:cs typeface="Calibri" charset="0"/>
                      </a:endParaRPr>
                    </a:p>
                    <a:p>
                      <a:pPr algn="ctr" indent="0" marL="0">
                        <a:buNone/>
                      </a:pPr>
                      <a:r>
                        <a:rPr lang="en-US" sz="1100" dirty="0">
                          <a:solidFill>
                            <a:srgbClr val="6B7785"/>
                          </a:solidFill>
                          <a:latin typeface="Calibri" pitchFamily="34" charset="0"/>
                          <a:ea typeface="Calibri" pitchFamily="34" charset="-122"/>
                          <a:cs typeface="Calibri" pitchFamily="34" charset="-120"/>
                        </a:rPr>
                        <a:t>(−0.04 to +0.02)</a:t>
                      </a:r>
                      <a:endParaRPr lang="en-US" sz="12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658368">
                <a:tc>
                  <a:txBody>
                    <a:bodyPr/>
                    <a:lstStyle/>
                    <a:p>
                      <a:pPr indent="0" marL="0">
                        <a:buNone/>
                      </a:pPr>
                      <a:r>
                        <a:rPr lang="en-US" sz="1400" b="1" dirty="0">
                          <a:solidFill>
                            <a:srgbClr val="1B263B"/>
                          </a:solidFill>
                          <a:latin typeface="Calibri" pitchFamily="34" charset="0"/>
                          <a:ea typeface="Calibri" pitchFamily="34" charset="-122"/>
                          <a:cs typeface="Calibri" pitchFamily="34" charset="-120"/>
                        </a:rPr>
                        <a:t>90% (used)</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63B"/>
                          </a:solidFill>
                          <a:latin typeface="Calibri" pitchFamily="34" charset="0"/>
                          <a:ea typeface="Calibri" pitchFamily="34" charset="-122"/>
                          <a:cs typeface="Calibri" pitchFamily="34" charset="-120"/>
                        </a:rPr>
                        <a:t>88.9%</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63B"/>
                          </a:solidFill>
                          <a:latin typeface="Calibri" pitchFamily="34" charset="0"/>
                          <a:ea typeface="Calibri" pitchFamily="34" charset="-122"/>
                          <a:cs typeface="Calibri" pitchFamily="34" charset="-120"/>
                        </a:rPr>
                        <a:t>80.5%</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63B"/>
                          </a:solidFill>
                          <a:latin typeface="Calibri" pitchFamily="34" charset="0"/>
                          <a:ea typeface="Calibri" pitchFamily="34" charset="-122"/>
                          <a:cs typeface="Calibri" pitchFamily="34" charset="-120"/>
                        </a:rPr>
                        <a:t>17.5 vs 17.1</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0E7C86"/>
                          </a:solidFill>
                          <a:latin typeface="Calibri" pitchFamily="34" charset="0"/>
                          <a:ea typeface="Calibri" pitchFamily="34" charset="-122"/>
                          <a:cs typeface="Calibri" pitchFamily="34" charset="-120"/>
                        </a:rPr>
                        <a:t>+0.14</a:t>
                      </a:r>
                      <a:endParaRPr lang="en-US" sz="1200" dirty="0">
                        <a:latin typeface="Calibri" charset="0"/>
                        <a:ea typeface="Calibri" charset="0"/>
                        <a:cs typeface="Calibri" charset="0"/>
                      </a:endParaRPr>
                    </a:p>
                    <a:p>
                      <a:pPr algn="ctr" indent="0" marL="0">
                        <a:buNone/>
                      </a:pPr>
                      <a:r>
                        <a:rPr lang="en-US" sz="1100" dirty="0">
                          <a:solidFill>
                            <a:srgbClr val="6B7785"/>
                          </a:solidFill>
                          <a:latin typeface="Calibri" pitchFamily="34" charset="0"/>
                          <a:ea typeface="Calibri" pitchFamily="34" charset="-122"/>
                          <a:cs typeface="Calibri" pitchFamily="34" charset="-120"/>
                        </a:rPr>
                        <a:t>(+0.01 to +0.32)</a:t>
                      </a:r>
                      <a:endParaRPr lang="en-US" sz="12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6B7785"/>
                          </a:solidFill>
                          <a:latin typeface="Calibri" pitchFamily="34" charset="0"/>
                          <a:ea typeface="Calibri" pitchFamily="34" charset="-122"/>
                          <a:cs typeface="Calibri" pitchFamily="34" charset="-120"/>
                        </a:rPr>
                        <a:t>+0.09</a:t>
                      </a:r>
                      <a:endParaRPr lang="en-US" sz="1200" dirty="0">
                        <a:latin typeface="Calibri" charset="0"/>
                        <a:ea typeface="Calibri" charset="0"/>
                        <a:cs typeface="Calibri" charset="0"/>
                      </a:endParaRPr>
                    </a:p>
                    <a:p>
                      <a:pPr algn="ctr" indent="0" marL="0">
                        <a:buNone/>
                      </a:pPr>
                      <a:r>
                        <a:rPr lang="en-US" sz="1100" dirty="0">
                          <a:solidFill>
                            <a:srgbClr val="6B7785"/>
                          </a:solidFill>
                          <a:latin typeface="Calibri" pitchFamily="34" charset="0"/>
                          <a:ea typeface="Calibri" pitchFamily="34" charset="-122"/>
                          <a:cs typeface="Calibri" pitchFamily="34" charset="-120"/>
                        </a:rPr>
                        <a:t>(−0.11 to +0.31)</a:t>
                      </a:r>
                      <a:endParaRPr lang="en-US" sz="12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6B7785"/>
                          </a:solidFill>
                          <a:latin typeface="Calibri" pitchFamily="34" charset="0"/>
                          <a:ea typeface="Calibri" pitchFamily="34" charset="-122"/>
                          <a:cs typeface="Calibri" pitchFamily="34" charset="-120"/>
                        </a:rPr>
                        <a:t>−0.03</a:t>
                      </a:r>
                      <a:endParaRPr lang="en-US" sz="1200" dirty="0">
                        <a:latin typeface="Calibri" charset="0"/>
                        <a:ea typeface="Calibri" charset="0"/>
                        <a:cs typeface="Calibri" charset="0"/>
                      </a:endParaRPr>
                    </a:p>
                    <a:p>
                      <a:pPr algn="ctr" indent="0" marL="0">
                        <a:buNone/>
                      </a:pPr>
                      <a:r>
                        <a:rPr lang="en-US" sz="1100" dirty="0">
                          <a:solidFill>
                            <a:srgbClr val="6B7785"/>
                          </a:solidFill>
                          <a:latin typeface="Calibri" pitchFamily="34" charset="0"/>
                          <a:ea typeface="Calibri" pitchFamily="34" charset="-122"/>
                          <a:cs typeface="Calibri" pitchFamily="34" charset="-120"/>
                        </a:rPr>
                        <a:t>(−0.06 to +0.004)</a:t>
                      </a:r>
                      <a:endParaRPr lang="en-US" sz="12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658368">
                <a:tc>
                  <a:txBody>
                    <a:bodyPr/>
                    <a:lstStyle/>
                    <a:p>
                      <a:pPr indent="0" marL="0">
                        <a:buNone/>
                      </a:pPr>
                      <a:r>
                        <a:rPr lang="en-US" sz="1400" b="1" dirty="0">
                          <a:solidFill>
                            <a:srgbClr val="1B263B"/>
                          </a:solidFill>
                          <a:latin typeface="Calibri" pitchFamily="34" charset="0"/>
                          <a:ea typeface="Calibri" pitchFamily="34" charset="-122"/>
                          <a:cs typeface="Calibri" pitchFamily="34" charset="-120"/>
                        </a:rPr>
                        <a:t>95%</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63B"/>
                          </a:solidFill>
                          <a:latin typeface="Calibri" pitchFamily="34" charset="0"/>
                          <a:ea typeface="Calibri" pitchFamily="34" charset="-122"/>
                          <a:cs typeface="Calibri" pitchFamily="34" charset="-120"/>
                        </a:rPr>
                        <a:t>86.9%</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63B"/>
                          </a:solidFill>
                          <a:latin typeface="Calibri" pitchFamily="34" charset="0"/>
                          <a:ea typeface="Calibri" pitchFamily="34" charset="-122"/>
                          <a:cs typeface="Calibri" pitchFamily="34" charset="-120"/>
                        </a:rPr>
                        <a:t>78.4%</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63B"/>
                          </a:solidFill>
                          <a:latin typeface="Calibri" pitchFamily="34" charset="0"/>
                          <a:ea typeface="Calibri" pitchFamily="34" charset="-122"/>
                          <a:cs typeface="Calibri" pitchFamily="34" charset="-120"/>
                        </a:rPr>
                        <a:t>22.8 vs 22.3</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6B7785"/>
                          </a:solidFill>
                          <a:latin typeface="Calibri" pitchFamily="34" charset="0"/>
                          <a:ea typeface="Calibri" pitchFamily="34" charset="-122"/>
                          <a:cs typeface="Calibri" pitchFamily="34" charset="-120"/>
                        </a:rPr>
                        <a:t>+0.12</a:t>
                      </a:r>
                      <a:endParaRPr lang="en-US" sz="1200" dirty="0">
                        <a:latin typeface="Calibri" charset="0"/>
                        <a:ea typeface="Calibri" charset="0"/>
                        <a:cs typeface="Calibri" charset="0"/>
                      </a:endParaRPr>
                    </a:p>
                    <a:p>
                      <a:pPr algn="ctr" indent="0" marL="0">
                        <a:buNone/>
                      </a:pPr>
                      <a:r>
                        <a:rPr lang="en-US" sz="1100" dirty="0">
                          <a:solidFill>
                            <a:srgbClr val="6B7785"/>
                          </a:solidFill>
                          <a:latin typeface="Calibri" pitchFamily="34" charset="0"/>
                          <a:ea typeface="Calibri" pitchFamily="34" charset="-122"/>
                          <a:cs typeface="Calibri" pitchFamily="34" charset="-120"/>
                        </a:rPr>
                        <a:t>(−0.03 to +0.30)</a:t>
                      </a:r>
                      <a:endParaRPr lang="en-US" sz="12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6B7785"/>
                          </a:solidFill>
                          <a:latin typeface="Calibri" pitchFamily="34" charset="0"/>
                          <a:ea typeface="Calibri" pitchFamily="34" charset="-122"/>
                          <a:cs typeface="Calibri" pitchFamily="34" charset="-120"/>
                        </a:rPr>
                        <a:t>+0.05</a:t>
                      </a:r>
                      <a:endParaRPr lang="en-US" sz="1200" dirty="0">
                        <a:latin typeface="Calibri" charset="0"/>
                        <a:ea typeface="Calibri" charset="0"/>
                        <a:cs typeface="Calibri" charset="0"/>
                      </a:endParaRPr>
                    </a:p>
                    <a:p>
                      <a:pPr algn="ctr" indent="0" marL="0">
                        <a:buNone/>
                      </a:pPr>
                      <a:r>
                        <a:rPr lang="en-US" sz="1100" dirty="0">
                          <a:solidFill>
                            <a:srgbClr val="6B7785"/>
                          </a:solidFill>
                          <a:latin typeface="Calibri" pitchFamily="34" charset="0"/>
                          <a:ea typeface="Calibri" pitchFamily="34" charset="-122"/>
                          <a:cs typeface="Calibri" pitchFamily="34" charset="-120"/>
                        </a:rPr>
                        <a:t>(−0.18 to +0.27)</a:t>
                      </a:r>
                      <a:endParaRPr lang="en-US" sz="12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D1495B"/>
                          </a:solidFill>
                          <a:latin typeface="Calibri" pitchFamily="34" charset="0"/>
                          <a:ea typeface="Calibri" pitchFamily="34" charset="-122"/>
                          <a:cs typeface="Calibri" pitchFamily="34" charset="-120"/>
                        </a:rPr>
                        <a:t>−0.04</a:t>
                      </a:r>
                      <a:endParaRPr lang="en-US" sz="1200" dirty="0">
                        <a:latin typeface="Calibri" charset="0"/>
                        <a:ea typeface="Calibri" charset="0"/>
                        <a:cs typeface="Calibri" charset="0"/>
                      </a:endParaRPr>
                    </a:p>
                    <a:p>
                      <a:pPr algn="ctr" indent="0" marL="0">
                        <a:buNone/>
                      </a:pPr>
                      <a:r>
                        <a:rPr lang="en-US" sz="1100" dirty="0">
                          <a:solidFill>
                            <a:srgbClr val="6B7785"/>
                          </a:solidFill>
                          <a:latin typeface="Calibri" pitchFamily="34" charset="0"/>
                          <a:ea typeface="Calibri" pitchFamily="34" charset="-122"/>
                          <a:cs typeface="Calibri" pitchFamily="34" charset="-120"/>
                        </a:rPr>
                        <a:t>(−0.06 to −0.01)</a:t>
                      </a:r>
                      <a:endParaRPr lang="en-US" sz="12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658368">
                <a:tc>
                  <a:txBody>
                    <a:bodyPr/>
                    <a:lstStyle/>
                    <a:p>
                      <a:pPr indent="0" marL="0">
                        <a:buNone/>
                      </a:pPr>
                      <a:r>
                        <a:rPr lang="en-US" sz="1400" b="1" dirty="0">
                          <a:solidFill>
                            <a:srgbClr val="1B263B"/>
                          </a:solidFill>
                          <a:latin typeface="Calibri" pitchFamily="34" charset="0"/>
                          <a:ea typeface="Calibri" pitchFamily="34" charset="-122"/>
                          <a:cs typeface="Calibri" pitchFamily="34" charset="-120"/>
                        </a:rPr>
                        <a:t>100% (all directions)</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63B"/>
                          </a:solidFill>
                          <a:latin typeface="Calibri" pitchFamily="34" charset="0"/>
                          <a:ea typeface="Calibri" pitchFamily="34" charset="-122"/>
                          <a:cs typeface="Calibri" pitchFamily="34" charset="-120"/>
                        </a:rPr>
                        <a:t>83.9%</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63B"/>
                          </a:solidFill>
                          <a:latin typeface="Calibri" pitchFamily="34" charset="0"/>
                          <a:ea typeface="Calibri" pitchFamily="34" charset="-122"/>
                          <a:cs typeface="Calibri" pitchFamily="34" charset="-120"/>
                        </a:rPr>
                        <a:t>75.4%</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63B"/>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6B7785"/>
                          </a:solidFill>
                          <a:latin typeface="Calibri" pitchFamily="34" charset="0"/>
                          <a:ea typeface="Calibri" pitchFamily="34" charset="-122"/>
                          <a:cs typeface="Calibri" pitchFamily="34" charset="-120"/>
                        </a:rPr>
                        <a:t>+0.12</a:t>
                      </a:r>
                      <a:endParaRPr lang="en-US" sz="1200" dirty="0">
                        <a:latin typeface="Calibri" charset="0"/>
                        <a:ea typeface="Calibri" charset="0"/>
                        <a:cs typeface="Calibri" charset="0"/>
                      </a:endParaRPr>
                    </a:p>
                    <a:p>
                      <a:pPr algn="ctr" indent="0" marL="0">
                        <a:buNone/>
                      </a:pPr>
                      <a:r>
                        <a:rPr lang="en-US" sz="1100" dirty="0">
                          <a:solidFill>
                            <a:srgbClr val="6B7785"/>
                          </a:solidFill>
                          <a:latin typeface="Calibri" pitchFamily="34" charset="0"/>
                          <a:ea typeface="Calibri" pitchFamily="34" charset="-122"/>
                          <a:cs typeface="Calibri" pitchFamily="34" charset="-120"/>
                        </a:rPr>
                        <a:t>(−0.04 to +0.32)</a:t>
                      </a:r>
                      <a:endParaRPr lang="en-US" sz="12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6B7785"/>
                          </a:solidFill>
                          <a:latin typeface="Calibri" pitchFamily="34" charset="0"/>
                          <a:ea typeface="Calibri" pitchFamily="34" charset="-122"/>
                          <a:cs typeface="Calibri" pitchFamily="34" charset="-120"/>
                        </a:rPr>
                        <a:t>+0.001</a:t>
                      </a:r>
                      <a:endParaRPr lang="en-US" sz="1200" dirty="0">
                        <a:latin typeface="Calibri" charset="0"/>
                        <a:ea typeface="Calibri" charset="0"/>
                        <a:cs typeface="Calibri" charset="0"/>
                      </a:endParaRPr>
                    </a:p>
                    <a:p>
                      <a:pPr algn="ctr" indent="0" marL="0">
                        <a:buNone/>
                      </a:pPr>
                      <a:r>
                        <a:rPr lang="en-US" sz="1100" dirty="0">
                          <a:solidFill>
                            <a:srgbClr val="6B7785"/>
                          </a:solidFill>
                          <a:latin typeface="Calibri" pitchFamily="34" charset="0"/>
                          <a:ea typeface="Calibri" pitchFamily="34" charset="-122"/>
                          <a:cs typeface="Calibri" pitchFamily="34" charset="-120"/>
                        </a:rPr>
                        <a:t>(−0.21 to +0.20)</a:t>
                      </a:r>
                      <a:endParaRPr lang="en-US" sz="12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D1495B"/>
                          </a:solidFill>
                          <a:latin typeface="Calibri" pitchFamily="34" charset="0"/>
                          <a:ea typeface="Calibri" pitchFamily="34" charset="-122"/>
                          <a:cs typeface="Calibri" pitchFamily="34" charset="-120"/>
                        </a:rPr>
                        <a:t>−0.05</a:t>
                      </a:r>
                      <a:endParaRPr lang="en-US" sz="1200" dirty="0">
                        <a:latin typeface="Calibri" charset="0"/>
                        <a:ea typeface="Calibri" charset="0"/>
                        <a:cs typeface="Calibri" charset="0"/>
                      </a:endParaRPr>
                    </a:p>
                    <a:p>
                      <a:pPr algn="ctr" indent="0" marL="0">
                        <a:buNone/>
                      </a:pPr>
                      <a:r>
                        <a:rPr lang="en-US" sz="1100" dirty="0">
                          <a:solidFill>
                            <a:srgbClr val="6B7785"/>
                          </a:solidFill>
                          <a:latin typeface="Calibri" pitchFamily="34" charset="0"/>
                          <a:ea typeface="Calibri" pitchFamily="34" charset="-122"/>
                          <a:cs typeface="Calibri" pitchFamily="34" charset="-120"/>
                        </a:rPr>
                        <a:t>(−0.09 to −0.004)</a:t>
                      </a:r>
                      <a:endParaRPr lang="en-US" sz="12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4" name="card-108"/>
          <p:cNvSpPr/>
          <p:nvPr/>
        </p:nvSpPr>
        <p:spPr>
          <a:xfrm>
            <a:off x="548640" y="4572000"/>
            <a:ext cx="11094415" cy="1188720"/>
          </a:xfrm>
          <a:prstGeom prst="roundRect">
            <a:avLst>
              <a:gd name="adj" fmla="val 9231"/>
            </a:avLst>
          </a:prstGeom>
          <a:solidFill>
            <a:schemeClr val="bg2"/>
          </a:solidFill>
          <a:ln w="12700">
            <a:solidFill>
              <a:schemeClr val="bg2"/>
            </a:solidFill>
            <a:prstDash val="solid"/>
          </a:ln>
        </p:spPr>
      </p:sp>
      <p:sp>
        <p:nvSpPr>
          <p:cNvPr id="5" name="icon-bg-109"/>
          <p:cNvSpPr/>
          <p:nvPr/>
        </p:nvSpPr>
        <p:spPr>
          <a:xfrm>
            <a:off x="777240" y="4709160"/>
            <a:ext cx="914400" cy="914400"/>
          </a:xfrm>
          <a:prstGeom prst="ellipse">
            <a:avLst/>
          </a:prstGeom>
          <a:solidFill>
            <a:schemeClr val="bg1"/>
          </a:solidFill>
          <a:ln w="12700">
            <a:solidFill>
              <a:schemeClr val="bg1"/>
            </a:solidFill>
            <a:prstDash val="solid"/>
          </a:ln>
        </p:spPr>
      </p:sp>
      <p:pic>
        <p:nvPicPr>
          <p:cNvPr id="6" name="icon-check_mark_button-110" descr="check mark button illustration">    </p:cNvPr>
          <p:cNvPicPr>
            <a:picLocks noChangeAspect="1"/>
          </p:cNvPicPr>
          <p:nvPr/>
        </p:nvPicPr>
        <p:blipFill>
          <a:blip r:embed="rId1"/>
          <a:stretch>
            <a:fillRect/>
          </a:stretch>
        </p:blipFill>
        <p:spPr>
          <a:xfrm>
            <a:off x="923544" y="4855464"/>
            <a:ext cx="621792" cy="621792"/>
          </a:xfrm>
          <a:prstGeom prst="rect">
            <a:avLst/>
          </a:prstGeom>
        </p:spPr>
      </p:pic>
      <p:sp>
        <p:nvSpPr>
          <p:cNvPr id="7" name="text-111"/>
          <p:cNvSpPr txBox="1"/>
          <p:nvPr/>
        </p:nvSpPr>
        <p:spPr>
          <a:xfrm>
            <a:off x="1920240" y="4617720"/>
            <a:ext cx="9494215" cy="1097280"/>
          </a:xfrm>
          <a:prstGeom prst="rect">
            <a:avLst/>
          </a:prstGeom>
          <a:noFill/>
          <a:ln/>
        </p:spPr>
        <p:txBody>
          <a:bodyPr wrap="square" lIns="0" tIns="0" rIns="0" bIns="0" rtlCol="0" anchor="ctr"/>
          <a:lstStyle/>
          <a:p>
            <a:pPr indent="0" marL="0">
              <a:buNone/>
            </a:pPr>
            <a:r>
              <a:rPr lang="en-US" sz="1500" b="1" dirty="0">
                <a:solidFill>
                  <a:schemeClr val="tx1"/>
                </a:solidFill>
              </a:rPr>
              <a:t>Same answer at every cut-off. </a:t>
            </a:r>
            <a:pPr indent="0" marL="0">
              <a:buNone/>
            </a:pPr>
            <a:r>
              <a:rPr lang="en-US" sz="1500" dirty="0">
                <a:solidFill>
                  <a:schemeClr val="tx1"/>
                </a:solidFill>
              </a:rPr>
              <a:t>On real tasks 84–92% of each adapter is new, the slot saves almost no room, and demand never beats cosine on all three test beds. At 95–100% it is even slightly worse on real tasks, and with task type and slot size held fixed it predicts nothing (ρ between −0.03 and 0.06).</a:t>
            </a:r>
            <a:endParaRPr lang="en-US" sz="1500" dirty="0"/>
          </a:p>
        </p:txBody>
      </p:sp>
      <p:sp>
        <p:nvSpPr>
          <p:cNvPr id="8" name="text-112"/>
          <p:cNvSpPr txBox="1"/>
          <p:nvPr/>
        </p:nvSpPr>
        <p:spPr>
          <a:xfrm>
            <a:off x="548640" y="5870448"/>
            <a:ext cx="11094415" cy="457200"/>
          </a:xfrm>
          <a:prstGeom prst="rect">
            <a:avLst/>
          </a:prstGeom>
          <a:noFill/>
          <a:ln/>
        </p:spPr>
        <p:txBody>
          <a:bodyPr wrap="square" lIns="0" tIns="0" rIns="0" bIns="0" rtlCol="0" anchor="t"/>
          <a:lstStyle/>
          <a:p>
            <a:pPr indent="0" marL="0">
              <a:buNone/>
            </a:pPr>
            <a:r>
              <a:rPr lang="en-US" sz="1200" i="1" dirty="0">
                <a:solidFill>
                  <a:schemeClr val="tx1"/>
                </a:solidFill>
              </a:rPr>
              <a:t>Teal: demand better than cosine; red: worse; grey: no clear difference (95% interval includes 0). Each cut-off sets how many of the slot's top directions count as ‘important’; 100% uses all of them.</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Result 4: task type and slot size explain both scores</a:t>
            </a:r>
            <a:endParaRPr lang="en-US" sz="3000" dirty="0"/>
          </a:p>
        </p:txBody>
      </p:sp>
      <p:graphicFrame>
        <p:nvGraphicFramePr>
          <p:cNvPr id="3" name="Chart 0" descr=""/>
          <p:cNvGraphicFramePr/>
          <p:nvPr/>
        </p:nvGraphicFramePr>
        <p:xfrm>
          <a:off x="548640" y="1188720"/>
          <a:ext cx="6309360" cy="4572000"/>
        </p:xfrm>
        <a:graphic xmlns:a="http://schemas.openxmlformats.org/drawingml/2006/main">
          <a:graphicData uri="http://schemas.openxmlformats.org/drawingml/2006/chart">
            <c:chart xmlns:c="http://schemas.openxmlformats.org/drawingml/2006/chart" r:id="rId1"/>
          </a:graphicData>
        </a:graphic>
      </p:graphicFrame>
      <p:graphicFrame>
        <p:nvGraphicFramePr>
          <p:cNvPr id="11" name="by-type"/>
          <p:cNvGraphicFramePr>
            <a:graphicFrameLocks noGrp="1"/>
          </p:cNvGraphicFramePr>
          <p:nvPr>
            <p:extLst>
              <p:ext uri="{D42A27DB-BD31-4B8C-83A1-F6EECF244321}">
                <p14:modId xmlns:p14="http://schemas.microsoft.com/office/powerpoint/2010/main" val="1579011935"/>
              </p:ext>
            </p:extLst>
          </p:nvPr>
        </p:nvGraphicFramePr>
        <p:xfrm>
          <a:off x="7178040" y="1280160"/>
          <a:ext cx="4465015" cy="914400"/>
        </p:xfrm>
        <a:graphic>
          <a:graphicData uri="http://schemas.openxmlformats.org/drawingml/2006/table">
            <a:tbl>
              <a:tblPr/>
              <a:tblGrid>
                <a:gridCol w="1371600"/>
                <a:gridCol w="1097280"/>
                <a:gridCol w="914400"/>
                <a:gridCol w="1081735"/>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Task type</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B263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Damage</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B263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Cosine</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B263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Demand</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B263B"/>
                    </a:solidFill>
                  </a:tcPr>
                </a:tc>
              </a:tr>
              <a:tr h="438912">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Grammar</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D1495B"/>
                          </a:solidFill>
                          <a:latin typeface="Calibri" pitchFamily="34" charset="0"/>
                          <a:ea typeface="Calibri" pitchFamily="34" charset="-122"/>
                          <a:cs typeface="Calibri" pitchFamily="34" charset="-120"/>
                        </a:rPr>
                        <a:t>19.4%</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63B"/>
                          </a:solidFill>
                          <a:latin typeface="Calibri" pitchFamily="34" charset="0"/>
                          <a:ea typeface="Calibri" pitchFamily="34" charset="-122"/>
                          <a:cs typeface="Calibri" pitchFamily="34" charset="-120"/>
                        </a:rPr>
                        <a:t>0.12</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63B"/>
                          </a:solidFill>
                          <a:latin typeface="Calibri" pitchFamily="34" charset="0"/>
                          <a:ea typeface="Calibri" pitchFamily="34" charset="-122"/>
                          <a:cs typeface="Calibri" pitchFamily="34" charset="-120"/>
                        </a:rPr>
                        <a:t>91.0%</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438912">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Summaries</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B263B"/>
                          </a:solidFill>
                          <a:latin typeface="Calibri" pitchFamily="34" charset="0"/>
                          <a:ea typeface="Calibri" pitchFamily="34" charset="-122"/>
                          <a:cs typeface="Calibri" pitchFamily="34" charset="-120"/>
                        </a:rPr>
                        <a:t>5.3%</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63B"/>
                          </a:solidFill>
                          <a:latin typeface="Calibri" pitchFamily="34" charset="0"/>
                          <a:ea typeface="Calibri" pitchFamily="34" charset="-122"/>
                          <a:cs typeface="Calibri" pitchFamily="34" charset="-120"/>
                        </a:rPr>
                        <a:t>0.23</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63B"/>
                          </a:solidFill>
                          <a:latin typeface="Calibri" pitchFamily="34" charset="0"/>
                          <a:ea typeface="Calibri" pitchFamily="34" charset="-122"/>
                          <a:cs typeface="Calibri" pitchFamily="34" charset="-120"/>
                        </a:rPr>
                        <a:t>86.8%</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438912">
                <a:tc>
                  <a:txBody>
                    <a:bodyPr/>
                    <a:lstStyle/>
                    <a:p>
                      <a:pPr indent="0" marL="0">
                        <a:buNone/>
                      </a:pPr>
                      <a:r>
                        <a:rPr lang="en-US" sz="1400" dirty="0">
                          <a:solidFill>
                            <a:srgbClr val="1B263B"/>
                          </a:solidFill>
                          <a:latin typeface="Calibri" pitchFamily="34" charset="0"/>
                          <a:ea typeface="Calibri" pitchFamily="34" charset="-122"/>
                          <a:cs typeface="Calibri" pitchFamily="34" charset="-120"/>
                        </a:rPr>
                        <a:t>QA</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B263B"/>
                          </a:solidFill>
                          <a:latin typeface="Calibri" pitchFamily="34" charset="0"/>
                          <a:ea typeface="Calibri" pitchFamily="34" charset="-122"/>
                          <a:cs typeface="Calibri" pitchFamily="34" charset="-120"/>
                        </a:rPr>
                        <a:t>0.4%</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63B"/>
                          </a:solidFill>
                          <a:latin typeface="Calibri" pitchFamily="34" charset="0"/>
                          <a:ea typeface="Calibri" pitchFamily="34" charset="-122"/>
                          <a:cs typeface="Calibri" pitchFamily="34" charset="-120"/>
                        </a:rPr>
                        <a:t>0.19</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63B"/>
                          </a:solidFill>
                          <a:latin typeface="Calibri" pitchFamily="34" charset="0"/>
                          <a:ea typeface="Calibri" pitchFamily="34" charset="-122"/>
                          <a:cs typeface="Calibri" pitchFamily="34" charset="-120"/>
                        </a:rPr>
                        <a:t>88.2%</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5" name="card-113"/>
          <p:cNvSpPr/>
          <p:nvPr/>
        </p:nvSpPr>
        <p:spPr>
          <a:xfrm>
            <a:off x="7178040" y="3154680"/>
            <a:ext cx="4465015" cy="2606040"/>
          </a:xfrm>
          <a:prstGeom prst="roundRect">
            <a:avLst>
              <a:gd name="adj" fmla="val 4211"/>
            </a:avLst>
          </a:prstGeom>
          <a:solidFill>
            <a:schemeClr val="bg2"/>
          </a:solidFill>
          <a:ln w="12700">
            <a:solidFill>
              <a:schemeClr val="bg2"/>
            </a:solidFill>
            <a:prstDash val="solid"/>
          </a:ln>
        </p:spPr>
      </p:sp>
      <p:sp>
        <p:nvSpPr>
          <p:cNvPr id="6" name="text-114"/>
          <p:cNvSpPr txBox="1"/>
          <p:nvPr/>
        </p:nvSpPr>
        <p:spPr>
          <a:xfrm>
            <a:off x="7406640" y="3246120"/>
            <a:ext cx="4007815" cy="2423160"/>
          </a:xfrm>
          <a:prstGeom prst="rect">
            <a:avLst/>
          </a:prstGeom>
          <a:noFill/>
          <a:ln/>
        </p:spPr>
        <p:txBody>
          <a:bodyPr wrap="square" lIns="0" tIns="0" rIns="0" bIns="0" rtlCol="0" anchor="ctr"/>
          <a:lstStyle/>
          <a:p>
            <a:pPr indent="0" marL="0">
              <a:spcAft>
                <a:spcPts val="800"/>
              </a:spcAft>
              <a:buNone/>
            </a:pPr>
            <a:r>
              <a:rPr lang="en-US" sz="1500" b="1" dirty="0">
                <a:solidFill>
                  <a:schemeClr val="tx1"/>
                </a:solidFill>
              </a:rPr>
              <a:t>Grammar adapters are the least similar and the most fragile, </a:t>
            </a:r>
            <a:pPr indent="0" marL="0">
              <a:spcAft>
                <a:spcPts val="800"/>
              </a:spcAft>
              <a:buNone/>
            </a:pPr>
            <a:r>
              <a:rPr lang="en-US" sz="1500" dirty="0">
                <a:solidFill>
                  <a:schemeClr val="tx1"/>
                </a:solidFill>
              </a:rPr>
              <a:t>so any ‘difference’ score looks predictive when task types are mixed.</a:t>
            </a:r>
            <a:endParaRPr lang="en-US" sz="1500" dirty="0"/>
          </a:p>
          <a:p>
            <a:pPr indent="0" marL="0">
              <a:spcAft>
                <a:spcPts val="800"/>
              </a:spcAft>
              <a:buNone/>
            </a:pPr>
            <a:r>
              <a:rPr lang="en-US" sz="1500" b="1" dirty="0">
                <a:solidFill>
                  <a:schemeClr val="accent2"/>
                </a:solidFill>
              </a:rPr>
              <a:t>Inside one task type and slot size, neither score predicts damage.</a:t>
            </a:r>
            <a:endParaRPr lang="en-US" sz="1500" dirty="0"/>
          </a:p>
          <a:p>
            <a:pPr indent="0" marL="0">
              <a:spcAft>
                <a:spcPts val="800"/>
              </a:spcAft>
              <a:buNone/>
            </a:pPr>
            <a:r>
              <a:rPr lang="en-US" sz="1500" dirty="0">
                <a:solidFill>
                  <a:schemeClr val="tx1"/>
                </a:solidFill>
              </a:rPr>
              <a:t>Slot size alone: ρ = 0.30 with damage (bigger slots lose more).</a:t>
            </a:r>
            <a:endParaRPr lang="en-US" sz="1500" dirty="0"/>
          </a:p>
        </p:txBody>
      </p:sp>
      <p:sp>
        <p:nvSpPr>
          <p:cNvPr id="7" name="text-115"/>
          <p:cNvSpPr txBox="1"/>
          <p:nvPr/>
        </p:nvSpPr>
        <p:spPr>
          <a:xfrm>
            <a:off x="548640" y="5870448"/>
            <a:ext cx="11094415" cy="457200"/>
          </a:xfrm>
          <a:prstGeom prst="rect">
            <a:avLst/>
          </a:prstGeom>
          <a:noFill/>
          <a:ln/>
        </p:spPr>
        <p:txBody>
          <a:bodyPr wrap="square" lIns="0" tIns="0" rIns="0" bIns="0" rtlCol="0" anchor="t"/>
          <a:lstStyle/>
          <a:p>
            <a:pPr indent="0" marL="0">
              <a:buNone/>
            </a:pPr>
            <a:r>
              <a:rPr lang="en-US" sz="1200" i="1" dirty="0">
                <a:solidFill>
                  <a:schemeClr val="tx1"/>
                </a:solidFill>
              </a:rPr>
              <a:t>Partial Spearman correlation: ranks of score and damage after removing what slot size (tasks in the slot) and task type explain. Real benchmark: K = 2 and 4, 2 seeds, random and clustered orders.</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Result 5: as a partner rule, demand changes nothing</a:t>
            </a:r>
            <a:endParaRPr lang="en-US" sz="3000" dirty="0"/>
          </a:p>
        </p:txBody>
      </p:sp>
      <p:graphicFrame>
        <p:nvGraphicFramePr>
          <p:cNvPr id="3" name="Chart 0" descr=""/>
          <p:cNvGraphicFramePr/>
          <p:nvPr/>
        </p:nvGraphicFramePr>
        <p:xfrm>
          <a:off x="548640" y="1188720"/>
          <a:ext cx="6812280" cy="4572000"/>
        </p:xfrm>
        <a:graphic xmlns:a="http://schemas.openxmlformats.org/drawingml/2006/main">
          <a:graphicData uri="http://schemas.openxmlformats.org/drawingml/2006/chart">
            <c:chart xmlns:c="http://schemas.openxmlformats.org/drawingml/2006/chart" r:id="rId1"/>
          </a:graphicData>
        </a:graphic>
      </p:graphicFrame>
      <p:sp>
        <p:nvSpPr>
          <p:cNvPr id="4" name="card-116"/>
          <p:cNvSpPr/>
          <p:nvPr/>
        </p:nvSpPr>
        <p:spPr>
          <a:xfrm>
            <a:off x="7635240" y="1234440"/>
            <a:ext cx="4007815" cy="1463040"/>
          </a:xfrm>
          <a:prstGeom prst="roundRect">
            <a:avLst>
              <a:gd name="adj" fmla="val 7500"/>
            </a:avLst>
          </a:prstGeom>
          <a:solidFill>
            <a:schemeClr val="bg2"/>
          </a:solidFill>
          <a:ln w="12700">
            <a:solidFill>
              <a:schemeClr val="bg2"/>
            </a:solidFill>
            <a:prstDash val="solid"/>
          </a:ln>
        </p:spPr>
      </p:sp>
      <p:sp>
        <p:nvSpPr>
          <p:cNvPr id="5" name="text-117"/>
          <p:cNvSpPr txBox="1"/>
          <p:nvPr/>
        </p:nvSpPr>
        <p:spPr>
          <a:xfrm>
            <a:off x="7863840" y="1280160"/>
            <a:ext cx="3550615" cy="1371600"/>
          </a:xfrm>
          <a:prstGeom prst="rect">
            <a:avLst/>
          </a:prstGeom>
          <a:noFill/>
          <a:ln/>
        </p:spPr>
        <p:txBody>
          <a:bodyPr wrap="square" lIns="0" tIns="0" rIns="0" bIns="0" rtlCol="0" anchor="ctr"/>
          <a:lstStyle/>
          <a:p>
            <a:pPr indent="0" marL="0">
              <a:spcAft>
                <a:spcPts val="400"/>
              </a:spcAft>
              <a:buNone/>
            </a:pPr>
            <a:r>
              <a:rPr lang="en-US" sz="2500" b="1" dirty="0">
                <a:solidFill>
                  <a:schemeClr val="accent1"/>
                </a:solidFill>
                <a:latin typeface="Cambria" pitchFamily="34" charset="0"/>
                <a:ea typeface="Cambria" pitchFamily="34" charset="-122"/>
                <a:cs typeface="Cambria" pitchFamily="34" charset="-120"/>
              </a:rPr>
              <a:t>60 of 70  ·  64 of 68</a:t>
            </a:r>
            <a:endParaRPr lang="en-US" sz="1400" dirty="0"/>
          </a:p>
          <a:p>
            <a:pPr indent="0" marL="0">
              <a:spcAft>
                <a:spcPts val="400"/>
              </a:spcAft>
              <a:buNone/>
            </a:pPr>
            <a:r>
              <a:rPr lang="en-US" sz="1400" dirty="0">
                <a:solidFill>
                  <a:schemeClr val="tx1"/>
                </a:solidFill>
              </a:rPr>
              <a:t>runs where the demand rule built exactly the same slots as cosine (0.5B · 1.5B)</a:t>
            </a:r>
            <a:endParaRPr lang="en-US" sz="1400" dirty="0"/>
          </a:p>
        </p:txBody>
      </p:sp>
      <p:sp>
        <p:nvSpPr>
          <p:cNvPr id="6" name="card-118"/>
          <p:cNvSpPr/>
          <p:nvPr/>
        </p:nvSpPr>
        <p:spPr>
          <a:xfrm>
            <a:off x="7635240" y="2834640"/>
            <a:ext cx="4007815" cy="1325880"/>
          </a:xfrm>
          <a:prstGeom prst="roundRect">
            <a:avLst>
              <a:gd name="adj" fmla="val 8276"/>
            </a:avLst>
          </a:prstGeom>
          <a:solidFill>
            <a:schemeClr val="bg2"/>
          </a:solidFill>
          <a:ln w="12700">
            <a:solidFill>
              <a:schemeClr val="bg2"/>
            </a:solidFill>
            <a:prstDash val="solid"/>
          </a:ln>
        </p:spPr>
      </p:sp>
      <p:sp>
        <p:nvSpPr>
          <p:cNvPr id="7" name="text-119"/>
          <p:cNvSpPr txBox="1"/>
          <p:nvPr/>
        </p:nvSpPr>
        <p:spPr>
          <a:xfrm>
            <a:off x="7863840" y="2880360"/>
            <a:ext cx="3550615" cy="1234440"/>
          </a:xfrm>
          <a:prstGeom prst="rect">
            <a:avLst/>
          </a:prstGeom>
          <a:noFill/>
          <a:ln/>
        </p:spPr>
        <p:txBody>
          <a:bodyPr wrap="square" lIns="0" tIns="0" rIns="0" bIns="0" rtlCol="0" anchor="ctr"/>
          <a:lstStyle/>
          <a:p>
            <a:pPr indent="0" marL="0">
              <a:spcAft>
                <a:spcPts val="400"/>
              </a:spcAft>
              <a:buNone/>
            </a:pPr>
            <a:r>
              <a:rPr lang="en-US" sz="2500" b="1" dirty="0">
                <a:solidFill>
                  <a:schemeClr val="accent2"/>
                </a:solidFill>
                <a:latin typeface="Cambria" pitchFamily="34" charset="0"/>
                <a:ea typeface="Cambria" pitchFamily="34" charset="-122"/>
                <a:cs typeface="Cambria" pitchFamily="34" charset="-120"/>
              </a:rPr>
              <a:t>−0.4 points</a:t>
            </a:r>
            <a:endParaRPr lang="en-US" sz="1400" dirty="0"/>
          </a:p>
          <a:p>
            <a:pPr indent="0" marL="0">
              <a:spcAft>
                <a:spcPts val="400"/>
              </a:spcAft>
              <a:buNone/>
            </a:pPr>
            <a:r>
              <a:rPr lang="en-US" sz="1400" dirty="0">
                <a:solidFill>
                  <a:schemeClr val="tx1"/>
                </a:solidFill>
              </a:rPr>
              <a:t>weakest language on 0.5B (95% CI −1.1 to +0.4); identical on 1.5B</a:t>
            </a:r>
            <a:endParaRPr lang="en-US" sz="1400" dirty="0"/>
          </a:p>
        </p:txBody>
      </p:sp>
      <p:sp>
        <p:nvSpPr>
          <p:cNvPr id="8" name="outline-120"/>
          <p:cNvSpPr/>
          <p:nvPr/>
        </p:nvSpPr>
        <p:spPr>
          <a:xfrm>
            <a:off x="7635240" y="4297680"/>
            <a:ext cx="4007815" cy="1463040"/>
          </a:xfrm>
          <a:prstGeom prst="roundRect">
            <a:avLst>
              <a:gd name="adj" fmla="val 7500"/>
            </a:avLst>
          </a:prstGeom>
          <a:solidFill>
            <a:schemeClr val="bg1"/>
          </a:solidFill>
          <a:ln w="12700">
            <a:solidFill>
              <a:schemeClr val="accent5"/>
            </a:solidFill>
            <a:prstDash val="solid"/>
          </a:ln>
        </p:spPr>
      </p:sp>
      <p:sp>
        <p:nvSpPr>
          <p:cNvPr id="9" name="text-121"/>
          <p:cNvSpPr txBox="1"/>
          <p:nvPr/>
        </p:nvSpPr>
        <p:spPr>
          <a:xfrm>
            <a:off x="7863840" y="4343400"/>
            <a:ext cx="3550615" cy="1371600"/>
          </a:xfrm>
          <a:prstGeom prst="rect">
            <a:avLst/>
          </a:prstGeom>
          <a:noFill/>
          <a:ln/>
        </p:spPr>
        <p:txBody>
          <a:bodyPr wrap="square" lIns="0" tIns="0" rIns="0" bIns="0" rtlCol="0" anchor="ctr"/>
          <a:lstStyle/>
          <a:p>
            <a:pPr indent="0" marL="0">
              <a:buNone/>
            </a:pPr>
            <a:r>
              <a:rPr lang="en-US" sz="1400" b="1" dirty="0">
                <a:solidFill>
                  <a:schemeClr val="tx1"/>
                </a:solidFill>
              </a:rPr>
              <a:t>Phase 3, for comparison: </a:t>
            </a:r>
            <a:pPr indent="0" marL="0">
              <a:buNone/>
            </a:pPr>
            <a:r>
              <a:rPr lang="en-US" sz="1400" dirty="0">
                <a:solidFill>
                  <a:schemeClr val="tx1"/>
                </a:solidFill>
              </a:rPr>
              <a:t>changing HOW the slot is built gained +17.6 points on the weakest language; changing WHO is merged, at most +4.5.</a:t>
            </a:r>
            <a:endParaRPr lang="en-US" sz="1400" dirty="0"/>
          </a:p>
        </p:txBody>
      </p:sp>
      <p:sp>
        <p:nvSpPr>
          <p:cNvPr id="10" name="text-122"/>
          <p:cNvSpPr txBox="1"/>
          <p:nvPr/>
        </p:nvSpPr>
        <p:spPr>
          <a:xfrm>
            <a:off x="548640" y="5870448"/>
            <a:ext cx="11094415" cy="457200"/>
          </a:xfrm>
          <a:prstGeom prst="rect">
            <a:avLst/>
          </a:prstGeom>
          <a:noFill/>
          <a:ln/>
        </p:spPr>
        <p:txBody>
          <a:bodyPr wrap="square" lIns="0" tIns="0" rIns="0" bIns="0" rtlCol="0" anchor="t"/>
          <a:lstStyle/>
          <a:p>
            <a:pPr indent="0" marL="0">
              <a:buNone/>
            </a:pPr>
            <a:r>
              <a:rPr lang="en-US" sz="1200" i="1" dirty="0">
                <a:solidFill>
                  <a:schemeClr val="tx1"/>
                </a:solidFill>
              </a:rPr>
              <a:t>K-Merge's online procedure replayed for all 24 arrival orders × 3 seeds (4 languages, K = 2). Each grouping was scored with the quality measured in Phase 3; runs whose grouping was never measured are left out (2 on 0.5B, 4 on 1.5B).</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Lesson 1: cosine already contains the overlap</a:t>
            </a:r>
            <a:endParaRPr lang="en-US" sz="3000" dirty="0"/>
          </a:p>
        </p:txBody>
      </p:sp>
      <p:sp>
        <p:nvSpPr>
          <p:cNvPr id="3" name="card-123"/>
          <p:cNvSpPr/>
          <p:nvPr/>
        </p:nvSpPr>
        <p:spPr>
          <a:xfrm>
            <a:off x="548640" y="1234440"/>
            <a:ext cx="6400800" cy="2148840"/>
          </a:xfrm>
          <a:prstGeom prst="roundRect">
            <a:avLst>
              <a:gd name="adj" fmla="val 5106"/>
            </a:avLst>
          </a:prstGeom>
          <a:solidFill>
            <a:schemeClr val="tx1"/>
          </a:solidFill>
          <a:ln w="12700">
            <a:solidFill>
              <a:schemeClr val="tx1"/>
            </a:solidFill>
            <a:prstDash val="solid"/>
          </a:ln>
        </p:spPr>
      </p:sp>
      <p:sp>
        <p:nvSpPr>
          <p:cNvPr id="4" name="text-124"/>
          <p:cNvSpPr txBox="1"/>
          <p:nvPr/>
        </p:nvSpPr>
        <p:spPr>
          <a:xfrm>
            <a:off x="868680" y="1371600"/>
            <a:ext cx="5760720" cy="777240"/>
          </a:xfrm>
          <a:prstGeom prst="rect">
            <a:avLst/>
          </a:prstGeom>
          <a:noFill/>
          <a:ln/>
        </p:spPr>
        <p:txBody>
          <a:bodyPr wrap="square" lIns="0" tIns="0" rIns="0" bIns="0" rtlCol="0" anchor="ctr"/>
          <a:lstStyle/>
          <a:p>
            <a:pPr indent="0" marL="0">
              <a:buNone/>
            </a:pPr>
            <a:r>
              <a:rPr lang="en-US" sz="2800" b="1" dirty="0">
                <a:solidFill>
                  <a:schemeClr val="bg1"/>
                </a:solidFill>
                <a:latin typeface="Cambria" pitchFamily="34" charset="0"/>
                <a:ea typeface="Cambria" pitchFamily="34" charset="-122"/>
                <a:cs typeface="Cambria" pitchFamily="34" charset="-120"/>
              </a:rPr>
              <a:t>cosine = √overlap × agreement</a:t>
            </a:r>
            <a:endParaRPr lang="en-US" sz="2800" dirty="0"/>
          </a:p>
        </p:txBody>
      </p:sp>
      <p:sp>
        <p:nvSpPr>
          <p:cNvPr id="5" name="text-125"/>
          <p:cNvSpPr txBox="1"/>
          <p:nvPr/>
        </p:nvSpPr>
        <p:spPr>
          <a:xfrm>
            <a:off x="868680" y="2240280"/>
            <a:ext cx="5760720" cy="1005840"/>
          </a:xfrm>
          <a:prstGeom prst="rect">
            <a:avLst/>
          </a:prstGeom>
          <a:noFill/>
          <a:ln/>
        </p:spPr>
        <p:txBody>
          <a:bodyPr wrap="square" lIns="0" tIns="0" rIns="0" bIns="0" rtlCol="0" anchor="t"/>
          <a:lstStyle/>
          <a:p>
            <a:pPr indent="0" marL="0">
              <a:spcAft>
                <a:spcPts val="600"/>
              </a:spcAft>
              <a:buNone/>
            </a:pPr>
            <a:r>
              <a:rPr lang="en-US" sz="1500" b="1" dirty="0">
                <a:solidFill>
                  <a:srgbClr val="9FD3D6"/>
                </a:solidFill>
              </a:rPr>
              <a:t>√overlap: </a:t>
            </a:r>
            <a:pPr indent="0" marL="0">
              <a:spcAft>
                <a:spcPts val="600"/>
              </a:spcAft>
              <a:buNone/>
            </a:pPr>
            <a:r>
              <a:rPr lang="en-US" sz="1500" dirty="0">
                <a:solidFill>
                  <a:schemeClr val="bg1"/>
                </a:solidFill>
              </a:rPr>
              <a:t>how much of the newcomer lies in the slot's directions</a:t>
            </a:r>
            <a:endParaRPr lang="en-US" sz="1500" dirty="0"/>
          </a:p>
          <a:p>
            <a:pPr indent="0" marL="0">
              <a:spcAft>
                <a:spcPts val="600"/>
              </a:spcAft>
              <a:buNone/>
            </a:pPr>
            <a:r>
              <a:rPr lang="en-US" sz="1500" b="1" dirty="0">
                <a:solidFill>
                  <a:srgbClr val="F2C46D"/>
                </a:solidFill>
              </a:rPr>
              <a:t>agreement: </a:t>
            </a:r>
            <a:pPr indent="0" marL="0">
              <a:spcAft>
                <a:spcPts val="600"/>
              </a:spcAft>
              <a:buNone/>
            </a:pPr>
            <a:r>
              <a:rPr lang="en-US" sz="1500" dirty="0">
                <a:solidFill>
                  <a:schemeClr val="bg1"/>
                </a:solidFill>
              </a:rPr>
              <a:t>inside that shared part, does it point the same way as the slot?</a:t>
            </a:r>
            <a:endParaRPr lang="en-US" sz="1500" dirty="0"/>
          </a:p>
        </p:txBody>
      </p:sp>
      <p:sp>
        <p:nvSpPr>
          <p:cNvPr id="6" name="card-126"/>
          <p:cNvSpPr/>
          <p:nvPr/>
        </p:nvSpPr>
        <p:spPr>
          <a:xfrm>
            <a:off x="548640" y="3566160"/>
            <a:ext cx="6400800" cy="2194560"/>
          </a:xfrm>
          <a:prstGeom prst="roundRect">
            <a:avLst>
              <a:gd name="adj" fmla="val 5000"/>
            </a:avLst>
          </a:prstGeom>
          <a:solidFill>
            <a:schemeClr val="bg2"/>
          </a:solidFill>
          <a:ln w="12700">
            <a:solidFill>
              <a:schemeClr val="bg2"/>
            </a:solidFill>
            <a:prstDash val="solid"/>
          </a:ln>
        </p:spPr>
      </p:sp>
      <p:sp>
        <p:nvSpPr>
          <p:cNvPr id="7" name="text-127"/>
          <p:cNvSpPr txBox="1"/>
          <p:nvPr/>
        </p:nvSpPr>
        <p:spPr>
          <a:xfrm>
            <a:off x="822960" y="3657600"/>
            <a:ext cx="5852160" cy="2011680"/>
          </a:xfrm>
          <a:prstGeom prst="rect">
            <a:avLst/>
          </a:prstGeom>
          <a:noFill/>
          <a:ln/>
        </p:spPr>
        <p:txBody>
          <a:bodyPr wrap="square" lIns="0" tIns="0" rIns="0" bIns="0" rtlCol="0" anchor="ctr"/>
          <a:lstStyle/>
          <a:p>
            <a:pPr indent="0" marL="0">
              <a:spcAft>
                <a:spcPts val="800"/>
              </a:spcAft>
              <a:buNone/>
            </a:pPr>
            <a:r>
              <a:rPr lang="en-US" sz="1500" b="1" dirty="0">
                <a:solidFill>
                  <a:schemeClr val="tx1"/>
                </a:solidFill>
              </a:rPr>
              <a:t>An exact identity, </a:t>
            </a:r>
            <a:pPr indent="0" marL="0">
              <a:spcAft>
                <a:spcPts val="800"/>
              </a:spcAft>
              <a:buNone/>
            </a:pPr>
            <a:r>
              <a:rPr lang="en-US" sz="1500" dirty="0">
                <a:solidFill>
                  <a:schemeClr val="tx1"/>
                </a:solidFill>
              </a:rPr>
              <a:t>in every module and for the whole adapter. Checked on all 221 cases: error below 10</a:t>
            </a:r>
            <a:pPr indent="0" marL="0">
              <a:spcAft>
                <a:spcPts val="800"/>
              </a:spcAft>
              <a:buNone/>
            </a:pPr>
            <a:r>
              <a:rPr lang="en-US" sz="1500" baseline="30000" dirty="0">
                <a:solidFill>
                  <a:schemeClr val="tx1"/>
                </a:solidFill>
              </a:rPr>
              <a:t>−15</a:t>
            </a:r>
            <a:pPr indent="0" marL="0">
              <a:spcAft>
                <a:spcPts val="800"/>
              </a:spcAft>
              <a:buNone/>
            </a:pPr>
            <a:r>
              <a:rPr lang="en-US" sz="1500" dirty="0">
                <a:solidFill>
                  <a:schemeClr val="tx1"/>
                </a:solidFill>
              </a:rPr>
              <a:t>.</a:t>
            </a:r>
            <a:endParaRPr lang="en-US" sz="1500" dirty="0"/>
          </a:p>
          <a:p>
            <a:pPr indent="0" marL="0">
              <a:spcAft>
                <a:spcPts val="800"/>
              </a:spcAft>
              <a:buNone/>
            </a:pPr>
            <a:r>
              <a:rPr lang="en-US" sz="1500" dirty="0">
                <a:solidFill>
                  <a:schemeClr val="tx1"/>
                </a:solidFill>
              </a:rPr>
              <a:t>So demand (= 1 − overlap) is cosine's first factor, and the two rank the cases almost identically:</a:t>
            </a:r>
            <a:endParaRPr lang="en-US" sz="1500" dirty="0"/>
          </a:p>
          <a:p>
            <a:pPr indent="0" marL="0">
              <a:spcAft>
                <a:spcPts val="800"/>
              </a:spcAft>
              <a:buNone/>
            </a:pPr>
            <a:r>
              <a:rPr lang="en-US" sz="1700" b="1" dirty="0">
                <a:solidFill>
                  <a:schemeClr val="accent1"/>
                </a:solidFill>
              </a:rPr>
              <a:t>ρ = −0.91 (0.5B)  ·  −0.88 (1.5B)  ·  −0.98 (real)</a:t>
            </a:r>
            <a:endParaRPr lang="en-US" sz="1500" dirty="0"/>
          </a:p>
        </p:txBody>
      </p:sp>
      <p:sp>
        <p:nvSpPr>
          <p:cNvPr id="8" name="card-128"/>
          <p:cNvSpPr/>
          <p:nvPr/>
        </p:nvSpPr>
        <p:spPr>
          <a:xfrm>
            <a:off x="7223760" y="1234440"/>
            <a:ext cx="4419295" cy="4526280"/>
          </a:xfrm>
          <a:prstGeom prst="roundRect">
            <a:avLst>
              <a:gd name="adj" fmla="val 2483"/>
            </a:avLst>
          </a:prstGeom>
          <a:solidFill>
            <a:schemeClr val="bg2"/>
          </a:solidFill>
          <a:ln w="12700">
            <a:solidFill>
              <a:schemeClr val="bg2"/>
            </a:solidFill>
            <a:prstDash val="solid"/>
          </a:ln>
        </p:spPr>
      </p:sp>
      <p:sp>
        <p:nvSpPr>
          <p:cNvPr id="9" name="icon-bg-129"/>
          <p:cNvSpPr/>
          <p:nvPr/>
        </p:nvSpPr>
        <p:spPr>
          <a:xfrm>
            <a:off x="7452360" y="1417320"/>
            <a:ext cx="868680" cy="868680"/>
          </a:xfrm>
          <a:prstGeom prst="ellipse">
            <a:avLst/>
          </a:prstGeom>
          <a:solidFill>
            <a:schemeClr val="bg1"/>
          </a:solidFill>
          <a:ln w="12700">
            <a:solidFill>
              <a:schemeClr val="bg1"/>
            </a:solidFill>
            <a:prstDash val="solid"/>
          </a:ln>
        </p:spPr>
      </p:sp>
      <p:pic>
        <p:nvPicPr>
          <p:cNvPr id="10" name="icon-compass-130" descr="compass illustration">    </p:cNvPr>
          <p:cNvPicPr>
            <a:picLocks noChangeAspect="1"/>
          </p:cNvPicPr>
          <p:nvPr/>
        </p:nvPicPr>
        <p:blipFill>
          <a:blip r:embed="rId1"/>
          <a:stretch>
            <a:fillRect/>
          </a:stretch>
        </p:blipFill>
        <p:spPr>
          <a:xfrm>
            <a:off x="7591349" y="1556309"/>
            <a:ext cx="590702" cy="590702"/>
          </a:xfrm>
          <a:prstGeom prst="rect">
            <a:avLst/>
          </a:prstGeom>
        </p:spPr>
      </p:pic>
      <p:sp>
        <p:nvSpPr>
          <p:cNvPr id="11" name="text-131"/>
          <p:cNvSpPr txBox="1"/>
          <p:nvPr/>
        </p:nvSpPr>
        <p:spPr>
          <a:xfrm>
            <a:off x="8458200" y="1463040"/>
            <a:ext cx="3001975" cy="777240"/>
          </a:xfrm>
          <a:prstGeom prst="rect">
            <a:avLst/>
          </a:prstGeom>
          <a:noFill/>
          <a:ln/>
        </p:spPr>
        <p:txBody>
          <a:bodyPr wrap="square" lIns="0" tIns="0" rIns="0" bIns="0" rtlCol="0" anchor="ctr"/>
          <a:lstStyle/>
          <a:p>
            <a:pPr indent="0" marL="0">
              <a:buNone/>
            </a:pPr>
            <a:r>
              <a:rPr lang="en-US" sz="1900" b="1" dirty="0">
                <a:solidFill>
                  <a:schemeClr val="tx1"/>
                </a:solidFill>
                <a:latin typeface="Cambria" pitchFamily="34" charset="0"/>
                <a:ea typeface="Cambria" pitchFamily="34" charset="-122"/>
                <a:cs typeface="Cambria" pitchFamily="34" charset="-120"/>
              </a:rPr>
              <a:t>What demand adds: direction</a:t>
            </a:r>
            <a:endParaRPr lang="en-US" sz="1900" dirty="0"/>
          </a:p>
        </p:txBody>
      </p:sp>
      <p:sp>
        <p:nvSpPr>
          <p:cNvPr id="12" name="text-132"/>
          <p:cNvSpPr txBox="1"/>
          <p:nvPr/>
        </p:nvSpPr>
        <p:spPr>
          <a:xfrm>
            <a:off x="7498080" y="2423160"/>
            <a:ext cx="3870655" cy="3200400"/>
          </a:xfrm>
          <a:prstGeom prst="rect">
            <a:avLst/>
          </a:prstGeom>
          <a:noFill/>
          <a:ln/>
        </p:spPr>
        <p:txBody>
          <a:bodyPr wrap="square" lIns="0" tIns="0" rIns="0" bIns="0" rtlCol="0" anchor="t"/>
          <a:lstStyle/>
          <a:p>
            <a:pPr indent="0" marL="0">
              <a:spcAft>
                <a:spcPts val="800"/>
              </a:spcAft>
              <a:buNone/>
            </a:pPr>
            <a:r>
              <a:rPr lang="en-US" sz="1500" dirty="0">
                <a:solidFill>
                  <a:schemeClr val="tx1"/>
                </a:solidFill>
              </a:rPr>
              <a:t>Cosine gives both tasks of a pair the same number. Demand differs, so it can say which task will be hurt.</a:t>
            </a:r>
            <a:endParaRPr lang="en-US" sz="1500" dirty="0"/>
          </a:p>
          <a:p>
            <a:pPr indent="0" marL="0">
              <a:spcAft>
                <a:spcPts val="800"/>
              </a:spcAft>
              <a:buNone/>
            </a:pPr>
            <a:r>
              <a:rPr lang="en-US" sz="3000" b="1" dirty="0">
                <a:solidFill>
                  <a:schemeClr val="accent1"/>
                </a:solidFill>
                <a:latin typeface="Cambria" pitchFamily="34" charset="0"/>
                <a:ea typeface="Cambria" pitchFamily="34" charset="-122"/>
                <a:cs typeface="Cambria" pitchFamily="34" charset="-120"/>
              </a:rPr>
              <a:t>16 of 18</a:t>
            </a:r>
            <a:endParaRPr lang="en-US" sz="1500" dirty="0"/>
          </a:p>
          <a:p>
            <a:pPr indent="0" marL="0">
              <a:spcAft>
                <a:spcPts val="800"/>
              </a:spcAft>
              <a:buNone/>
            </a:pPr>
            <a:r>
              <a:rPr lang="en-US" sz="1500" dirty="0">
                <a:solidFill>
                  <a:schemeClr val="tx1"/>
                </a:solidFill>
              </a:rPr>
              <a:t>0.5B pairs where the task with the higher demand was the one hurt more (sign test p = 0.001)</a:t>
            </a:r>
            <a:endParaRPr lang="en-US" sz="1500" dirty="0"/>
          </a:p>
          <a:p>
            <a:pPr indent="0" marL="0">
              <a:spcAft>
                <a:spcPts val="800"/>
              </a:spcAft>
              <a:buNone/>
            </a:pPr>
            <a:r>
              <a:rPr lang="en-US" sz="1500" dirty="0">
                <a:solidFill>
                  <a:schemeClr val="tx1"/>
                </a:solidFill>
              </a:rPr>
              <a:t>1.5B pairs: 10 of 16 (p = 0.45), so this may not hold on larger models.</a:t>
            </a:r>
            <a:endParaRPr lang="en-US" sz="1500" dirty="0"/>
          </a:p>
        </p:txBody>
      </p:sp>
      <p:sp>
        <p:nvSpPr>
          <p:cNvPr id="13" name="text-133"/>
          <p:cNvSpPr txBox="1"/>
          <p:nvPr/>
        </p:nvSpPr>
        <p:spPr>
          <a:xfrm>
            <a:off x="548640" y="5897880"/>
            <a:ext cx="11094415" cy="365760"/>
          </a:xfrm>
          <a:prstGeom prst="rect">
            <a:avLst/>
          </a:prstGeom>
          <a:noFill/>
          <a:ln/>
        </p:spPr>
        <p:txBody>
          <a:bodyPr wrap="square" lIns="0" tIns="0" rIns="0" bIns="0" rtlCol="0" anchor="t"/>
          <a:lstStyle/>
          <a:p>
            <a:pPr indent="0" marL="0">
              <a:buNone/>
            </a:pPr>
            <a:r>
              <a:rPr lang="en-US" sz="1200" i="1" dirty="0">
                <a:solidFill>
                  <a:schemeClr val="tx1"/>
                </a:solidFill>
              </a:rPr>
              <a:t>Here overlap uses all of the slot's directions. Agreement = cosine between the newcomer's covered part and the slot itself.</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Lesson 2: the task lives in B; A is almost shared</a:t>
            </a:r>
            <a:endParaRPr lang="en-US" sz="3000" dirty="0"/>
          </a:p>
        </p:txBody>
      </p:sp>
      <p:graphicFrame>
        <p:nvGraphicFramePr>
          <p:cNvPr id="3" name="Chart 0" descr=""/>
          <p:cNvGraphicFramePr/>
          <p:nvPr/>
        </p:nvGraphicFramePr>
        <p:xfrm>
          <a:off x="548640" y="1188720"/>
          <a:ext cx="5943600" cy="4572000"/>
        </p:xfrm>
        <a:graphic xmlns:a="http://schemas.openxmlformats.org/drawingml/2006/main">
          <a:graphicData uri="http://schemas.openxmlformats.org/drawingml/2006/chart">
            <c:chart xmlns:c="http://schemas.openxmlformats.org/drawingml/2006/chart" r:id="rId1"/>
          </a:graphicData>
        </a:graphic>
      </p:graphicFrame>
      <p:sp>
        <p:nvSpPr>
          <p:cNvPr id="4" name="card-134"/>
          <p:cNvSpPr/>
          <p:nvPr/>
        </p:nvSpPr>
        <p:spPr>
          <a:xfrm>
            <a:off x="6766560" y="1234440"/>
            <a:ext cx="2323948" cy="1737360"/>
          </a:xfrm>
          <a:prstGeom prst="roundRect">
            <a:avLst>
              <a:gd name="adj" fmla="val 6316"/>
            </a:avLst>
          </a:prstGeom>
          <a:solidFill>
            <a:schemeClr val="bg2"/>
          </a:solidFill>
          <a:ln w="12700">
            <a:solidFill>
              <a:schemeClr val="bg2"/>
            </a:solidFill>
            <a:prstDash val="solid"/>
          </a:ln>
        </p:spPr>
      </p:sp>
      <p:sp>
        <p:nvSpPr>
          <p:cNvPr id="5" name="text-135"/>
          <p:cNvSpPr txBox="1"/>
          <p:nvPr/>
        </p:nvSpPr>
        <p:spPr>
          <a:xfrm>
            <a:off x="6949440" y="1280160"/>
            <a:ext cx="1958188" cy="1645920"/>
          </a:xfrm>
          <a:prstGeom prst="rect">
            <a:avLst/>
          </a:prstGeom>
          <a:noFill/>
          <a:ln/>
        </p:spPr>
        <p:txBody>
          <a:bodyPr wrap="square" lIns="0" tIns="0" rIns="0" bIns="0" rtlCol="0" anchor="ctr"/>
          <a:lstStyle/>
          <a:p>
            <a:pPr indent="0" marL="0">
              <a:spcAft>
                <a:spcPts val="400"/>
              </a:spcAft>
              <a:buNone/>
            </a:pPr>
            <a:r>
              <a:rPr lang="en-US" sz="3000" b="1" dirty="0">
                <a:solidFill>
                  <a:schemeClr val="tx1"/>
                </a:solidFill>
                <a:latin typeface="Cambria" pitchFamily="34" charset="0"/>
                <a:ea typeface="Cambria" pitchFamily="34" charset="-122"/>
                <a:cs typeface="Cambria" pitchFamily="34" charset="-120"/>
              </a:rPr>
              <a:t>65–81%</a:t>
            </a:r>
            <a:endParaRPr lang="en-US" sz="1400" dirty="0"/>
          </a:p>
          <a:p>
            <a:pPr indent="0" marL="0">
              <a:spcAft>
                <a:spcPts val="400"/>
              </a:spcAft>
              <a:buNone/>
            </a:pPr>
            <a:r>
              <a:rPr lang="en-US" sz="1400" dirty="0">
                <a:solidFill>
                  <a:schemeClr val="tx1"/>
                </a:solidFill>
              </a:rPr>
              <a:t>of the newcomer's input side is already in the slot</a:t>
            </a:r>
            <a:endParaRPr lang="en-US" sz="1400" dirty="0"/>
          </a:p>
        </p:txBody>
      </p:sp>
      <p:sp>
        <p:nvSpPr>
          <p:cNvPr id="6" name="card-136"/>
          <p:cNvSpPr/>
          <p:nvPr/>
        </p:nvSpPr>
        <p:spPr>
          <a:xfrm>
            <a:off x="9319108" y="1234440"/>
            <a:ext cx="2323948" cy="1737360"/>
          </a:xfrm>
          <a:prstGeom prst="roundRect">
            <a:avLst>
              <a:gd name="adj" fmla="val 6316"/>
            </a:avLst>
          </a:prstGeom>
          <a:solidFill>
            <a:schemeClr val="bg2"/>
          </a:solidFill>
          <a:ln w="12700">
            <a:solidFill>
              <a:schemeClr val="bg2"/>
            </a:solidFill>
            <a:prstDash val="solid"/>
          </a:ln>
        </p:spPr>
      </p:sp>
      <p:sp>
        <p:nvSpPr>
          <p:cNvPr id="7" name="text-137"/>
          <p:cNvSpPr txBox="1"/>
          <p:nvPr/>
        </p:nvSpPr>
        <p:spPr>
          <a:xfrm>
            <a:off x="9501988" y="1280160"/>
            <a:ext cx="1958188" cy="1645920"/>
          </a:xfrm>
          <a:prstGeom prst="rect">
            <a:avLst/>
          </a:prstGeom>
          <a:noFill/>
          <a:ln/>
        </p:spPr>
        <p:txBody>
          <a:bodyPr wrap="square" lIns="0" tIns="0" rIns="0" bIns="0" rtlCol="0" anchor="ctr"/>
          <a:lstStyle/>
          <a:p>
            <a:pPr indent="0" marL="0">
              <a:spcAft>
                <a:spcPts val="400"/>
              </a:spcAft>
              <a:buNone/>
            </a:pPr>
            <a:r>
              <a:rPr lang="en-US" sz="3000" b="1" dirty="0">
                <a:solidFill>
                  <a:schemeClr val="accent1"/>
                </a:solidFill>
                <a:latin typeface="Cambria" pitchFamily="34" charset="0"/>
                <a:ea typeface="Cambria" pitchFamily="34" charset="-122"/>
                <a:cs typeface="Cambria" pitchFamily="34" charset="-120"/>
              </a:rPr>
              <a:t>7–13%</a:t>
            </a:r>
            <a:endParaRPr lang="en-US" sz="1400" dirty="0"/>
          </a:p>
          <a:p>
            <a:pPr indent="0" marL="0">
              <a:spcAft>
                <a:spcPts val="400"/>
              </a:spcAft>
              <a:buNone/>
            </a:pPr>
            <a:r>
              <a:rPr lang="en-US" sz="1400" dirty="0">
                <a:solidFill>
                  <a:schemeClr val="tx1"/>
                </a:solidFill>
              </a:rPr>
              <a:t>of its output side is already in the slot</a:t>
            </a:r>
            <a:endParaRPr lang="en-US" sz="1400" dirty="0"/>
          </a:p>
        </p:txBody>
      </p:sp>
      <p:sp>
        <p:nvSpPr>
          <p:cNvPr id="8" name="card-138"/>
          <p:cNvSpPr/>
          <p:nvPr/>
        </p:nvSpPr>
        <p:spPr>
          <a:xfrm>
            <a:off x="6766560" y="3108960"/>
            <a:ext cx="4876495" cy="1325880"/>
          </a:xfrm>
          <a:prstGeom prst="roundRect">
            <a:avLst>
              <a:gd name="adj" fmla="val 8276"/>
            </a:avLst>
          </a:prstGeom>
          <a:solidFill>
            <a:schemeClr val="bg2"/>
          </a:solidFill>
          <a:ln w="12700">
            <a:solidFill>
              <a:schemeClr val="bg2"/>
            </a:solidFill>
            <a:prstDash val="solid"/>
          </a:ln>
        </p:spPr>
      </p:sp>
      <p:sp>
        <p:nvSpPr>
          <p:cNvPr id="9" name="text-139"/>
          <p:cNvSpPr txBox="1"/>
          <p:nvPr/>
        </p:nvSpPr>
        <p:spPr>
          <a:xfrm>
            <a:off x="6995160" y="3154680"/>
            <a:ext cx="4419295" cy="1234440"/>
          </a:xfrm>
          <a:prstGeom prst="rect">
            <a:avLst/>
          </a:prstGeom>
          <a:noFill/>
          <a:ln/>
        </p:spPr>
        <p:txBody>
          <a:bodyPr wrap="square" lIns="0" tIns="0" rIns="0" bIns="0" rtlCol="0" anchor="ctr"/>
          <a:lstStyle/>
          <a:p>
            <a:pPr indent="0" marL="0">
              <a:buNone/>
            </a:pPr>
            <a:r>
              <a:rPr lang="en-US" sz="1500" b="1" dirty="0">
                <a:solidFill>
                  <a:schemeClr val="tx1"/>
                </a:solidFill>
              </a:rPr>
              <a:t>Why: </a:t>
            </a:r>
            <a:pPr indent="0" marL="0">
              <a:buNone/>
            </a:pPr>
            <a:r>
              <a:rPr lang="en-US" sz="1500" dirty="0">
                <a:solidFill>
                  <a:schemeClr val="tx1"/>
                </a:solidFill>
              </a:rPr>
              <a:t>all our adapters started from the same random A, and A barely moves in training (Zhu et al., ICML 2024). The task's information sits in B.</a:t>
            </a:r>
            <a:endParaRPr lang="en-US" sz="1500" dirty="0"/>
          </a:p>
        </p:txBody>
      </p:sp>
      <p:sp>
        <p:nvSpPr>
          <p:cNvPr id="10" name="outline-140"/>
          <p:cNvSpPr/>
          <p:nvPr/>
        </p:nvSpPr>
        <p:spPr>
          <a:xfrm>
            <a:off x="6766560" y="4572000"/>
            <a:ext cx="4876495" cy="1188720"/>
          </a:xfrm>
          <a:prstGeom prst="roundRect">
            <a:avLst>
              <a:gd name="adj" fmla="val 9231"/>
            </a:avLst>
          </a:prstGeom>
          <a:solidFill>
            <a:schemeClr val="bg1"/>
          </a:solidFill>
          <a:ln w="15875">
            <a:solidFill>
              <a:schemeClr val="accent1"/>
            </a:solidFill>
            <a:prstDash val="solid"/>
          </a:ln>
        </p:spPr>
      </p:sp>
      <p:sp>
        <p:nvSpPr>
          <p:cNvPr id="11" name="text-141"/>
          <p:cNvSpPr txBox="1"/>
          <p:nvPr/>
        </p:nvSpPr>
        <p:spPr>
          <a:xfrm>
            <a:off x="6995160" y="4617720"/>
            <a:ext cx="4419295" cy="1097280"/>
          </a:xfrm>
          <a:prstGeom prst="rect">
            <a:avLst/>
          </a:prstGeom>
          <a:noFill/>
          <a:ln/>
        </p:spPr>
        <p:txBody>
          <a:bodyPr wrap="square" lIns="0" tIns="0" rIns="0" bIns="0" rtlCol="0" anchor="ctr"/>
          <a:lstStyle/>
          <a:p>
            <a:pPr indent="0" marL="0">
              <a:buNone/>
            </a:pPr>
            <a:r>
              <a:rPr lang="en-US" sz="1500" b="1" dirty="0">
                <a:solidFill>
                  <a:schemeClr val="accent1"/>
                </a:solidFill>
              </a:rPr>
              <a:t>Storage hint: </a:t>
            </a:r>
            <a:pPr indent="0" marL="0">
              <a:buNone/>
            </a:pPr>
            <a:r>
              <a:rPr lang="en-US" sz="1500" dirty="0">
                <a:solidFill>
                  <a:schemeClr val="tx1"/>
                </a:solidFill>
              </a:rPr>
              <a:t>one shared A per slot plus a B per task (the HydraLoRA design, NeurIPS 2024) is worth testing here.</a:t>
            </a:r>
            <a:endParaRPr lang="en-US" sz="1500" dirty="0"/>
          </a:p>
        </p:txBody>
      </p:sp>
      <p:sp>
        <p:nvSpPr>
          <p:cNvPr id="12" name="text-142"/>
          <p:cNvSpPr txBox="1"/>
          <p:nvPr/>
        </p:nvSpPr>
        <p:spPr>
          <a:xfrm>
            <a:off x="548640" y="5870448"/>
            <a:ext cx="11094415" cy="457200"/>
          </a:xfrm>
          <a:prstGeom prst="rect">
            <a:avLst/>
          </a:prstGeom>
          <a:noFill/>
          <a:ln/>
        </p:spPr>
        <p:txBody>
          <a:bodyPr wrap="square" lIns="0" tIns="0" rIns="0" bIns="0" rtlCol="0" anchor="t"/>
          <a:lstStyle/>
          <a:p>
            <a:pPr indent="0" marL="0">
              <a:buNone/>
            </a:pPr>
            <a:r>
              <a:rPr lang="en-US" sz="1200" i="1" dirty="0">
                <a:solidFill>
                  <a:schemeClr val="tx1"/>
                </a:solidFill>
              </a:rPr>
              <a:t>Mean over modules; lab pairs and 132 ordered real pairs (real A: lowest 0.994). Input and output side: one-sided overlap with the slot's top input or output directions.</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Lesson 3: energy is not function</a:t>
            </a:r>
            <a:endParaRPr lang="en-US" sz="3000" dirty="0"/>
          </a:p>
        </p:txBody>
      </p:sp>
      <p:graphicFrame>
        <p:nvGraphicFramePr>
          <p:cNvPr id="3" name="Chart 0" descr=""/>
          <p:cNvGraphicFramePr/>
          <p:nvPr/>
        </p:nvGraphicFramePr>
        <p:xfrm>
          <a:off x="548640" y="1188720"/>
          <a:ext cx="6035040" cy="4572000"/>
        </p:xfrm>
        <a:graphic xmlns:a="http://schemas.openxmlformats.org/drawingml/2006/main">
          <a:graphicData uri="http://schemas.openxmlformats.org/drawingml/2006/chart">
            <c:chart xmlns:c="http://schemas.openxmlformats.org/drawingml/2006/chart" r:id="rId1"/>
          </a:graphicData>
        </a:graphic>
      </p:graphicFrame>
      <p:sp>
        <p:nvSpPr>
          <p:cNvPr id="4" name="card-143"/>
          <p:cNvSpPr/>
          <p:nvPr/>
        </p:nvSpPr>
        <p:spPr>
          <a:xfrm>
            <a:off x="6858000" y="1234440"/>
            <a:ext cx="4785055" cy="1051560"/>
          </a:xfrm>
          <a:prstGeom prst="roundRect">
            <a:avLst>
              <a:gd name="adj" fmla="val 10435"/>
            </a:avLst>
          </a:prstGeom>
          <a:solidFill>
            <a:schemeClr val="bg2"/>
          </a:solidFill>
          <a:ln w="12700">
            <a:solidFill>
              <a:schemeClr val="bg2"/>
            </a:solidFill>
            <a:prstDash val="solid"/>
          </a:ln>
        </p:spPr>
      </p:sp>
      <p:sp>
        <p:nvSpPr>
          <p:cNvPr id="5" name="text-144"/>
          <p:cNvSpPr txBox="1"/>
          <p:nvPr/>
        </p:nvSpPr>
        <p:spPr>
          <a:xfrm>
            <a:off x="7086600" y="1234440"/>
            <a:ext cx="4327855" cy="1051560"/>
          </a:xfrm>
          <a:prstGeom prst="rect">
            <a:avLst/>
          </a:prstGeom>
          <a:noFill/>
          <a:ln/>
        </p:spPr>
        <p:txBody>
          <a:bodyPr wrap="square" lIns="0" tIns="0" rIns="0" bIns="0" rtlCol="0" anchor="ctr"/>
          <a:lstStyle/>
          <a:p>
            <a:pPr indent="0" marL="0">
              <a:buNone/>
            </a:pPr>
            <a:r>
              <a:rPr lang="en-US" sz="2600" b="1" dirty="0">
                <a:solidFill>
                  <a:srgbClr val="B7791F"/>
                </a:solidFill>
                <a:latin typeface="Cambria" pitchFamily="34" charset="0"/>
                <a:ea typeface="Cambria" pitchFamily="34" charset="-122"/>
                <a:cs typeface="Cambria" pitchFamily="34" charset="-120"/>
              </a:rPr>
              <a:t>~17 of 32</a:t>
            </a:r>
            <a:pPr indent="0" marL="0">
              <a:buNone/>
            </a:pPr>
            <a:r>
              <a:rPr lang="en-US" sz="1500" dirty="0">
                <a:solidFill>
                  <a:schemeClr val="tx1"/>
                </a:solidFill>
              </a:rPr>
              <a:t>   directions a real adapter needs to keep 90% of its energy</a:t>
            </a:r>
            <a:endParaRPr lang="en-US" sz="1500" dirty="0"/>
          </a:p>
        </p:txBody>
      </p:sp>
      <p:sp>
        <p:nvSpPr>
          <p:cNvPr id="6" name="card-145"/>
          <p:cNvSpPr/>
          <p:nvPr/>
        </p:nvSpPr>
        <p:spPr>
          <a:xfrm>
            <a:off x="6858000" y="2423160"/>
            <a:ext cx="4785055" cy="1371600"/>
          </a:xfrm>
          <a:prstGeom prst="roundRect">
            <a:avLst>
              <a:gd name="adj" fmla="val 8000"/>
            </a:avLst>
          </a:prstGeom>
          <a:solidFill>
            <a:schemeClr val="bg2"/>
          </a:solidFill>
          <a:ln w="12700">
            <a:solidFill>
              <a:schemeClr val="bg2"/>
            </a:solidFill>
            <a:prstDash val="solid"/>
          </a:ln>
        </p:spPr>
      </p:sp>
      <p:sp>
        <p:nvSpPr>
          <p:cNvPr id="7" name="text-146"/>
          <p:cNvSpPr txBox="1"/>
          <p:nvPr/>
        </p:nvSpPr>
        <p:spPr>
          <a:xfrm>
            <a:off x="7086600" y="2468880"/>
            <a:ext cx="4327855" cy="1280160"/>
          </a:xfrm>
          <a:prstGeom prst="rect">
            <a:avLst/>
          </a:prstGeom>
          <a:noFill/>
          <a:ln/>
        </p:spPr>
        <p:txBody>
          <a:bodyPr wrap="square" lIns="0" tIns="0" rIns="0" bIns="0" rtlCol="0" anchor="ctr"/>
          <a:lstStyle/>
          <a:p>
            <a:pPr indent="0" marL="0">
              <a:spcAft>
                <a:spcPts val="200"/>
              </a:spcAft>
              <a:buNone/>
            </a:pPr>
            <a:r>
              <a:rPr lang="en-US" sz="2600" b="1" dirty="0">
                <a:solidFill>
                  <a:schemeClr val="accent1"/>
                </a:solidFill>
                <a:latin typeface="Cambria" pitchFamily="34" charset="0"/>
                <a:ea typeface="Cambria" pitchFamily="34" charset="-122"/>
                <a:cs typeface="Cambria" pitchFamily="34" charset="-120"/>
              </a:rPr>
              <a:t>~3 of 32</a:t>
            </a:r>
            <a:endParaRPr lang="en-US" sz="1400" dirty="0"/>
          </a:p>
          <a:p>
            <a:pPr indent="0" marL="0">
              <a:spcAft>
                <a:spcPts val="200"/>
              </a:spcAft>
              <a:buNone/>
            </a:pPr>
            <a:r>
              <a:rPr lang="en-US" sz="1400" dirty="0">
                <a:solidFill>
                  <a:schemeClr val="tx1"/>
                </a:solidFill>
              </a:rPr>
              <a:t>directions per task that kept 98.5–98.9% of quality (split, 11 tasks in one slot, 2 seeds), though they hold only ~55% of the energy</a:t>
            </a:r>
            <a:endParaRPr lang="en-US" sz="1400" dirty="0"/>
          </a:p>
        </p:txBody>
      </p:sp>
      <p:sp>
        <p:nvSpPr>
          <p:cNvPr id="8" name="outline-147"/>
          <p:cNvSpPr/>
          <p:nvPr/>
        </p:nvSpPr>
        <p:spPr>
          <a:xfrm>
            <a:off x="6858000" y="3931920"/>
            <a:ext cx="4785055" cy="1143000"/>
          </a:xfrm>
          <a:prstGeom prst="roundRect">
            <a:avLst>
              <a:gd name="adj" fmla="val 9600"/>
            </a:avLst>
          </a:prstGeom>
          <a:solidFill>
            <a:schemeClr val="bg1"/>
          </a:solidFill>
          <a:ln w="12700">
            <a:solidFill>
              <a:schemeClr val="accent5"/>
            </a:solidFill>
            <a:prstDash val="solid"/>
          </a:ln>
        </p:spPr>
      </p:sp>
      <p:sp>
        <p:nvSpPr>
          <p:cNvPr id="9" name="text-148"/>
          <p:cNvSpPr txBox="1"/>
          <p:nvPr/>
        </p:nvSpPr>
        <p:spPr>
          <a:xfrm>
            <a:off x="7086600" y="3977640"/>
            <a:ext cx="4327855" cy="1051560"/>
          </a:xfrm>
          <a:prstGeom prst="rect">
            <a:avLst/>
          </a:prstGeom>
          <a:noFill/>
          <a:ln/>
        </p:spPr>
        <p:txBody>
          <a:bodyPr wrap="square" lIns="0" tIns="0" rIns="0" bIns="0" rtlCol="0" anchor="ctr"/>
          <a:lstStyle/>
          <a:p>
            <a:pPr indent="0" marL="0">
              <a:buNone/>
            </a:pPr>
            <a:r>
              <a:rPr lang="en-US" sz="1400" b="1" dirty="0">
                <a:solidFill>
                  <a:schemeClr val="tx1"/>
                </a:solidFill>
              </a:rPr>
              <a:t>Phase 3 tried allocating by energy: </a:t>
            </a:r>
            <a:pPr indent="0" marL="0">
              <a:buNone/>
            </a:pPr>
            <a:r>
              <a:rPr lang="en-US" sz="1400" dirty="0">
                <a:solidFill>
                  <a:schemeClr val="tx1"/>
                </a:solidFill>
              </a:rPr>
              <a:t>it helped in a crowded slot (4 directions: 90.7% vs split's 87.1%) but lost with more room (16: 96.0% vs 98.2%).</a:t>
            </a:r>
            <a:endParaRPr lang="en-US" sz="1400" dirty="0"/>
          </a:p>
        </p:txBody>
      </p:sp>
      <p:sp>
        <p:nvSpPr>
          <p:cNvPr id="10" name="card-149"/>
          <p:cNvSpPr/>
          <p:nvPr/>
        </p:nvSpPr>
        <p:spPr>
          <a:xfrm>
            <a:off x="6858000" y="5212080"/>
            <a:ext cx="4785055" cy="566928"/>
          </a:xfrm>
          <a:prstGeom prst="roundRect">
            <a:avLst>
              <a:gd name="adj" fmla="val 19355"/>
            </a:avLst>
          </a:prstGeom>
          <a:solidFill>
            <a:schemeClr val="accent1"/>
          </a:solidFill>
          <a:ln w="12700">
            <a:solidFill>
              <a:schemeClr val="accent1"/>
            </a:solidFill>
            <a:prstDash val="solid"/>
          </a:ln>
        </p:spPr>
      </p:sp>
      <p:sp>
        <p:nvSpPr>
          <p:cNvPr id="11" name="text-150"/>
          <p:cNvSpPr txBox="1"/>
          <p:nvPr/>
        </p:nvSpPr>
        <p:spPr>
          <a:xfrm>
            <a:off x="7040880" y="5212080"/>
            <a:ext cx="4419295" cy="566928"/>
          </a:xfrm>
          <a:prstGeom prst="rect">
            <a:avLst/>
          </a:prstGeom>
          <a:noFill/>
          <a:ln/>
        </p:spPr>
        <p:txBody>
          <a:bodyPr wrap="square" lIns="0" tIns="0" rIns="0" bIns="0" rtlCol="0" anchor="ctr"/>
          <a:lstStyle/>
          <a:p>
            <a:pPr indent="0" marL="0">
              <a:buNone/>
            </a:pPr>
            <a:r>
              <a:rPr lang="en-US" sz="1500" b="1" dirty="0">
                <a:solidFill>
                  <a:schemeClr val="bg1"/>
                </a:solidFill>
              </a:rPr>
              <a:t>Capacity should be measured by a direction's effect on outputs.</a:t>
            </a:r>
            <a:endParaRPr lang="en-US" sz="1500" dirty="0"/>
          </a:p>
        </p:txBody>
      </p:sp>
      <p:sp>
        <p:nvSpPr>
          <p:cNvPr id="12" name="text-151"/>
          <p:cNvSpPr txBox="1"/>
          <p:nvPr/>
        </p:nvSpPr>
        <p:spPr>
          <a:xfrm>
            <a:off x="548640" y="5897880"/>
            <a:ext cx="11094415" cy="365760"/>
          </a:xfrm>
          <a:prstGeom prst="rect">
            <a:avLst/>
          </a:prstGeom>
          <a:noFill/>
          <a:ln/>
        </p:spPr>
        <p:txBody>
          <a:bodyPr wrap="square" lIns="0" tIns="0" rIns="0" bIns="0" rtlCol="0" anchor="t"/>
          <a:lstStyle/>
          <a:p>
            <a:pPr indent="0" marL="0">
              <a:buNone/>
            </a:pPr>
            <a:r>
              <a:rPr lang="en-US" sz="1200" i="1" dirty="0">
                <a:solidFill>
                  <a:schemeClr val="tx1"/>
                </a:solidFill>
              </a:rPr>
              <a:t>Energy: real adapters (seed 0, 12 tasks), pooled over all 112 modules. Split and energy-based allocation: Phase 3 real benchmark and stress test (1 seed).</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Where the new directions sit: layers and modules</a:t>
            </a:r>
            <a:endParaRPr lang="en-US" sz="3000" dirty="0"/>
          </a:p>
        </p:txBody>
      </p:sp>
      <p:graphicFrame>
        <p:nvGraphicFramePr>
          <p:cNvPr id="3" name="Chart 0" descr=""/>
          <p:cNvGraphicFramePr/>
          <p:nvPr/>
        </p:nvGraphicFramePr>
        <p:xfrm>
          <a:off x="548640" y="1188720"/>
          <a:ext cx="6949440" cy="4572000"/>
        </p:xfrm>
        <a:graphic xmlns:a="http://schemas.openxmlformats.org/drawingml/2006/main">
          <a:graphicData uri="http://schemas.openxmlformats.org/drawingml/2006/chart">
            <c:chart xmlns:c="http://schemas.openxmlformats.org/drawingml/2006/chart" r:id="rId1"/>
          </a:graphicData>
        </a:graphic>
      </p:graphicFrame>
      <p:sp>
        <p:nvSpPr>
          <p:cNvPr id="4" name="card-152"/>
          <p:cNvSpPr/>
          <p:nvPr/>
        </p:nvSpPr>
        <p:spPr>
          <a:xfrm>
            <a:off x="7772400" y="1234440"/>
            <a:ext cx="3870655" cy="1600200"/>
          </a:xfrm>
          <a:prstGeom prst="roundRect">
            <a:avLst>
              <a:gd name="adj" fmla="val 6857"/>
            </a:avLst>
          </a:prstGeom>
          <a:solidFill>
            <a:schemeClr val="bg2"/>
          </a:solidFill>
          <a:ln w="12700">
            <a:solidFill>
              <a:schemeClr val="bg2"/>
            </a:solidFill>
            <a:prstDash val="solid"/>
          </a:ln>
        </p:spPr>
      </p:sp>
      <p:sp>
        <p:nvSpPr>
          <p:cNvPr id="5" name="text-153"/>
          <p:cNvSpPr txBox="1"/>
          <p:nvPr/>
        </p:nvSpPr>
        <p:spPr>
          <a:xfrm>
            <a:off x="8001000" y="1280160"/>
            <a:ext cx="3413455" cy="1508760"/>
          </a:xfrm>
          <a:prstGeom prst="rect">
            <a:avLst/>
          </a:prstGeom>
          <a:noFill/>
          <a:ln/>
        </p:spPr>
        <p:txBody>
          <a:bodyPr wrap="square" lIns="0" tIns="0" rIns="0" bIns="0" rtlCol="0" anchor="ctr"/>
          <a:lstStyle/>
          <a:p>
            <a:pPr indent="0" marL="0">
              <a:buNone/>
            </a:pPr>
            <a:r>
              <a:rPr lang="en-US" sz="1400" b="1" dirty="0">
                <a:solidFill>
                  <a:schemeClr val="tx1"/>
                </a:solidFill>
              </a:rPr>
              <a:t>Middle layers share the most </a:t>
            </a:r>
            <a:pPr indent="0" marL="0">
              <a:buNone/>
            </a:pPr>
            <a:r>
              <a:rPr lang="en-US" sz="1400" dirty="0">
                <a:solidFill>
                  <a:schemeClr val="tx1"/>
                </a:solidFill>
              </a:rPr>
              <a:t>(real: up to 17% at layer 17); the last layers the least (6–8%), so they hold the most task-specific directions.</a:t>
            </a:r>
            <a:endParaRPr lang="en-US" sz="1400" dirty="0"/>
          </a:p>
        </p:txBody>
      </p:sp>
      <p:sp>
        <p:nvSpPr>
          <p:cNvPr id="6" name="card-154"/>
          <p:cNvSpPr/>
          <p:nvPr/>
        </p:nvSpPr>
        <p:spPr>
          <a:xfrm>
            <a:off x="7772400" y="2971800"/>
            <a:ext cx="3870655" cy="1783080"/>
          </a:xfrm>
          <a:prstGeom prst="roundRect">
            <a:avLst>
              <a:gd name="adj" fmla="val 6154"/>
            </a:avLst>
          </a:prstGeom>
          <a:solidFill>
            <a:schemeClr val="bg2"/>
          </a:solidFill>
          <a:ln w="12700">
            <a:solidFill>
              <a:schemeClr val="bg2"/>
            </a:solidFill>
            <a:prstDash val="solid"/>
          </a:ln>
        </p:spPr>
      </p:sp>
      <p:sp>
        <p:nvSpPr>
          <p:cNvPr id="7" name="text-155"/>
          <p:cNvSpPr txBox="1"/>
          <p:nvPr/>
        </p:nvSpPr>
        <p:spPr>
          <a:xfrm>
            <a:off x="8001000" y="3017520"/>
            <a:ext cx="3413455" cy="1691640"/>
          </a:xfrm>
          <a:prstGeom prst="rect">
            <a:avLst/>
          </a:prstGeom>
          <a:noFill/>
          <a:ln/>
        </p:spPr>
        <p:txBody>
          <a:bodyPr wrap="square" lIns="0" tIns="0" rIns="0" bIns="0" rtlCol="0" anchor="ctr"/>
          <a:lstStyle/>
          <a:p>
            <a:pPr indent="0" marL="0">
              <a:buNone/>
            </a:pPr>
            <a:r>
              <a:rPr lang="en-US" sz="1400" b="1" dirty="0">
                <a:solidFill>
                  <a:schemeClr val="tx1"/>
                </a:solidFill>
              </a:rPr>
              <a:t>Per layer and module, </a:t>
            </a:r>
            <a:pPr indent="0" marL="0">
              <a:buNone/>
            </a:pPr>
            <a:r>
              <a:rPr lang="en-US" sz="1400" dirty="0">
                <a:solidFill>
                  <a:schemeClr val="tx1"/>
                </a:solidFill>
              </a:rPr>
              <a:t>demand tracked how much merging changed the module's output, but cosine tracked it a bit better: ρ 0.60 vs 0.64 (0.5B), 0.51 vs 0.64 (1.5B).</a:t>
            </a:r>
            <a:endParaRPr lang="en-US" sz="1400" dirty="0"/>
          </a:p>
        </p:txBody>
      </p:sp>
      <p:sp>
        <p:nvSpPr>
          <p:cNvPr id="8" name="card-156"/>
          <p:cNvSpPr/>
          <p:nvPr/>
        </p:nvSpPr>
        <p:spPr>
          <a:xfrm>
            <a:off x="7772400" y="4892040"/>
            <a:ext cx="3870655" cy="868680"/>
          </a:xfrm>
          <a:prstGeom prst="roundRect">
            <a:avLst>
              <a:gd name="adj" fmla="val 12632"/>
            </a:avLst>
          </a:prstGeom>
          <a:solidFill>
            <a:schemeClr val="bg2"/>
          </a:solidFill>
          <a:ln w="12700">
            <a:solidFill>
              <a:schemeClr val="bg2"/>
            </a:solidFill>
            <a:prstDash val="solid"/>
          </a:ln>
        </p:spPr>
      </p:sp>
      <p:sp>
        <p:nvSpPr>
          <p:cNvPr id="9" name="text-157"/>
          <p:cNvSpPr txBox="1"/>
          <p:nvPr/>
        </p:nvSpPr>
        <p:spPr>
          <a:xfrm>
            <a:off x="8001000" y="4937760"/>
            <a:ext cx="3413455" cy="777240"/>
          </a:xfrm>
          <a:prstGeom prst="rect">
            <a:avLst/>
          </a:prstGeom>
          <a:noFill/>
          <a:ln/>
        </p:spPr>
        <p:txBody>
          <a:bodyPr wrap="square" lIns="0" tIns="0" rIns="0" bIns="0" rtlCol="0" anchor="ctr"/>
          <a:lstStyle/>
          <a:p>
            <a:pPr indent="0" marL="0">
              <a:buNone/>
            </a:pPr>
            <a:r>
              <a:rPr lang="en-US" sz="1400" b="1" dirty="0">
                <a:solidFill>
                  <a:schemeClr val="tx1"/>
                </a:solidFill>
              </a:rPr>
              <a:t>Fits Phase 3: </a:t>
            </a:r>
            <a:pPr indent="0" marL="0">
              <a:buNone/>
            </a:pPr>
            <a:r>
              <a:rPr lang="en-US" sz="1400" dirty="0">
                <a:solidFill>
                  <a:schemeClr val="tx1"/>
                </a:solidFill>
              </a:rPr>
              <a:t>layer analysis is a probe, not a merge rule.</a:t>
            </a:r>
            <a:endParaRPr lang="en-US" sz="1400" dirty="0"/>
          </a:p>
        </p:txBody>
      </p:sp>
      <p:sp>
        <p:nvSpPr>
          <p:cNvPr id="10" name="text-158"/>
          <p:cNvSpPr txBox="1"/>
          <p:nvPr/>
        </p:nvSpPr>
        <p:spPr>
          <a:xfrm>
            <a:off x="548640" y="5870448"/>
            <a:ext cx="11094415" cy="457200"/>
          </a:xfrm>
          <a:prstGeom prst="rect">
            <a:avLst/>
          </a:prstGeom>
          <a:noFill/>
          <a:ln/>
        </p:spPr>
        <p:txBody>
          <a:bodyPr wrap="square" lIns="0" tIns="0" rIns="0" bIns="0" rtlCol="0" anchor="t"/>
          <a:lstStyle/>
          <a:p>
            <a:pPr indent="0" marL="0">
              <a:buNone/>
            </a:pPr>
            <a:r>
              <a:rPr lang="en-US" sz="1200" i="1" dirty="0">
                <a:solidFill>
                  <a:schemeClr val="tx1"/>
                </a:solidFill>
              </a:rPr>
              <a:t>Overlap per layer: energy-weighted over modules and cases (86 real, 36 lab). Module test: Phase 3 layer diagnostics, 1,728 (0.5B) and 2,016 (1.5B) layer-module cases.</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The answer to your question</a:t>
            </a:r>
            <a:endParaRPr lang="en-US" sz="3000" dirty="0"/>
          </a:p>
        </p:txBody>
      </p:sp>
      <p:graphicFrame>
        <p:nvGraphicFramePr>
          <p:cNvPr id="17" name="answer-table"/>
          <p:cNvGraphicFramePr>
            <a:graphicFrameLocks noGrp="1"/>
          </p:cNvGraphicFramePr>
          <p:nvPr>
            <p:extLst>
              <p:ext uri="{D42A27DB-BD31-4B8C-83A1-F6EECF244321}">
                <p14:modId xmlns:p14="http://schemas.microsoft.com/office/powerpoint/2010/main" val="1579011935"/>
              </p:ext>
            </p:extLst>
          </p:nvPr>
        </p:nvGraphicFramePr>
        <p:xfrm>
          <a:off x="548640" y="1143000"/>
          <a:ext cx="11094415" cy="914400"/>
        </p:xfrm>
        <a:graphic>
          <a:graphicData uri="http://schemas.openxmlformats.org/drawingml/2006/table">
            <a:tbl>
              <a:tblPr/>
              <a:tblGrid>
                <a:gridCol w="3657600"/>
                <a:gridCol w="4114800"/>
                <a:gridCol w="3322015"/>
              </a:tblGrid>
              <a:tr h="36576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Your question</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B263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we found</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B263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Evidence</a:t>
                      </a:r>
                      <a:endParaRPr lang="en-US" sz="14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B263B"/>
                    </a:solidFill>
                  </a:tcPr>
                </a:tc>
              </a:tr>
              <a:tr h="566928">
                <a:tc>
                  <a:txBody>
                    <a:bodyPr/>
                    <a:lstStyle/>
                    <a:p>
                      <a:pPr indent="0" marL="0">
                        <a:buNone/>
                      </a:pPr>
                      <a:r>
                        <a:rPr lang="en-US" sz="1300" b="1" dirty="0">
                          <a:solidFill>
                            <a:srgbClr val="1B263B"/>
                          </a:solidFill>
                          <a:latin typeface="Calibri" pitchFamily="34" charset="0"/>
                          <a:ea typeface="Calibri" pitchFamily="34" charset="-122"/>
                          <a:cs typeface="Calibri" pitchFamily="34" charset="-120"/>
                        </a:rPr>
                        <a:t>How much genuinely new information does an incoming adapter bring?</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B263B"/>
                          </a:solidFill>
                          <a:latin typeface="Calibri" pitchFamily="34" charset="0"/>
                          <a:ea typeface="Calibri" pitchFamily="34" charset="-122"/>
                          <a:cs typeface="Calibri" pitchFamily="34" charset="-120"/>
                        </a:rPr>
                        <a:t>Most of it: about 90% of its energy is new to the slot.</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B263B"/>
                          </a:solidFill>
                          <a:latin typeface="Calibri" pitchFamily="34" charset="0"/>
                          <a:ea typeface="Calibri" pitchFamily="34" charset="-122"/>
                          <a:cs typeface="Calibri" pitchFamily="34" charset="-120"/>
                        </a:rPr>
                        <a:t>Overlap 6–11% by test bed; at least 80% new in all 221 cases</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30352">
                <a:tc>
                  <a:txBody>
                    <a:bodyPr/>
                    <a:lstStyle/>
                    <a:p>
                      <a:pPr indent="0" marL="0">
                        <a:buNone/>
                      </a:pPr>
                      <a:r>
                        <a:rPr lang="en-US" sz="1300" b="1" dirty="0">
                          <a:solidFill>
                            <a:srgbClr val="1B263B"/>
                          </a:solidFill>
                          <a:latin typeface="Calibri" pitchFamily="34" charset="0"/>
                          <a:ea typeface="Calibri" pitchFamily="34" charset="-122"/>
                          <a:cs typeface="Calibri" pitchFamily="34" charset="-120"/>
                        </a:rPr>
                        <a:t>If most directions are covered, does it need less room?</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B263B"/>
                          </a:solidFill>
                          <a:latin typeface="Calibri" pitchFamily="34" charset="0"/>
                          <a:ea typeface="Calibri" pitchFamily="34" charset="-122"/>
                          <a:cs typeface="Calibri" pitchFamily="34" charset="-120"/>
                        </a:rPr>
                        <a:t>Almost nothing is covered, so it needs about its full budget.</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B263B"/>
                          </a:solidFill>
                          <a:latin typeface="Calibri" pitchFamily="34" charset="0"/>
                          <a:ea typeface="Calibri" pitchFamily="34" charset="-122"/>
                          <a:cs typeface="Calibri" pitchFamily="34" charset="-120"/>
                        </a:rPr>
                        <a:t>k_new 17.5 vs k_self 17.1 of 32 (real)</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B263B"/>
                          </a:solidFill>
                          <a:latin typeface="Calibri" pitchFamily="34" charset="0"/>
                          <a:ea typeface="Calibri" pitchFamily="34" charset="-122"/>
                          <a:cs typeface="Calibri" pitchFamily="34" charset="-120"/>
                        </a:rPr>
                        <a:t>Does demand predict K-Merge's failure better than cosine?</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b="1" dirty="0">
                          <a:solidFill>
                            <a:srgbClr val="D1495B"/>
                          </a:solidFill>
                          <a:latin typeface="Calibri" pitchFamily="34" charset="0"/>
                          <a:ea typeface="Calibri" pitchFamily="34" charset="-122"/>
                          <a:cs typeface="Calibri" pitchFamily="34" charset="-120"/>
                        </a:rPr>
                        <a:t>Only on the 0.5B lab. Not on 1.5B or on real tasks: the pass rule is not met.</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B263B"/>
                          </a:solidFill>
                          <a:latin typeface="Calibri" pitchFamily="34" charset="0"/>
                          <a:ea typeface="Calibri" pitchFamily="34" charset="-122"/>
                          <a:cs typeface="Calibri" pitchFamily="34" charset="-120"/>
                        </a:rPr>
                        <a:t>ρ 0.58 vs 0.44  ·  −0.25 vs −0.34  ·  0.62 vs 0.65</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B263B"/>
                          </a:solidFill>
                          <a:latin typeface="Calibri" pitchFamily="34" charset="0"/>
                          <a:ea typeface="Calibri" pitchFamily="34" charset="-122"/>
                          <a:cs typeface="Calibri" pitchFamily="34" charset="-120"/>
                        </a:rPr>
                        <a:t>Why not?</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B263B"/>
                          </a:solidFill>
                          <a:latin typeface="Calibri" pitchFamily="34" charset="0"/>
                          <a:ea typeface="Calibri" pitchFamily="34" charset="-122"/>
                          <a:cs typeface="Calibri" pitchFamily="34" charset="-120"/>
                        </a:rPr>
                        <a:t>Demand is cosine's overlap factor, and on real tasks task type and slot size drive both.</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B263B"/>
                          </a:solidFill>
                          <a:latin typeface="Calibri" pitchFamily="34" charset="0"/>
                          <a:ea typeface="Calibri" pitchFamily="34" charset="-122"/>
                          <a:cs typeface="Calibri" pitchFamily="34" charset="-120"/>
                        </a:rPr>
                        <a:t>ρ(cosine, demand) = −0.98; controlled ρ ≈ 0</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63B"/>
                          </a:solidFill>
                          <a:latin typeface="Calibri" pitchFamily="34" charset="0"/>
                          <a:ea typeface="Calibri" pitchFamily="34" charset="-122"/>
                          <a:cs typeface="Calibri" pitchFamily="34" charset="-120"/>
                        </a:rPr>
                        <a:t>Does the 90% cut-off matter?</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B263B"/>
                          </a:solidFill>
                          <a:latin typeface="Calibri" pitchFamily="34" charset="0"/>
                          <a:ea typeface="Calibri" pitchFamily="34" charset="-122"/>
                          <a:cs typeface="Calibri" pitchFamily="34" charset="-120"/>
                        </a:rPr>
                        <a:t>No: the same answer at 80%, 95% and 100%.</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B263B"/>
                          </a:solidFill>
                          <a:latin typeface="Calibri" pitchFamily="34" charset="0"/>
                          <a:ea typeface="Calibri" pitchFamily="34" charset="-122"/>
                          <a:cs typeface="Calibri" pitchFamily="34" charset="-120"/>
                        </a:rPr>
                        <a:t>Demand never beats cosine on all three test beds</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B263B"/>
                          </a:solidFill>
                          <a:latin typeface="Calibri" pitchFamily="34" charset="0"/>
                          <a:ea typeface="Calibri" pitchFamily="34" charset="-122"/>
                          <a:cs typeface="Calibri" pitchFamily="34" charset="-120"/>
                        </a:rPr>
                        <a:t>How much room does a task really need?</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B263B"/>
                          </a:solidFill>
                          <a:latin typeface="Calibri" pitchFamily="34" charset="0"/>
                          <a:ea typeface="Calibri" pitchFamily="34" charset="-122"/>
                          <a:cs typeface="Calibri" pitchFamily="34" charset="-120"/>
                        </a:rPr>
                        <a:t>By function, little: about 1–4 own directions keep ≥ 97% (median 3), not the ~17 that energy suggests.</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B263B"/>
                          </a:solidFill>
                          <a:latin typeface="Calibri" pitchFamily="34" charset="0"/>
                          <a:ea typeface="Calibri" pitchFamily="34" charset="-122"/>
                          <a:cs typeface="Calibri" pitchFamily="34" charset="-120"/>
                        </a:rPr>
                        <a:t>Measured from the saved Phase 3 split results</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63B"/>
                          </a:solidFill>
                          <a:latin typeface="Calibri" pitchFamily="34" charset="0"/>
                          <a:ea typeface="Calibri" pitchFamily="34" charset="-122"/>
                          <a:cs typeface="Calibri" pitchFamily="34" charset="-120"/>
                        </a:rPr>
                        <a:t>Does demand work as K-Merge's partner rule?</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B263B"/>
                          </a:solidFill>
                          <a:latin typeface="Calibri" pitchFamily="34" charset="0"/>
                          <a:ea typeface="Calibri" pitchFamily="34" charset="-122"/>
                          <a:cs typeface="Calibri" pitchFamily="34" charset="-120"/>
                        </a:rPr>
                        <a:t>No change in quality.</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B263B"/>
                          </a:solidFill>
                          <a:latin typeface="Calibri" pitchFamily="34" charset="0"/>
                          <a:ea typeface="Calibri" pitchFamily="34" charset="-122"/>
                          <a:cs typeface="Calibri" pitchFamily="34" charset="-120"/>
                        </a:rPr>
                        <a:t>Same slots in 60/70 and 64/68 runs</a:t>
                      </a:r>
                      <a:endParaRPr lang="en-US" sz="1300" dirty="0">
                        <a:latin typeface="Calibri" charset="0"/>
                        <a:ea typeface="Calibri" charset="0"/>
                        <a:cs typeface="Calibri" charset="0"/>
                      </a:endParaRPr>
                    </a:p>
                  </a:txBody>
                  <a:tcPr marL="54864" marR="54864"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4" name="card-159"/>
          <p:cNvSpPr/>
          <p:nvPr/>
        </p:nvSpPr>
        <p:spPr>
          <a:xfrm>
            <a:off x="548640" y="5532120"/>
            <a:ext cx="11094415" cy="685800"/>
          </a:xfrm>
          <a:prstGeom prst="roundRect">
            <a:avLst>
              <a:gd name="adj" fmla="val 16000"/>
            </a:avLst>
          </a:prstGeom>
          <a:solidFill>
            <a:schemeClr val="tx1"/>
          </a:solidFill>
          <a:ln w="12700">
            <a:solidFill>
              <a:schemeClr val="tx1"/>
            </a:solidFill>
            <a:prstDash val="solid"/>
          </a:ln>
        </p:spPr>
      </p:sp>
      <p:sp>
        <p:nvSpPr>
          <p:cNvPr id="5" name="text-160"/>
          <p:cNvSpPr txBox="1"/>
          <p:nvPr/>
        </p:nvSpPr>
        <p:spPr>
          <a:xfrm>
            <a:off x="822960" y="5532120"/>
            <a:ext cx="10545775" cy="685800"/>
          </a:xfrm>
          <a:prstGeom prst="rect">
            <a:avLst/>
          </a:prstGeom>
          <a:noFill/>
          <a:ln/>
        </p:spPr>
        <p:txBody>
          <a:bodyPr wrap="square" lIns="0" tIns="0" rIns="0" bIns="0" rtlCol="0" anchor="ctr"/>
          <a:lstStyle/>
          <a:p>
            <a:pPr indent="0" marL="0">
              <a:buNone/>
            </a:pPr>
            <a:r>
              <a:rPr lang="en-US" sz="1500" b="1" dirty="0">
                <a:solidFill>
                  <a:srgbClr val="9FD3D6"/>
                </a:solidFill>
              </a:rPr>
              <a:t>In one line: </a:t>
            </a:r>
            <a:pPr indent="0" marL="0">
              <a:buNone/>
            </a:pPr>
            <a:r>
              <a:rPr lang="en-US" sz="1500" dirty="0">
                <a:solidFill>
                  <a:schemeClr val="bg1"/>
                </a:solidFill>
              </a:rPr>
              <a:t>almost everything in a new adapter is new, but that does not tell us when K-Merge fails (task type and crowding do), and each task needs only a few of its own directions.</a:t>
            </a:r>
            <a:endParaRPr lang="en-US" sz="15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What this means for your capacity-aware idea</a:t>
            </a:r>
            <a:endParaRPr lang="en-US" sz="3000" dirty="0"/>
          </a:p>
        </p:txBody>
      </p:sp>
      <p:sp>
        <p:nvSpPr>
          <p:cNvPr id="3" name="card-161"/>
          <p:cNvSpPr/>
          <p:nvPr/>
        </p:nvSpPr>
        <p:spPr>
          <a:xfrm>
            <a:off x="548640" y="1234440"/>
            <a:ext cx="5364328" cy="3566160"/>
          </a:xfrm>
          <a:prstGeom prst="roundRect">
            <a:avLst>
              <a:gd name="adj" fmla="val 3077"/>
            </a:avLst>
          </a:prstGeom>
          <a:solidFill>
            <a:schemeClr val="bg2"/>
          </a:solidFill>
          <a:ln w="12700">
            <a:solidFill>
              <a:schemeClr val="bg2"/>
            </a:solidFill>
            <a:prstDash val="solid"/>
          </a:ln>
        </p:spPr>
      </p:sp>
      <p:sp>
        <p:nvSpPr>
          <p:cNvPr id="4" name="icon-bg-162"/>
          <p:cNvSpPr/>
          <p:nvPr/>
        </p:nvSpPr>
        <p:spPr>
          <a:xfrm>
            <a:off x="822960" y="1417320"/>
            <a:ext cx="822960" cy="822960"/>
          </a:xfrm>
          <a:prstGeom prst="ellipse">
            <a:avLst/>
          </a:prstGeom>
          <a:solidFill>
            <a:schemeClr val="bg1"/>
          </a:solidFill>
          <a:ln w="12700">
            <a:solidFill>
              <a:schemeClr val="bg1"/>
            </a:solidFill>
            <a:prstDash val="solid"/>
          </a:ln>
        </p:spPr>
      </p:sp>
      <p:pic>
        <p:nvPicPr>
          <p:cNvPr id="5" name="icon-check_mark_button-163" descr="check mark button illustration">    </p:cNvPr>
          <p:cNvPicPr>
            <a:picLocks noChangeAspect="1"/>
          </p:cNvPicPr>
          <p:nvPr/>
        </p:nvPicPr>
        <p:blipFill>
          <a:blip r:embed="rId1"/>
          <a:stretch>
            <a:fillRect/>
          </a:stretch>
        </p:blipFill>
        <p:spPr>
          <a:xfrm>
            <a:off x="954634" y="1548994"/>
            <a:ext cx="559613" cy="559613"/>
          </a:xfrm>
          <a:prstGeom prst="rect">
            <a:avLst/>
          </a:prstGeom>
        </p:spPr>
      </p:pic>
      <p:sp>
        <p:nvSpPr>
          <p:cNvPr id="6" name="text-164"/>
          <p:cNvSpPr txBox="1"/>
          <p:nvPr/>
        </p:nvSpPr>
        <p:spPr>
          <a:xfrm>
            <a:off x="1828800" y="1463040"/>
            <a:ext cx="3901288" cy="73152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What holds</a:t>
            </a:r>
            <a:endParaRPr lang="en-US" sz="2200" dirty="0"/>
          </a:p>
        </p:txBody>
      </p:sp>
      <p:sp>
        <p:nvSpPr>
          <p:cNvPr id="7" name="text-165"/>
          <p:cNvSpPr txBox="1"/>
          <p:nvPr/>
        </p:nvSpPr>
        <p:spPr>
          <a:xfrm>
            <a:off x="868680" y="2423160"/>
            <a:ext cx="4724248" cy="224028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rPr>
              <a:t>Store each task's own directions instead of averaging: that is what sharing does, and it kept 98.9% against K-Merge's 90.8% (Phase 3).</a:t>
            </a:r>
            <a:endParaRPr lang="en-US" sz="1600" dirty="0"/>
          </a:p>
          <a:p>
            <a:pPr marL="342900" indent="-342900">
              <a:spcAft>
                <a:spcPts val="1200"/>
              </a:spcAft>
              <a:buSzPct val="100000"/>
              <a:buChar char="•"/>
            </a:pPr>
            <a:r>
              <a:rPr lang="en-US" sz="1600" dirty="0">
                <a:solidFill>
                  <a:schemeClr val="tx1"/>
                </a:solidFill>
              </a:rPr>
              <a:t>Capacity is the right question: tasks differ in how much room they need, and crowding is what hurts.</a:t>
            </a:r>
            <a:endParaRPr lang="en-US" sz="1600" dirty="0"/>
          </a:p>
        </p:txBody>
      </p:sp>
      <p:sp>
        <p:nvSpPr>
          <p:cNvPr id="8" name="card-166"/>
          <p:cNvSpPr/>
          <p:nvPr/>
        </p:nvSpPr>
        <p:spPr>
          <a:xfrm>
            <a:off x="6278728" y="1234440"/>
            <a:ext cx="5364328" cy="3566160"/>
          </a:xfrm>
          <a:prstGeom prst="roundRect">
            <a:avLst>
              <a:gd name="adj" fmla="val 3077"/>
            </a:avLst>
          </a:prstGeom>
          <a:solidFill>
            <a:schemeClr val="bg2"/>
          </a:solidFill>
          <a:ln w="12700">
            <a:solidFill>
              <a:schemeClr val="bg2"/>
            </a:solidFill>
            <a:prstDash val="solid"/>
          </a:ln>
        </p:spPr>
      </p:sp>
      <p:sp>
        <p:nvSpPr>
          <p:cNvPr id="9" name="icon-bg-167"/>
          <p:cNvSpPr/>
          <p:nvPr/>
        </p:nvSpPr>
        <p:spPr>
          <a:xfrm>
            <a:off x="6553048" y="1417320"/>
            <a:ext cx="822960" cy="822960"/>
          </a:xfrm>
          <a:prstGeom prst="ellipse">
            <a:avLst/>
          </a:prstGeom>
          <a:solidFill>
            <a:schemeClr val="bg1"/>
          </a:solidFill>
          <a:ln w="12700">
            <a:solidFill>
              <a:schemeClr val="bg1"/>
            </a:solidFill>
            <a:prstDash val="solid"/>
          </a:ln>
        </p:spPr>
      </p:sp>
      <p:pic>
        <p:nvPicPr>
          <p:cNvPr id="10" name="icon-compass-168" descr="compass illustration">    </p:cNvPr>
          <p:cNvPicPr>
            <a:picLocks noChangeAspect="1"/>
          </p:cNvPicPr>
          <p:nvPr/>
        </p:nvPicPr>
        <p:blipFill>
          <a:blip r:embed="rId2"/>
          <a:stretch>
            <a:fillRect/>
          </a:stretch>
        </p:blipFill>
        <p:spPr>
          <a:xfrm>
            <a:off x="6684721" y="1548994"/>
            <a:ext cx="559613" cy="559613"/>
          </a:xfrm>
          <a:prstGeom prst="rect">
            <a:avLst/>
          </a:prstGeom>
        </p:spPr>
      </p:pic>
      <p:sp>
        <p:nvSpPr>
          <p:cNvPr id="11" name="text-169"/>
          <p:cNvSpPr txBox="1"/>
          <p:nvPr/>
        </p:nvSpPr>
        <p:spPr>
          <a:xfrm>
            <a:off x="7558888" y="1463040"/>
            <a:ext cx="3901288" cy="731520"/>
          </a:xfrm>
          <a:prstGeom prst="rect">
            <a:avLst/>
          </a:prstGeom>
          <a:noFill/>
          <a:ln/>
        </p:spPr>
        <p:txBody>
          <a:bodyPr wrap="square" lIns="0" tIns="0" rIns="0" bIns="0" rtlCol="0" anchor="ctr"/>
          <a:lstStyle/>
          <a:p>
            <a:pPr indent="0" marL="0">
              <a:buNone/>
            </a:pPr>
            <a:r>
              <a:rPr lang="en-US" sz="2200" b="1" dirty="0">
                <a:solidFill>
                  <a:schemeClr val="accent2"/>
                </a:solidFill>
                <a:latin typeface="Cambria" pitchFamily="34" charset="0"/>
                <a:ea typeface="Cambria" pitchFamily="34" charset="-122"/>
                <a:cs typeface="Cambria" pitchFamily="34" charset="-120"/>
              </a:rPr>
              <a:t>What changes</a:t>
            </a:r>
            <a:endParaRPr lang="en-US" sz="2200" dirty="0"/>
          </a:p>
        </p:txBody>
      </p:sp>
      <p:sp>
        <p:nvSpPr>
          <p:cNvPr id="12" name="text-170"/>
          <p:cNvSpPr txBox="1"/>
          <p:nvPr/>
        </p:nvSpPr>
        <p:spPr>
          <a:xfrm>
            <a:off x="6598768" y="2423160"/>
            <a:ext cx="4724248" cy="224028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rPr>
              <a:t>Little is shared (about 10%, mostly within a task type), so storing only the new directions saves little room.</a:t>
            </a:r>
            <a:endParaRPr lang="en-US" sz="1600" dirty="0"/>
          </a:p>
          <a:p>
            <a:pPr marL="342900" indent="-342900">
              <a:spcAft>
                <a:spcPts val="1200"/>
              </a:spcAft>
              <a:buSzPct val="100000"/>
              <a:buChar char="•"/>
            </a:pPr>
            <a:r>
              <a:rPr lang="en-US" sz="1600" dirty="0">
                <a:solidFill>
                  <a:schemeClr val="tx1"/>
                </a:solidFill>
              </a:rPr>
              <a:t>By function most tasks need only 1–4 directions, but giving unequal shares adds at most about 2 points; when crowded, a shared basis (K-Share) works better.</a:t>
            </a:r>
            <a:endParaRPr lang="en-US" sz="1600" dirty="0"/>
          </a:p>
        </p:txBody>
      </p:sp>
      <p:sp>
        <p:nvSpPr>
          <p:cNvPr id="13" name="card-171"/>
          <p:cNvSpPr/>
          <p:nvPr/>
        </p:nvSpPr>
        <p:spPr>
          <a:xfrm>
            <a:off x="548640" y="4983480"/>
            <a:ext cx="11094415" cy="960120"/>
          </a:xfrm>
          <a:prstGeom prst="roundRect">
            <a:avLst>
              <a:gd name="adj" fmla="val 11429"/>
            </a:avLst>
          </a:prstGeom>
          <a:solidFill>
            <a:schemeClr val="tx1"/>
          </a:solidFill>
          <a:ln w="12700">
            <a:solidFill>
              <a:schemeClr val="tx1"/>
            </a:solidFill>
            <a:prstDash val="solid"/>
          </a:ln>
        </p:spPr>
      </p:sp>
      <p:sp>
        <p:nvSpPr>
          <p:cNvPr id="14" name="icon-bg-172"/>
          <p:cNvSpPr/>
          <p:nvPr/>
        </p:nvSpPr>
        <p:spPr>
          <a:xfrm>
            <a:off x="777240" y="5074920"/>
            <a:ext cx="777240" cy="777240"/>
          </a:xfrm>
          <a:prstGeom prst="ellipse">
            <a:avLst/>
          </a:prstGeom>
          <a:solidFill>
            <a:schemeClr val="bg1"/>
          </a:solidFill>
          <a:ln w="12700">
            <a:solidFill>
              <a:schemeClr val="bg1"/>
            </a:solidFill>
            <a:prstDash val="solid"/>
          </a:ln>
        </p:spPr>
      </p:sp>
      <p:pic>
        <p:nvPicPr>
          <p:cNvPr id="15" name="icon-bullseye-173" descr="bullseye illustration">    </p:cNvPr>
          <p:cNvPicPr>
            <a:picLocks noChangeAspect="1"/>
          </p:cNvPicPr>
          <p:nvPr/>
        </p:nvPicPr>
        <p:blipFill>
          <a:blip r:embed="rId3"/>
          <a:stretch>
            <a:fillRect/>
          </a:stretch>
        </p:blipFill>
        <p:spPr>
          <a:xfrm>
            <a:off x="901598" y="5199278"/>
            <a:ext cx="528523" cy="528523"/>
          </a:xfrm>
          <a:prstGeom prst="rect">
            <a:avLst/>
          </a:prstGeom>
        </p:spPr>
      </p:pic>
      <p:sp>
        <p:nvSpPr>
          <p:cNvPr id="16" name="text-174"/>
          <p:cNvSpPr txBox="1"/>
          <p:nvPr/>
        </p:nvSpPr>
        <p:spPr>
          <a:xfrm>
            <a:off x="1783080" y="4983480"/>
            <a:ext cx="9631375" cy="960120"/>
          </a:xfrm>
          <a:prstGeom prst="rect">
            <a:avLst/>
          </a:prstGeom>
          <a:noFill/>
          <a:ln/>
        </p:spPr>
        <p:txBody>
          <a:bodyPr wrap="square" lIns="0" tIns="0" rIns="0" bIns="0" rtlCol="0" anchor="ctr"/>
          <a:lstStyle/>
          <a:p>
            <a:pPr indent="0" marL="0">
              <a:buNone/>
            </a:pPr>
            <a:r>
              <a:rPr lang="en-US" sz="1700" b="1" dirty="0">
                <a:solidFill>
                  <a:srgbClr val="9FD3D6"/>
                </a:solidFill>
              </a:rPr>
              <a:t>The rule that remains: </a:t>
            </a:r>
            <a:pPr indent="0" marL="0">
              <a:buNone/>
            </a:pPr>
            <a:r>
              <a:rPr lang="en-US" sz="1700" dirty="0">
                <a:solidFill>
                  <a:schemeClr val="bg1"/>
                </a:solidFill>
              </a:rPr>
              <a:t>keep each task's own directions while their needs fit the slot (about 9–10 tasks in 32 directions); beyond that, share a basis.</a:t>
            </a:r>
            <a:endParaRPr lang="en-US" sz="1700" dirty="0"/>
          </a:p>
        </p:txBody>
      </p:sp>
      <p:sp>
        <p:nvSpPr>
          <p:cNvPr id="17" name="text-175"/>
          <p:cNvSpPr txBox="1"/>
          <p:nvPr/>
        </p:nvSpPr>
        <p:spPr>
          <a:xfrm>
            <a:off x="548640" y="6053328"/>
            <a:ext cx="11094415" cy="274320"/>
          </a:xfrm>
          <a:prstGeom prst="rect">
            <a:avLst/>
          </a:prstGeom>
          <a:noFill/>
          <a:ln/>
        </p:spPr>
        <p:txBody>
          <a:bodyPr wrap="square" lIns="0" tIns="0" rIns="0" bIns="0" rtlCol="0" anchor="t"/>
          <a:lstStyle/>
          <a:p>
            <a:pPr indent="0" marL="0">
              <a:buNone/>
            </a:pPr>
            <a:r>
              <a:rPr lang="en-US" sz="1200" i="1" dirty="0">
                <a:solidFill>
                  <a:schemeClr val="tx1"/>
                </a:solidFill>
              </a:rPr>
              <a:t>Closest prior work: Iso-CTS (ICML 2025), TSV-C (CVPR 2025), HydraLoRA (NeurIPS 2024).</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Capacity by function: each task needs few directions</a:t>
            </a:r>
            <a:endParaRPr lang="en-US" sz="3000" dirty="0"/>
          </a:p>
        </p:txBody>
      </p:sp>
      <p:graphicFrame>
        <p:nvGraphicFramePr>
          <p:cNvPr id="3" name="Chart 0" descr=""/>
          <p:cNvGraphicFramePr/>
          <p:nvPr/>
        </p:nvGraphicFramePr>
        <p:xfrm>
          <a:off x="548640" y="1188720"/>
          <a:ext cx="6309360" cy="4572000"/>
        </p:xfrm>
        <a:graphic xmlns:a="http://schemas.openxmlformats.org/drawingml/2006/main">
          <a:graphicData uri="http://schemas.openxmlformats.org/drawingml/2006/chart">
            <c:chart xmlns:c="http://schemas.openxmlformats.org/drawingml/2006/chart" r:id="rId1"/>
          </a:graphicData>
        </a:graphic>
      </p:graphicFrame>
      <p:sp>
        <p:nvSpPr>
          <p:cNvPr id="4" name="card-176"/>
          <p:cNvSpPr/>
          <p:nvPr/>
        </p:nvSpPr>
        <p:spPr>
          <a:xfrm>
            <a:off x="7178040" y="1234440"/>
            <a:ext cx="4465015" cy="1234440"/>
          </a:xfrm>
          <a:prstGeom prst="roundRect">
            <a:avLst>
              <a:gd name="adj" fmla="val 8889"/>
            </a:avLst>
          </a:prstGeom>
          <a:solidFill>
            <a:schemeClr val="bg2"/>
          </a:solidFill>
          <a:ln w="12700">
            <a:solidFill>
              <a:schemeClr val="bg2"/>
            </a:solidFill>
            <a:prstDash val="solid"/>
          </a:ln>
        </p:spPr>
      </p:sp>
      <p:sp>
        <p:nvSpPr>
          <p:cNvPr id="5" name="text-177"/>
          <p:cNvSpPr txBox="1"/>
          <p:nvPr/>
        </p:nvSpPr>
        <p:spPr>
          <a:xfrm>
            <a:off x="7406640" y="1280160"/>
            <a:ext cx="4007815" cy="1143000"/>
          </a:xfrm>
          <a:prstGeom prst="rect">
            <a:avLst/>
          </a:prstGeom>
          <a:noFill/>
          <a:ln/>
        </p:spPr>
        <p:txBody>
          <a:bodyPr wrap="square" lIns="0" tIns="0" rIns="0" bIns="0" rtlCol="0" anchor="ctr"/>
          <a:lstStyle/>
          <a:p>
            <a:pPr indent="0" marL="0">
              <a:buNone/>
            </a:pPr>
            <a:r>
              <a:rPr lang="en-US" sz="1400" b="1" dirty="0">
                <a:solidFill>
                  <a:schemeClr val="accent1"/>
                </a:solidFill>
              </a:rPr>
              <a:t>QA: 1 direction </a:t>
            </a:r>
            <a:pPr indent="0" marL="0">
              <a:buNone/>
            </a:pPr>
            <a:r>
              <a:rPr lang="en-US" sz="1400" dirty="0">
                <a:solidFill>
                  <a:schemeClr val="tx1"/>
                </a:solidFill>
              </a:rPr>
              <a:t>for all four languages. Grammar: 1–8 (median 3). Summaries: 3–10 (median 3.5).</a:t>
            </a:r>
            <a:endParaRPr lang="en-US" sz="1400" dirty="0"/>
          </a:p>
        </p:txBody>
      </p:sp>
      <p:sp>
        <p:nvSpPr>
          <p:cNvPr id="6" name="card-178"/>
          <p:cNvSpPr/>
          <p:nvPr/>
        </p:nvSpPr>
        <p:spPr>
          <a:xfrm>
            <a:off x="7178040" y="2606040"/>
            <a:ext cx="4465015" cy="1371600"/>
          </a:xfrm>
          <a:prstGeom prst="roundRect">
            <a:avLst>
              <a:gd name="adj" fmla="val 8000"/>
            </a:avLst>
          </a:prstGeom>
          <a:solidFill>
            <a:schemeClr val="bg2"/>
          </a:solidFill>
          <a:ln w="12700">
            <a:solidFill>
              <a:schemeClr val="bg2"/>
            </a:solidFill>
            <a:prstDash val="solid"/>
          </a:ln>
        </p:spPr>
      </p:sp>
      <p:sp>
        <p:nvSpPr>
          <p:cNvPr id="7" name="text-179"/>
          <p:cNvSpPr txBox="1"/>
          <p:nvPr/>
        </p:nvSpPr>
        <p:spPr>
          <a:xfrm>
            <a:off x="7406640" y="2651760"/>
            <a:ext cx="4007815" cy="1280160"/>
          </a:xfrm>
          <a:prstGeom prst="rect">
            <a:avLst/>
          </a:prstGeom>
          <a:noFill/>
          <a:ln/>
        </p:spPr>
        <p:txBody>
          <a:bodyPr wrap="square" lIns="0" tIns="0" rIns="0" bIns="0" rtlCol="0" anchor="ctr"/>
          <a:lstStyle/>
          <a:p>
            <a:pPr indent="0" marL="0">
              <a:buNone/>
            </a:pPr>
            <a:r>
              <a:rPr lang="en-US" sz="1400" b="1" dirty="0">
                <a:solidFill>
                  <a:schemeClr val="accent1"/>
                </a:solidFill>
              </a:rPr>
              <a:t>About 55% of the energy </a:t>
            </a:r>
            <a:pPr indent="0" marL="0">
              <a:buNone/>
            </a:pPr>
            <a:r>
              <a:rPr lang="en-US" sz="1400" dirty="0">
                <a:solidFill>
                  <a:schemeClr val="tx1"/>
                </a:solidFill>
              </a:rPr>
              <a:t>is all those directions hold (range 29–80%). Counting by energy overstates the need about 5 to 18 times.</a:t>
            </a:r>
            <a:endParaRPr lang="en-US" sz="1400" dirty="0"/>
          </a:p>
        </p:txBody>
      </p:sp>
      <p:sp>
        <p:nvSpPr>
          <p:cNvPr id="8" name="card-180"/>
          <p:cNvSpPr/>
          <p:nvPr/>
        </p:nvSpPr>
        <p:spPr>
          <a:xfrm>
            <a:off x="7178040" y="4114800"/>
            <a:ext cx="4465015" cy="1508760"/>
          </a:xfrm>
          <a:prstGeom prst="roundRect">
            <a:avLst>
              <a:gd name="adj" fmla="val 7273"/>
            </a:avLst>
          </a:prstGeom>
          <a:solidFill>
            <a:schemeClr val="bg2"/>
          </a:solidFill>
          <a:ln w="12700">
            <a:solidFill>
              <a:schemeClr val="bg2"/>
            </a:solidFill>
            <a:prstDash val="solid"/>
          </a:ln>
        </p:spPr>
      </p:sp>
      <p:sp>
        <p:nvSpPr>
          <p:cNvPr id="9" name="text-181"/>
          <p:cNvSpPr txBox="1"/>
          <p:nvPr/>
        </p:nvSpPr>
        <p:spPr>
          <a:xfrm>
            <a:off x="7406640" y="4160520"/>
            <a:ext cx="4007815" cy="1417320"/>
          </a:xfrm>
          <a:prstGeom prst="rect">
            <a:avLst/>
          </a:prstGeom>
          <a:noFill/>
          <a:ln/>
        </p:spPr>
        <p:txBody>
          <a:bodyPr wrap="square" lIns="0" tIns="0" rIns="0" bIns="0" rtlCol="0" anchor="ctr"/>
          <a:lstStyle/>
          <a:p>
            <a:pPr indent="0" marL="0">
              <a:buNone/>
            </a:pPr>
            <a:r>
              <a:rPr lang="en-US" sz="1400" b="1" dirty="0">
                <a:solidFill>
                  <a:schemeClr val="accent1"/>
                </a:solidFill>
              </a:rPr>
              <a:t>About 40 directions </a:t>
            </a:r>
            <a:pPr indent="0" marL="0">
              <a:buNone/>
            </a:pPr>
            <a:r>
              <a:rPr lang="en-US" sz="1400" dirty="0">
                <a:solidFill>
                  <a:schemeClr val="tx1"/>
                </a:solidFill>
              </a:rPr>
              <a:t>for all 12 tasks together (39 and 42 in the two seeds), but one slot has 32. So a slot fits about 9–10 tasks with their own directions.</a:t>
            </a:r>
            <a:endParaRPr lang="en-US" sz="1400" dirty="0"/>
          </a:p>
        </p:txBody>
      </p:sp>
      <p:sp>
        <p:nvSpPr>
          <p:cNvPr id="10" name="text-182"/>
          <p:cNvSpPr txBox="1"/>
          <p:nvPr/>
        </p:nvSpPr>
        <p:spPr>
          <a:xfrm>
            <a:off x="548640" y="5870448"/>
            <a:ext cx="11094415" cy="457200"/>
          </a:xfrm>
          <a:prstGeom prst="rect">
            <a:avLst/>
          </a:prstGeom>
          <a:noFill/>
          <a:ln/>
        </p:spPr>
        <p:txBody>
          <a:bodyPr wrap="square" lIns="0" tIns="0" rIns="0" bIns="0" rtlCol="0" anchor="t"/>
          <a:lstStyle/>
          <a:p>
            <a:pPr indent="0" marL="0">
              <a:buNone/>
            </a:pPr>
            <a:r>
              <a:rPr lang="en-US" sz="1200" i="1" dirty="0">
                <a:solidFill>
                  <a:schemeClr val="tx1"/>
                </a:solidFill>
              </a:rPr>
              <a:t>Need = fewest own directions keeping ≥ 97% of the task's own-adapter quality. Measured, not estimated: under split a task's score depends only on its own number of directions, so the saved Phase 3 runs give it at 0, 1, 2, 3, 4 and 8 (seed 0; seed 1 agrees).</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Giving directions by need adds little; sharing wins</a:t>
            </a:r>
            <a:endParaRPr lang="en-US" sz="3000" dirty="0"/>
          </a:p>
        </p:txBody>
      </p:sp>
      <p:graphicFrame>
        <p:nvGraphicFramePr>
          <p:cNvPr id="3" name="Chart 0" descr=""/>
          <p:cNvGraphicFramePr/>
          <p:nvPr/>
        </p:nvGraphicFramePr>
        <p:xfrm>
          <a:off x="548640" y="1188720"/>
          <a:ext cx="6675120" cy="4572000"/>
        </p:xfrm>
        <a:graphic xmlns:a="http://schemas.openxmlformats.org/drawingml/2006/main">
          <a:graphicData uri="http://schemas.openxmlformats.org/drawingml/2006/chart">
            <c:chart xmlns:c="http://schemas.openxmlformats.org/drawingml/2006/chart" r:id="rId1"/>
          </a:graphicData>
        </a:graphic>
      </p:graphicFrame>
      <p:sp>
        <p:nvSpPr>
          <p:cNvPr id="4" name="card-183"/>
          <p:cNvSpPr/>
          <p:nvPr/>
        </p:nvSpPr>
        <p:spPr>
          <a:xfrm>
            <a:off x="7498080" y="1234440"/>
            <a:ext cx="4144975" cy="1417320"/>
          </a:xfrm>
          <a:prstGeom prst="roundRect">
            <a:avLst>
              <a:gd name="adj" fmla="val 7742"/>
            </a:avLst>
          </a:prstGeom>
          <a:solidFill>
            <a:schemeClr val="bg2"/>
          </a:solidFill>
          <a:ln w="12700">
            <a:solidFill>
              <a:schemeClr val="bg2"/>
            </a:solidFill>
            <a:prstDash val="solid"/>
          </a:ln>
        </p:spPr>
      </p:sp>
      <p:sp>
        <p:nvSpPr>
          <p:cNvPr id="5" name="text-184"/>
          <p:cNvSpPr txBox="1"/>
          <p:nvPr/>
        </p:nvSpPr>
        <p:spPr>
          <a:xfrm>
            <a:off x="7726680" y="1280160"/>
            <a:ext cx="3687775" cy="1325880"/>
          </a:xfrm>
          <a:prstGeom prst="rect">
            <a:avLst/>
          </a:prstGeom>
          <a:noFill/>
          <a:ln/>
        </p:spPr>
        <p:txBody>
          <a:bodyPr wrap="square" lIns="0" tIns="0" rIns="0" bIns="0" rtlCol="0" anchor="ctr"/>
          <a:lstStyle/>
          <a:p>
            <a:pPr indent="0" marL="0">
              <a:spcAft>
                <a:spcPts val="200"/>
              </a:spcAft>
              <a:buNone/>
            </a:pPr>
            <a:r>
              <a:rPr lang="en-US" sz="2200" b="1" dirty="0">
                <a:solidFill>
                  <a:schemeClr val="accent6"/>
                </a:solidFill>
                <a:latin typeface="Cambria" pitchFamily="34" charset="0"/>
                <a:ea typeface="Cambria" pitchFamily="34" charset="-122"/>
                <a:cs typeface="Cambria" pitchFamily="34" charset="-120"/>
              </a:rPr>
              <a:t>+1.9 points at most</a:t>
            </a:r>
            <a:endParaRPr lang="en-US" sz="1400" dirty="0"/>
          </a:p>
          <a:p>
            <a:pPr indent="0" marL="0">
              <a:spcAft>
                <a:spcPts val="200"/>
              </a:spcAft>
              <a:buNone/>
            </a:pPr>
            <a:r>
              <a:rPr lang="en-US" sz="1400" dirty="0">
                <a:solidFill>
                  <a:schemeClr val="tx1"/>
                </a:solidFill>
              </a:rPr>
              <a:t>from giving directions by need instead of equally, even with perfect knowledge of each task's need</a:t>
            </a:r>
            <a:endParaRPr lang="en-US" sz="1400" dirty="0"/>
          </a:p>
        </p:txBody>
      </p:sp>
      <p:sp>
        <p:nvSpPr>
          <p:cNvPr id="6" name="card-185"/>
          <p:cNvSpPr/>
          <p:nvPr/>
        </p:nvSpPr>
        <p:spPr>
          <a:xfrm>
            <a:off x="7498080" y="2788920"/>
            <a:ext cx="4144975" cy="1417320"/>
          </a:xfrm>
          <a:prstGeom prst="roundRect">
            <a:avLst>
              <a:gd name="adj" fmla="val 7742"/>
            </a:avLst>
          </a:prstGeom>
          <a:solidFill>
            <a:schemeClr val="bg2"/>
          </a:solidFill>
          <a:ln w="12700">
            <a:solidFill>
              <a:schemeClr val="bg2"/>
            </a:solidFill>
            <a:prstDash val="solid"/>
          </a:ln>
        </p:spPr>
      </p:sp>
      <p:sp>
        <p:nvSpPr>
          <p:cNvPr id="7" name="text-186"/>
          <p:cNvSpPr txBox="1"/>
          <p:nvPr/>
        </p:nvSpPr>
        <p:spPr>
          <a:xfrm>
            <a:off x="7726680" y="2834640"/>
            <a:ext cx="3687775" cy="1325880"/>
          </a:xfrm>
          <a:prstGeom prst="rect">
            <a:avLst/>
          </a:prstGeom>
          <a:noFill/>
          <a:ln/>
        </p:spPr>
        <p:txBody>
          <a:bodyPr wrap="square" lIns="0" tIns="0" rIns="0" bIns="0" rtlCol="0" anchor="ctr"/>
          <a:lstStyle/>
          <a:p>
            <a:pPr indent="0" marL="0">
              <a:spcAft>
                <a:spcPts val="200"/>
              </a:spcAft>
              <a:buNone/>
            </a:pPr>
            <a:r>
              <a:rPr lang="en-US" sz="2200" b="1" dirty="0">
                <a:solidFill>
                  <a:schemeClr val="accent1"/>
                </a:solidFill>
                <a:latin typeface="Cambria" pitchFamily="34" charset="0"/>
                <a:ea typeface="Cambria" pitchFamily="34" charset="-122"/>
                <a:cs typeface="Cambria" pitchFamily="34" charset="-120"/>
              </a:rPr>
              <a:t>96.7% vs 92.9%</a:t>
            </a:r>
            <a:endParaRPr lang="en-US" sz="1400" dirty="0"/>
          </a:p>
          <a:p>
            <a:pPr indent="0" marL="0">
              <a:spcAft>
                <a:spcPts val="200"/>
              </a:spcAft>
              <a:buNone/>
            </a:pPr>
            <a:r>
              <a:rPr lang="en-US" sz="1400" dirty="0">
                <a:solidFill>
                  <a:schemeClr val="tx1"/>
                </a:solidFill>
              </a:rPr>
              <a:t>K-Share vs the best by-need split at 8 directions: when tasks outnumber directions, a shared basis wins</a:t>
            </a:r>
            <a:endParaRPr lang="en-US" sz="1400" dirty="0"/>
          </a:p>
        </p:txBody>
      </p:sp>
      <p:sp>
        <p:nvSpPr>
          <p:cNvPr id="8" name="card-187"/>
          <p:cNvSpPr/>
          <p:nvPr/>
        </p:nvSpPr>
        <p:spPr>
          <a:xfrm>
            <a:off x="7498080" y="4343400"/>
            <a:ext cx="4144975" cy="1417320"/>
          </a:xfrm>
          <a:prstGeom prst="roundRect">
            <a:avLst>
              <a:gd name="adj" fmla="val 7742"/>
            </a:avLst>
          </a:prstGeom>
          <a:solidFill>
            <a:schemeClr val="tx1"/>
          </a:solidFill>
          <a:ln w="12700">
            <a:solidFill>
              <a:schemeClr val="tx1"/>
            </a:solidFill>
            <a:prstDash val="solid"/>
          </a:ln>
        </p:spPr>
      </p:sp>
      <p:sp>
        <p:nvSpPr>
          <p:cNvPr id="9" name="text-188"/>
          <p:cNvSpPr txBox="1"/>
          <p:nvPr/>
        </p:nvSpPr>
        <p:spPr>
          <a:xfrm>
            <a:off x="7726680" y="4389120"/>
            <a:ext cx="3687775" cy="1325880"/>
          </a:xfrm>
          <a:prstGeom prst="rect">
            <a:avLst/>
          </a:prstGeom>
          <a:noFill/>
          <a:ln/>
        </p:spPr>
        <p:txBody>
          <a:bodyPr wrap="square" lIns="0" tIns="0" rIns="0" bIns="0" rtlCol="0" anchor="ctr"/>
          <a:lstStyle/>
          <a:p>
            <a:pPr indent="0" marL="0">
              <a:buNone/>
            </a:pPr>
            <a:r>
              <a:rPr lang="en-US" sz="1400" b="1" dirty="0">
                <a:solidFill>
                  <a:srgbClr val="9FD3D6"/>
                </a:solidFill>
              </a:rPr>
              <a:t>No GPU needed for this test: </a:t>
            </a:r>
            <a:pPr indent="0" marL="0">
              <a:buNone/>
            </a:pPr>
            <a:r>
              <a:rPr lang="en-US" sz="1400" dirty="0">
                <a:solidFill>
                  <a:schemeClr val="bg1"/>
                </a:solidFill>
              </a:rPr>
              <a:t>its best case is already known and small. The GPU time is better spent on the missing seeds.</a:t>
            </a:r>
            <a:endParaRPr lang="en-US" sz="1400" dirty="0"/>
          </a:p>
        </p:txBody>
      </p:sp>
      <p:sp>
        <p:nvSpPr>
          <p:cNvPr id="10" name="text-189"/>
          <p:cNvSpPr txBox="1"/>
          <p:nvPr/>
        </p:nvSpPr>
        <p:spPr>
          <a:xfrm>
            <a:off x="548640" y="5870448"/>
            <a:ext cx="11094415" cy="457200"/>
          </a:xfrm>
          <a:prstGeom prst="rect">
            <a:avLst/>
          </a:prstGeom>
          <a:noFill/>
          <a:ln/>
        </p:spPr>
        <p:txBody>
          <a:bodyPr wrap="square" lIns="0" tIns="0" rIns="0" bIns="0" rtlCol="0" anchor="t"/>
          <a:lstStyle/>
          <a:p>
            <a:pPr indent="0" marL="0">
              <a:buNone/>
            </a:pPr>
            <a:r>
              <a:rPr lang="en-US" sz="1200" i="1" dirty="0">
                <a:solidFill>
                  <a:schemeClr val="tx1"/>
                </a:solidFill>
              </a:rPr>
              <a:t>Best case: each task's number of directions chosen with the same test scores (an upper bound), the same number in every layer. The energy-based method of Phase 3 varies the number per layer and module, which is why it can beat the best case when crowded.</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400" b="1" dirty="0">
                <a:solidFill>
                  <a:schemeClr val="bg1"/>
                </a:solidFill>
              </a:rPr>
              <a:t>What I would like from you</a:t>
            </a:r>
            <a:endParaRPr lang="en-US" sz="3400" dirty="0"/>
          </a:p>
        </p:txBody>
      </p:sp>
      <p:sp>
        <p:nvSpPr>
          <p:cNvPr id="3" name="ask-190"/>
          <p:cNvSpPr/>
          <p:nvPr/>
        </p:nvSpPr>
        <p:spPr>
          <a:xfrm>
            <a:off x="548640" y="1554480"/>
            <a:ext cx="3484778" cy="2834640"/>
          </a:xfrm>
          <a:prstGeom prst="roundRect">
            <a:avLst>
              <a:gd name="adj" fmla="val 3871"/>
            </a:avLst>
          </a:prstGeom>
          <a:solidFill>
            <a:srgbClr val="13304A"/>
          </a:solidFill>
          <a:ln w="12700">
            <a:solidFill>
              <a:srgbClr val="13304A"/>
            </a:solidFill>
            <a:prstDash val="solid"/>
          </a:ln>
        </p:spPr>
      </p:sp>
      <p:sp>
        <p:nvSpPr>
          <p:cNvPr id="4" name="icon-bg-191"/>
          <p:cNvSpPr/>
          <p:nvPr/>
        </p:nvSpPr>
        <p:spPr>
          <a:xfrm>
            <a:off x="1788109" y="1737360"/>
            <a:ext cx="1005840" cy="1005840"/>
          </a:xfrm>
          <a:prstGeom prst="ellipse">
            <a:avLst/>
          </a:prstGeom>
          <a:solidFill>
            <a:schemeClr val="bg1"/>
          </a:solidFill>
          <a:ln w="12700">
            <a:solidFill>
              <a:schemeClr val="bg1"/>
            </a:solidFill>
            <a:prstDash val="solid"/>
          </a:ln>
        </p:spPr>
      </p:sp>
      <p:pic>
        <p:nvPicPr>
          <p:cNvPr id="5" name="icon-telescope-192" descr="telescope illustration">    </p:cNvPr>
          <p:cNvPicPr>
            <a:picLocks noChangeAspect="1"/>
          </p:cNvPicPr>
          <p:nvPr/>
        </p:nvPicPr>
        <p:blipFill>
          <a:blip r:embed="rId1"/>
          <a:stretch>
            <a:fillRect/>
          </a:stretch>
        </p:blipFill>
        <p:spPr>
          <a:xfrm>
            <a:off x="1949044" y="1898294"/>
            <a:ext cx="683971" cy="683971"/>
          </a:xfrm>
          <a:prstGeom prst="rect">
            <a:avLst/>
          </a:prstGeom>
        </p:spPr>
      </p:pic>
      <p:sp>
        <p:nvSpPr>
          <p:cNvPr id="6" name="text-193"/>
          <p:cNvSpPr txBox="1"/>
          <p:nvPr/>
        </p:nvSpPr>
        <p:spPr>
          <a:xfrm>
            <a:off x="777240" y="2880360"/>
            <a:ext cx="3027578" cy="457200"/>
          </a:xfrm>
          <a:prstGeom prst="rect">
            <a:avLst/>
          </a:prstGeom>
          <a:noFill/>
          <a:ln/>
        </p:spPr>
        <p:txBody>
          <a:bodyPr wrap="square" lIns="0" tIns="0" rIns="0" bIns="0" rtlCol="0" anchor="t"/>
          <a:lstStyle/>
          <a:p>
            <a:pPr algn="ctr" indent="0" marL="0">
              <a:buNone/>
            </a:pPr>
            <a:r>
              <a:rPr lang="en-US" sz="2100" b="1" dirty="0">
                <a:solidFill>
                  <a:schemeClr val="bg1"/>
                </a:solidFill>
                <a:latin typeface="Cambria" pitchFamily="34" charset="0"/>
                <a:ea typeface="Cambria" pitchFamily="34" charset="-122"/>
                <a:cs typeface="Cambria" pitchFamily="34" charset="-120"/>
              </a:rPr>
              <a:t>Next GPU time</a:t>
            </a:r>
            <a:endParaRPr lang="en-US" sz="2100" dirty="0"/>
          </a:p>
        </p:txBody>
      </p:sp>
      <p:sp>
        <p:nvSpPr>
          <p:cNvPr id="7" name="text-194"/>
          <p:cNvSpPr txBox="1"/>
          <p:nvPr/>
        </p:nvSpPr>
        <p:spPr>
          <a:xfrm>
            <a:off x="822960" y="3383280"/>
            <a:ext cx="2936138" cy="914400"/>
          </a:xfrm>
          <a:prstGeom prst="rect">
            <a:avLst/>
          </a:prstGeom>
          <a:noFill/>
          <a:ln/>
        </p:spPr>
        <p:txBody>
          <a:bodyPr wrap="square" lIns="0" tIns="0" rIns="0" bIns="0" rtlCol="0" anchor="t"/>
          <a:lstStyle/>
          <a:p>
            <a:pPr algn="ctr" indent="0" marL="0">
              <a:buNone/>
            </a:pPr>
            <a:r>
              <a:rPr lang="en-US" sz="1500" dirty="0">
                <a:solidFill>
                  <a:schemeClr val="bg2"/>
                </a:solidFill>
              </a:rPr>
              <a:t>Use it for the missing seeds (stress test, real seed 2)? The capacity test's best case adds under 2 points.</a:t>
            </a:r>
            <a:endParaRPr lang="en-US" sz="1500" dirty="0"/>
          </a:p>
        </p:txBody>
      </p:sp>
      <p:sp>
        <p:nvSpPr>
          <p:cNvPr id="8" name="ask-195"/>
          <p:cNvSpPr/>
          <p:nvPr/>
        </p:nvSpPr>
        <p:spPr>
          <a:xfrm>
            <a:off x="4353458" y="1554480"/>
            <a:ext cx="3484778" cy="2834640"/>
          </a:xfrm>
          <a:prstGeom prst="roundRect">
            <a:avLst>
              <a:gd name="adj" fmla="val 3871"/>
            </a:avLst>
          </a:prstGeom>
          <a:solidFill>
            <a:srgbClr val="13304A"/>
          </a:solidFill>
          <a:ln w="12700">
            <a:solidFill>
              <a:srgbClr val="13304A"/>
            </a:solidFill>
            <a:prstDash val="solid"/>
          </a:ln>
        </p:spPr>
      </p:sp>
      <p:sp>
        <p:nvSpPr>
          <p:cNvPr id="9" name="icon-bg-196"/>
          <p:cNvSpPr/>
          <p:nvPr/>
        </p:nvSpPr>
        <p:spPr>
          <a:xfrm>
            <a:off x="5592928" y="1737360"/>
            <a:ext cx="1005840" cy="1005840"/>
          </a:xfrm>
          <a:prstGeom prst="ellipse">
            <a:avLst/>
          </a:prstGeom>
          <a:solidFill>
            <a:schemeClr val="bg1"/>
          </a:solidFill>
          <a:ln w="12700">
            <a:solidFill>
              <a:schemeClr val="bg1"/>
            </a:solidFill>
            <a:prstDash val="solid"/>
          </a:ln>
        </p:spPr>
      </p:sp>
      <p:pic>
        <p:nvPicPr>
          <p:cNvPr id="10" name="icon-compass-197" descr="compass illustration">    </p:cNvPr>
          <p:cNvPicPr>
            <a:picLocks noChangeAspect="1"/>
          </p:cNvPicPr>
          <p:nvPr/>
        </p:nvPicPr>
        <p:blipFill>
          <a:blip r:embed="rId2"/>
          <a:stretch>
            <a:fillRect/>
          </a:stretch>
        </p:blipFill>
        <p:spPr>
          <a:xfrm>
            <a:off x="5753862" y="1898294"/>
            <a:ext cx="683971" cy="683971"/>
          </a:xfrm>
          <a:prstGeom prst="rect">
            <a:avLst/>
          </a:prstGeom>
        </p:spPr>
      </p:pic>
      <p:sp>
        <p:nvSpPr>
          <p:cNvPr id="11" name="text-198"/>
          <p:cNvSpPr txBox="1"/>
          <p:nvPr/>
        </p:nvSpPr>
        <p:spPr>
          <a:xfrm>
            <a:off x="4582058" y="2880360"/>
            <a:ext cx="3027578" cy="457200"/>
          </a:xfrm>
          <a:prstGeom prst="rect">
            <a:avLst/>
          </a:prstGeom>
          <a:noFill/>
          <a:ln/>
        </p:spPr>
        <p:txBody>
          <a:bodyPr wrap="square" lIns="0" tIns="0" rIns="0" bIns="0" rtlCol="0" anchor="t"/>
          <a:lstStyle/>
          <a:p>
            <a:pPr algn="ctr" indent="0" marL="0">
              <a:buNone/>
            </a:pPr>
            <a:r>
              <a:rPr lang="en-US" sz="2100" b="1" dirty="0">
                <a:solidFill>
                  <a:schemeClr val="bg1"/>
                </a:solidFill>
                <a:latin typeface="Cambria" pitchFamily="34" charset="0"/>
                <a:ea typeface="Cambria" pitchFamily="34" charset="-122"/>
                <a:cs typeface="Cambria" pitchFamily="34" charset="-120"/>
              </a:rPr>
              <a:t>Demand's role</a:t>
            </a:r>
            <a:endParaRPr lang="en-US" sz="2100" dirty="0"/>
          </a:p>
        </p:txBody>
      </p:sp>
      <p:sp>
        <p:nvSpPr>
          <p:cNvPr id="12" name="text-199"/>
          <p:cNvSpPr txBox="1"/>
          <p:nvPr/>
        </p:nvSpPr>
        <p:spPr>
          <a:xfrm>
            <a:off x="4627778" y="3383280"/>
            <a:ext cx="2936138" cy="914400"/>
          </a:xfrm>
          <a:prstGeom prst="rect">
            <a:avLst/>
          </a:prstGeom>
          <a:noFill/>
          <a:ln/>
        </p:spPr>
        <p:txBody>
          <a:bodyPr wrap="square" lIns="0" tIns="0" rIns="0" bIns="0" rtlCol="0" anchor="t"/>
          <a:lstStyle/>
          <a:p>
            <a:pPr algn="ctr" indent="0" marL="0">
              <a:buNone/>
            </a:pPr>
            <a:r>
              <a:rPr lang="en-US" sz="1500" dirty="0">
                <a:solidFill>
                  <a:schemeClr val="bg2"/>
                </a:solidFill>
              </a:rPr>
              <a:t>Keep demand as a diagnostic of which task gets hurt, not as a partner rule?</a:t>
            </a:r>
            <a:endParaRPr lang="en-US" sz="1500" dirty="0"/>
          </a:p>
        </p:txBody>
      </p:sp>
      <p:sp>
        <p:nvSpPr>
          <p:cNvPr id="13" name="ask-200"/>
          <p:cNvSpPr/>
          <p:nvPr/>
        </p:nvSpPr>
        <p:spPr>
          <a:xfrm>
            <a:off x="8158277" y="1554480"/>
            <a:ext cx="3484778" cy="2834640"/>
          </a:xfrm>
          <a:prstGeom prst="roundRect">
            <a:avLst>
              <a:gd name="adj" fmla="val 3871"/>
            </a:avLst>
          </a:prstGeom>
          <a:solidFill>
            <a:srgbClr val="13304A"/>
          </a:solidFill>
          <a:ln w="12700">
            <a:solidFill>
              <a:srgbClr val="13304A"/>
            </a:solidFill>
            <a:prstDash val="solid"/>
          </a:ln>
        </p:spPr>
      </p:sp>
      <p:sp>
        <p:nvSpPr>
          <p:cNvPr id="14" name="icon-bg-201"/>
          <p:cNvSpPr/>
          <p:nvPr/>
        </p:nvSpPr>
        <p:spPr>
          <a:xfrm>
            <a:off x="9397746" y="1737360"/>
            <a:ext cx="1005840" cy="1005840"/>
          </a:xfrm>
          <a:prstGeom prst="ellipse">
            <a:avLst/>
          </a:prstGeom>
          <a:solidFill>
            <a:schemeClr val="bg1"/>
          </a:solidFill>
          <a:ln w="12700">
            <a:solidFill>
              <a:schemeClr val="bg1"/>
            </a:solidFill>
            <a:prstDash val="solid"/>
          </a:ln>
        </p:spPr>
      </p:sp>
      <p:pic>
        <p:nvPicPr>
          <p:cNvPr id="15" name="icon-memo-202" descr="memo illustration">    </p:cNvPr>
          <p:cNvPicPr>
            <a:picLocks noChangeAspect="1"/>
          </p:cNvPicPr>
          <p:nvPr/>
        </p:nvPicPr>
        <p:blipFill>
          <a:blip r:embed="rId3"/>
          <a:stretch>
            <a:fillRect/>
          </a:stretch>
        </p:blipFill>
        <p:spPr>
          <a:xfrm>
            <a:off x="9558680" y="1898294"/>
            <a:ext cx="683971" cy="683971"/>
          </a:xfrm>
          <a:prstGeom prst="rect">
            <a:avLst/>
          </a:prstGeom>
        </p:spPr>
      </p:pic>
      <p:sp>
        <p:nvSpPr>
          <p:cNvPr id="16" name="text-203"/>
          <p:cNvSpPr txBox="1"/>
          <p:nvPr/>
        </p:nvSpPr>
        <p:spPr>
          <a:xfrm>
            <a:off x="8386877" y="2880360"/>
            <a:ext cx="3027578" cy="457200"/>
          </a:xfrm>
          <a:prstGeom prst="rect">
            <a:avLst/>
          </a:prstGeom>
          <a:noFill/>
          <a:ln/>
        </p:spPr>
        <p:txBody>
          <a:bodyPr wrap="square" lIns="0" tIns="0" rIns="0" bIns="0" rtlCol="0" anchor="t"/>
          <a:lstStyle/>
          <a:p>
            <a:pPr algn="ctr" indent="0" marL="0">
              <a:buNone/>
            </a:pPr>
            <a:r>
              <a:rPr lang="en-US" sz="2100" b="1" dirty="0">
                <a:solidFill>
                  <a:schemeClr val="bg1"/>
                </a:solidFill>
                <a:latin typeface="Cambria" pitchFamily="34" charset="0"/>
                <a:ea typeface="Cambria" pitchFamily="34" charset="-122"/>
                <a:cs typeface="Cambria" pitchFamily="34" charset="-120"/>
              </a:rPr>
              <a:t>Write-up</a:t>
            </a:r>
            <a:endParaRPr lang="en-US" sz="2100" dirty="0"/>
          </a:p>
        </p:txBody>
      </p:sp>
      <p:sp>
        <p:nvSpPr>
          <p:cNvPr id="17" name="text-204"/>
          <p:cNvSpPr txBox="1"/>
          <p:nvPr/>
        </p:nvSpPr>
        <p:spPr>
          <a:xfrm>
            <a:off x="8432597" y="3383280"/>
            <a:ext cx="2936138" cy="914400"/>
          </a:xfrm>
          <a:prstGeom prst="rect">
            <a:avLst/>
          </a:prstGeom>
          <a:noFill/>
          <a:ln/>
        </p:spPr>
        <p:txBody>
          <a:bodyPr wrap="square" lIns="0" tIns="0" rIns="0" bIns="0" rtlCol="0" anchor="t"/>
          <a:lstStyle/>
          <a:p>
            <a:pPr algn="ctr" indent="0" marL="0">
              <a:buNone/>
            </a:pPr>
            <a:r>
              <a:rPr lang="en-US" sz="1500" dirty="0">
                <a:solidFill>
                  <a:schemeClr val="bg2"/>
                </a:solidFill>
              </a:rPr>
              <a:t>Add this study to the paper as the section on why similarity scores fail in K-Merge?</a:t>
            </a:r>
            <a:endParaRPr lang="en-US" sz="1500" dirty="0"/>
          </a:p>
        </p:txBody>
      </p:sp>
      <p:sp>
        <p:nvSpPr>
          <p:cNvPr id="18" name="text-205"/>
          <p:cNvSpPr txBox="1"/>
          <p:nvPr/>
        </p:nvSpPr>
        <p:spPr>
          <a:xfrm>
            <a:off x="548640" y="4709160"/>
            <a:ext cx="11094415" cy="914400"/>
          </a:xfrm>
          <a:prstGeom prst="rect">
            <a:avLst/>
          </a:prstGeom>
          <a:noFill/>
          <a:ln/>
        </p:spPr>
        <p:txBody>
          <a:bodyPr wrap="square" lIns="0" tIns="0" rIns="0" bIns="0" rtlCol="0" anchor="t"/>
          <a:lstStyle/>
          <a:p>
            <a:pPr indent="0" marL="0">
              <a:spcAft>
                <a:spcPts val="400"/>
              </a:spcAft>
              <a:buNone/>
            </a:pPr>
            <a:r>
              <a:rPr lang="en-US" sz="2400" b="1" dirty="0">
                <a:solidFill>
                  <a:schemeClr val="accent1"/>
                </a:solidFill>
                <a:latin typeface="Cambria" pitchFamily="34" charset="0"/>
                <a:ea typeface="Cambria" pitchFamily="34" charset="-122"/>
                <a:cs typeface="Cambria" pitchFamily="34" charset="-120"/>
              </a:rPr>
              <a:t>How much is new? About 90%.</a:t>
            </a:r>
            <a:endParaRPr lang="en-US" sz="1800" dirty="0"/>
          </a:p>
          <a:p>
            <a:pPr indent="0" marL="0">
              <a:spcAft>
                <a:spcPts val="400"/>
              </a:spcAft>
              <a:buNone/>
            </a:pPr>
            <a:r>
              <a:rPr lang="en-US" sz="1800" dirty="0">
                <a:solidFill>
                  <a:schemeClr val="bg1"/>
                </a:solidFill>
                <a:latin typeface="Cambria" pitchFamily="34" charset="0"/>
                <a:ea typeface="Cambria" pitchFamily="34" charset="-122"/>
                <a:cs typeface="Cambria" pitchFamily="34" charset="-120"/>
              </a:rPr>
              <a:t>Each task needs only a few of its own directions; when they don't fit in the slot, a shared basis does the rest.</a:t>
            </a:r>
            <a:endParaRPr lang="en-US" sz="1800" dirty="0"/>
          </a:p>
        </p:txBody>
      </p:sp>
      <p:sp>
        <p:nvSpPr>
          <p:cNvPr id="19" name="text-206"/>
          <p:cNvSpPr txBox="1"/>
          <p:nvPr/>
        </p:nvSpPr>
        <p:spPr>
          <a:xfrm>
            <a:off x="548640" y="5806440"/>
            <a:ext cx="11094415" cy="365760"/>
          </a:xfrm>
          <a:prstGeom prst="rect">
            <a:avLst/>
          </a:prstGeom>
          <a:noFill/>
          <a:ln/>
        </p:spPr>
        <p:txBody>
          <a:bodyPr wrap="square" lIns="0" tIns="0" rIns="0" bIns="0" rtlCol="0" anchor="t"/>
          <a:lstStyle/>
          <a:p>
            <a:pPr indent="0" marL="0">
              <a:buNone/>
            </a:pPr>
            <a:r>
              <a:rPr lang="en-US" sz="1300" dirty="0">
                <a:solidFill>
                  <a:schemeClr val="bg2"/>
                </a:solidFill>
              </a:rPr>
              <a:t>Every number in this deck comes from the saved Phase 3 adapters and result tables; the analysis can be rerun on CPU.</a:t>
            </a:r>
            <a:endParaRPr lang="en-US" sz="13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Appendix: every score on every test bed</a:t>
            </a:r>
            <a:endParaRPr lang="en-US" sz="3000" dirty="0"/>
          </a:p>
        </p:txBody>
      </p:sp>
      <p:graphicFrame>
        <p:nvGraphicFramePr>
          <p:cNvPr id="22" name="all-scores"/>
          <p:cNvGraphicFramePr>
            <a:graphicFrameLocks noGrp="1"/>
          </p:cNvGraphicFramePr>
          <p:nvPr>
            <p:extLst>
              <p:ext uri="{D42A27DB-BD31-4B8C-83A1-F6EECF244321}">
                <p14:modId xmlns:p14="http://schemas.microsoft.com/office/powerpoint/2010/main" val="1579011935"/>
              </p:ext>
            </p:extLst>
          </p:nvPr>
        </p:nvGraphicFramePr>
        <p:xfrm>
          <a:off x="548640" y="1188720"/>
          <a:ext cx="11094415" cy="914400"/>
        </p:xfrm>
        <a:graphic>
          <a:graphicData uri="http://schemas.openxmlformats.org/drawingml/2006/table">
            <a:tbl>
              <a:tblPr/>
              <a:tblGrid>
                <a:gridCol w="2743200"/>
                <a:gridCol w="1673352"/>
                <a:gridCol w="1673352"/>
                <a:gridCol w="1673352"/>
                <a:gridCol w="1673352"/>
                <a:gridCol w="1657807"/>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Score</a:t>
                      </a:r>
                      <a:endParaRPr lang="en-US" sz="13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B263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0.5B pairs (36)</a:t>
                      </a:r>
                      <a:endParaRPr lang="en-US" sz="13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B263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0.5B + 3-task (63)</a:t>
                      </a:r>
                      <a:endParaRPr lang="en-US" sz="13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B263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1.5B pairs (36)</a:t>
                      </a:r>
                      <a:endParaRPr lang="en-US" sz="13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B263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1.5B + 3-task (60)</a:t>
                      </a:r>
                      <a:endParaRPr lang="en-US" sz="13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B263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Real slots (86)</a:t>
                      </a:r>
                      <a:endParaRPr lang="en-US" sz="13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B263B"/>
                    </a:solidFill>
                  </a:tcPr>
                </a:tc>
              </a:tr>
              <a:tr h="603504">
                <a:tc>
                  <a:txBody>
                    <a:bodyPr/>
                    <a:lstStyle/>
                    <a:p>
                      <a:pPr indent="0" marL="0">
                        <a:buNone/>
                      </a:pPr>
                      <a:r>
                        <a:rPr lang="en-US" sz="1200" dirty="0">
                          <a:solidFill>
                            <a:srgbClr val="1B263B"/>
                          </a:solidFill>
                          <a:latin typeface="Calibri" pitchFamily="34" charset="0"/>
                          <a:ea typeface="Calibri" pitchFamily="34" charset="-122"/>
                          <a:cs typeface="Calibri" pitchFamily="34" charset="-120"/>
                        </a:rPr>
                        <a:t>Cosine, sign flipped (K-Merge)</a:t>
                      </a:r>
                      <a:endParaRPr lang="en-US" sz="12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63B"/>
                          </a:solidFill>
                          <a:latin typeface="Calibri" pitchFamily="34" charset="0"/>
                          <a:ea typeface="Calibri" pitchFamily="34" charset="-122"/>
                          <a:cs typeface="Calibri" pitchFamily="34" charset="-120"/>
                        </a:rPr>
                        <a:t>0.44</a:t>
                      </a:r>
                      <a:endParaRPr lang="en-US" sz="13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63B"/>
                          </a:solidFill>
                          <a:latin typeface="Calibri" pitchFamily="34" charset="0"/>
                          <a:ea typeface="Calibri" pitchFamily="34" charset="-122"/>
                          <a:cs typeface="Calibri" pitchFamily="34" charset="-120"/>
                        </a:rPr>
                        <a:t>0.27</a:t>
                      </a:r>
                      <a:endParaRPr lang="en-US" sz="13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63B"/>
                          </a:solidFill>
                          <a:latin typeface="Calibri" pitchFamily="34" charset="0"/>
                          <a:ea typeface="Calibri" pitchFamily="34" charset="-122"/>
                          <a:cs typeface="Calibri" pitchFamily="34" charset="-120"/>
                        </a:rPr>
                        <a:t>−0.34</a:t>
                      </a:r>
                      <a:endParaRPr lang="en-US" sz="13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63B"/>
                          </a:solidFill>
                          <a:latin typeface="Calibri" pitchFamily="34" charset="0"/>
                          <a:ea typeface="Calibri" pitchFamily="34" charset="-122"/>
                          <a:cs typeface="Calibri" pitchFamily="34" charset="-120"/>
                        </a:rPr>
                        <a:t>−0.43</a:t>
                      </a:r>
                      <a:endParaRPr lang="en-US" sz="13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63B"/>
                          </a:solidFill>
                          <a:latin typeface="Calibri" pitchFamily="34" charset="0"/>
                          <a:ea typeface="Calibri" pitchFamily="34" charset="-122"/>
                          <a:cs typeface="Calibri" pitchFamily="34" charset="-120"/>
                        </a:rPr>
                        <a:t>0.65</a:t>
                      </a:r>
                      <a:endParaRPr lang="en-US" sz="13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603504">
                <a:tc>
                  <a:txBody>
                    <a:bodyPr/>
                    <a:lstStyle/>
                    <a:p>
                      <a:pPr indent="0" marL="0">
                        <a:buNone/>
                      </a:pPr>
                      <a:r>
                        <a:rPr lang="en-US" sz="1200" b="1" dirty="0">
                          <a:solidFill>
                            <a:srgbClr val="1B263B"/>
                          </a:solidFill>
                          <a:latin typeface="Calibri" pitchFamily="34" charset="0"/>
                          <a:ea typeface="Calibri" pitchFamily="34" charset="-122"/>
                          <a:cs typeface="Calibri" pitchFamily="34" charset="-120"/>
                        </a:rPr>
                        <a:t>Demand, both sides (your measure)</a:t>
                      </a:r>
                      <a:endParaRPr lang="en-US" sz="12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63B"/>
                          </a:solidFill>
                          <a:latin typeface="Calibri" pitchFamily="34" charset="0"/>
                          <a:ea typeface="Calibri" pitchFamily="34" charset="-122"/>
                          <a:cs typeface="Calibri" pitchFamily="34" charset="-120"/>
                        </a:rPr>
                        <a:t>0.58</a:t>
                      </a:r>
                      <a:endParaRPr lang="en-US" sz="1200" dirty="0">
                        <a:latin typeface="Calibri" charset="0"/>
                        <a:ea typeface="Calibri" charset="0"/>
                        <a:cs typeface="Calibri" charset="0"/>
                      </a:endParaRPr>
                    </a:p>
                    <a:p>
                      <a:pPr algn="ctr" indent="0" marL="0">
                        <a:buNone/>
                      </a:pPr>
                      <a:r>
                        <a:rPr lang="en-US" sz="1100" dirty="0">
                          <a:solidFill>
                            <a:srgbClr val="0E7C86"/>
                          </a:solidFill>
                          <a:latin typeface="Calibri" pitchFamily="34" charset="0"/>
                          <a:ea typeface="Calibri" pitchFamily="34" charset="-122"/>
                          <a:cs typeface="Calibri" pitchFamily="34" charset="-120"/>
                        </a:rPr>
                        <a:t>Δ +0.14 (+0.01 to +0.32)</a:t>
                      </a:r>
                      <a:endParaRPr lang="en-US" sz="12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63B"/>
                          </a:solidFill>
                          <a:latin typeface="Calibri" pitchFamily="34" charset="0"/>
                          <a:ea typeface="Calibri" pitchFamily="34" charset="-122"/>
                          <a:cs typeface="Calibri" pitchFamily="34" charset="-120"/>
                        </a:rPr>
                        <a:t>0.41</a:t>
                      </a:r>
                      <a:endParaRPr lang="en-US" sz="1200" dirty="0">
                        <a:latin typeface="Calibri" charset="0"/>
                        <a:ea typeface="Calibri" charset="0"/>
                        <a:cs typeface="Calibri" charset="0"/>
                      </a:endParaRPr>
                    </a:p>
                    <a:p>
                      <a:pPr algn="ctr" indent="0" marL="0">
                        <a:buNone/>
                      </a:pPr>
                      <a:r>
                        <a:rPr lang="en-US" sz="1100" dirty="0">
                          <a:solidFill>
                            <a:srgbClr val="0E7C86"/>
                          </a:solidFill>
                          <a:latin typeface="Calibri" pitchFamily="34" charset="0"/>
                          <a:ea typeface="Calibri" pitchFamily="34" charset="-122"/>
                          <a:cs typeface="Calibri" pitchFamily="34" charset="-120"/>
                        </a:rPr>
                        <a:t>Δ +0.14 (+0.06 to +0.24)</a:t>
                      </a:r>
                      <a:endParaRPr lang="en-US" sz="12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63B"/>
                          </a:solidFill>
                          <a:latin typeface="Calibri" pitchFamily="34" charset="0"/>
                          <a:ea typeface="Calibri" pitchFamily="34" charset="-122"/>
                          <a:cs typeface="Calibri" pitchFamily="34" charset="-120"/>
                        </a:rPr>
                        <a:t>−0.25</a:t>
                      </a:r>
                      <a:endParaRPr lang="en-US" sz="1200" dirty="0">
                        <a:latin typeface="Calibri" charset="0"/>
                        <a:ea typeface="Calibri" charset="0"/>
                        <a:cs typeface="Calibri" charset="0"/>
                      </a:endParaRPr>
                    </a:p>
                    <a:p>
                      <a:pPr algn="ctr" indent="0" marL="0">
                        <a:buNone/>
                      </a:pPr>
                      <a:r>
                        <a:rPr lang="en-US" sz="1100" dirty="0">
                          <a:solidFill>
                            <a:srgbClr val="6B7785"/>
                          </a:solidFill>
                          <a:latin typeface="Calibri" pitchFamily="34" charset="0"/>
                          <a:ea typeface="Calibri" pitchFamily="34" charset="-122"/>
                          <a:cs typeface="Calibri" pitchFamily="34" charset="-120"/>
                        </a:rPr>
                        <a:t>Δ +0.09 (−0.11 to +0.31)</a:t>
                      </a:r>
                      <a:endParaRPr lang="en-US" sz="12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63B"/>
                          </a:solidFill>
                          <a:latin typeface="Calibri" pitchFamily="34" charset="0"/>
                          <a:ea typeface="Calibri" pitchFamily="34" charset="-122"/>
                          <a:cs typeface="Calibri" pitchFamily="34" charset="-120"/>
                        </a:rPr>
                        <a:t>−0.37</a:t>
                      </a:r>
                      <a:endParaRPr lang="en-US" sz="1200" dirty="0">
                        <a:latin typeface="Calibri" charset="0"/>
                        <a:ea typeface="Calibri" charset="0"/>
                        <a:cs typeface="Calibri" charset="0"/>
                      </a:endParaRPr>
                    </a:p>
                    <a:p>
                      <a:pPr algn="ctr" indent="0" marL="0">
                        <a:buNone/>
                      </a:pPr>
                      <a:r>
                        <a:rPr lang="en-US" sz="1100" dirty="0">
                          <a:solidFill>
                            <a:srgbClr val="6B7785"/>
                          </a:solidFill>
                          <a:latin typeface="Calibri" pitchFamily="34" charset="0"/>
                          <a:ea typeface="Calibri" pitchFamily="34" charset="-122"/>
                          <a:cs typeface="Calibri" pitchFamily="34" charset="-120"/>
                        </a:rPr>
                        <a:t>Δ +0.06 (−0.06 to +0.18)</a:t>
                      </a:r>
                      <a:endParaRPr lang="en-US" sz="12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63B"/>
                          </a:solidFill>
                          <a:latin typeface="Calibri" pitchFamily="34" charset="0"/>
                          <a:ea typeface="Calibri" pitchFamily="34" charset="-122"/>
                          <a:cs typeface="Calibri" pitchFamily="34" charset="-120"/>
                        </a:rPr>
                        <a:t>0.62</a:t>
                      </a:r>
                      <a:endParaRPr lang="en-US" sz="1200" dirty="0">
                        <a:latin typeface="Calibri" charset="0"/>
                        <a:ea typeface="Calibri" charset="0"/>
                        <a:cs typeface="Calibri" charset="0"/>
                      </a:endParaRPr>
                    </a:p>
                    <a:p>
                      <a:pPr algn="ctr" indent="0" marL="0">
                        <a:buNone/>
                      </a:pPr>
                      <a:r>
                        <a:rPr lang="en-US" sz="1100" dirty="0">
                          <a:solidFill>
                            <a:srgbClr val="6B7785"/>
                          </a:solidFill>
                          <a:latin typeface="Calibri" pitchFamily="34" charset="0"/>
                          <a:ea typeface="Calibri" pitchFamily="34" charset="-122"/>
                          <a:cs typeface="Calibri" pitchFamily="34" charset="-120"/>
                        </a:rPr>
                        <a:t>Δ −0.03 (−0.06 to +0.004)</a:t>
                      </a:r>
                      <a:endParaRPr lang="en-US" sz="12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603504">
                <a:tc>
                  <a:txBody>
                    <a:bodyPr/>
                    <a:lstStyle/>
                    <a:p>
                      <a:pPr indent="0" marL="0">
                        <a:buNone/>
                      </a:pPr>
                      <a:r>
                        <a:rPr lang="en-US" sz="1200" dirty="0">
                          <a:solidFill>
                            <a:srgbClr val="1B263B"/>
                          </a:solidFill>
                          <a:latin typeface="Calibri" pitchFamily="34" charset="0"/>
                          <a:ea typeface="Calibri" pitchFamily="34" charset="-122"/>
                          <a:cs typeface="Calibri" pitchFamily="34" charset="-120"/>
                        </a:rPr>
                        <a:t>Demand, output side only</a:t>
                      </a:r>
                      <a:endParaRPr lang="en-US" sz="12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63B"/>
                          </a:solidFill>
                          <a:latin typeface="Calibri" pitchFamily="34" charset="0"/>
                          <a:ea typeface="Calibri" pitchFamily="34" charset="-122"/>
                          <a:cs typeface="Calibri" pitchFamily="34" charset="-120"/>
                        </a:rPr>
                        <a:t>0.56</a:t>
                      </a:r>
                      <a:endParaRPr lang="en-US" sz="1200" dirty="0">
                        <a:latin typeface="Calibri" charset="0"/>
                        <a:ea typeface="Calibri" charset="0"/>
                        <a:cs typeface="Calibri" charset="0"/>
                      </a:endParaRPr>
                    </a:p>
                    <a:p>
                      <a:pPr algn="ctr" indent="0" marL="0">
                        <a:buNone/>
                      </a:pPr>
                      <a:r>
                        <a:rPr lang="en-US" sz="1100" dirty="0">
                          <a:solidFill>
                            <a:srgbClr val="6B7785"/>
                          </a:solidFill>
                          <a:latin typeface="Calibri" pitchFamily="34" charset="0"/>
                          <a:ea typeface="Calibri" pitchFamily="34" charset="-122"/>
                          <a:cs typeface="Calibri" pitchFamily="34" charset="-120"/>
                        </a:rPr>
                        <a:t>Δ +0.12 (−0.03 to +0.31)</a:t>
                      </a:r>
                      <a:endParaRPr lang="en-US" sz="12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63B"/>
                          </a:solidFill>
                          <a:latin typeface="Calibri" pitchFamily="34" charset="0"/>
                          <a:ea typeface="Calibri" pitchFamily="34" charset="-122"/>
                          <a:cs typeface="Calibri" pitchFamily="34" charset="-120"/>
                        </a:rPr>
                        <a:t>0.39</a:t>
                      </a:r>
                      <a:endParaRPr lang="en-US" sz="1200" dirty="0">
                        <a:latin typeface="Calibri" charset="0"/>
                        <a:ea typeface="Calibri" charset="0"/>
                        <a:cs typeface="Calibri" charset="0"/>
                      </a:endParaRPr>
                    </a:p>
                    <a:p>
                      <a:pPr algn="ctr" indent="0" marL="0">
                        <a:buNone/>
                      </a:pPr>
                      <a:r>
                        <a:rPr lang="en-US" sz="1100" dirty="0">
                          <a:solidFill>
                            <a:srgbClr val="0E7C86"/>
                          </a:solidFill>
                          <a:latin typeface="Calibri" pitchFamily="34" charset="0"/>
                          <a:ea typeface="Calibri" pitchFamily="34" charset="-122"/>
                          <a:cs typeface="Calibri" pitchFamily="34" charset="-120"/>
                        </a:rPr>
                        <a:t>Δ +0.12 (+0.03 to +0.23)</a:t>
                      </a:r>
                      <a:endParaRPr lang="en-US" sz="12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63B"/>
                          </a:solidFill>
                          <a:latin typeface="Calibri" pitchFamily="34" charset="0"/>
                          <a:ea typeface="Calibri" pitchFamily="34" charset="-122"/>
                          <a:cs typeface="Calibri" pitchFamily="34" charset="-120"/>
                        </a:rPr>
                        <a:t>−0.27</a:t>
                      </a:r>
                      <a:endParaRPr lang="en-US" sz="1200" dirty="0">
                        <a:latin typeface="Calibri" charset="0"/>
                        <a:ea typeface="Calibri" charset="0"/>
                        <a:cs typeface="Calibri" charset="0"/>
                      </a:endParaRPr>
                    </a:p>
                    <a:p>
                      <a:pPr algn="ctr" indent="0" marL="0">
                        <a:buNone/>
                      </a:pPr>
                      <a:r>
                        <a:rPr lang="en-US" sz="1100" dirty="0">
                          <a:solidFill>
                            <a:srgbClr val="6B7785"/>
                          </a:solidFill>
                          <a:latin typeface="Calibri" pitchFamily="34" charset="0"/>
                          <a:ea typeface="Calibri" pitchFamily="34" charset="-122"/>
                          <a:cs typeface="Calibri" pitchFamily="34" charset="-120"/>
                        </a:rPr>
                        <a:t>Δ +0.08 (−0.14 to +0.30)</a:t>
                      </a:r>
                      <a:endParaRPr lang="en-US" sz="12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63B"/>
                          </a:solidFill>
                          <a:latin typeface="Calibri" pitchFamily="34" charset="0"/>
                          <a:ea typeface="Calibri" pitchFamily="34" charset="-122"/>
                          <a:cs typeface="Calibri" pitchFamily="34" charset="-120"/>
                        </a:rPr>
                        <a:t>−0.38</a:t>
                      </a:r>
                      <a:endParaRPr lang="en-US" sz="1200" dirty="0">
                        <a:latin typeface="Calibri" charset="0"/>
                        <a:ea typeface="Calibri" charset="0"/>
                        <a:cs typeface="Calibri" charset="0"/>
                      </a:endParaRPr>
                    </a:p>
                    <a:p>
                      <a:pPr algn="ctr" indent="0" marL="0">
                        <a:buNone/>
                      </a:pPr>
                      <a:r>
                        <a:rPr lang="en-US" sz="1100" dirty="0">
                          <a:solidFill>
                            <a:srgbClr val="6B7785"/>
                          </a:solidFill>
                          <a:latin typeface="Calibri" pitchFamily="34" charset="0"/>
                          <a:ea typeface="Calibri" pitchFamily="34" charset="-122"/>
                          <a:cs typeface="Calibri" pitchFamily="34" charset="-120"/>
                        </a:rPr>
                        <a:t>Δ +0.05 (−0.07 to +0.18)</a:t>
                      </a:r>
                      <a:endParaRPr lang="en-US" sz="12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63B"/>
                          </a:solidFill>
                          <a:latin typeface="Calibri" pitchFamily="34" charset="0"/>
                          <a:ea typeface="Calibri" pitchFamily="34" charset="-122"/>
                          <a:cs typeface="Calibri" pitchFamily="34" charset="-120"/>
                        </a:rPr>
                        <a:t>0.59</a:t>
                      </a:r>
                      <a:endParaRPr lang="en-US" sz="1200" dirty="0">
                        <a:latin typeface="Calibri" charset="0"/>
                        <a:ea typeface="Calibri" charset="0"/>
                        <a:cs typeface="Calibri" charset="0"/>
                      </a:endParaRPr>
                    </a:p>
                    <a:p>
                      <a:pPr algn="ctr" indent="0" marL="0">
                        <a:buNone/>
                      </a:pPr>
                      <a:r>
                        <a:rPr lang="en-US" sz="1100" dirty="0">
                          <a:solidFill>
                            <a:srgbClr val="D1495B"/>
                          </a:solidFill>
                          <a:latin typeface="Calibri" pitchFamily="34" charset="0"/>
                          <a:ea typeface="Calibri" pitchFamily="34" charset="-122"/>
                          <a:cs typeface="Calibri" pitchFamily="34" charset="-120"/>
                        </a:rPr>
                        <a:t>Δ −0.06 (−0.11 to −0.01)</a:t>
                      </a:r>
                      <a:endParaRPr lang="en-US" sz="12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603504">
                <a:tc>
                  <a:txBody>
                    <a:bodyPr/>
                    <a:lstStyle/>
                    <a:p>
                      <a:pPr indent="0" marL="0">
                        <a:buNone/>
                      </a:pPr>
                      <a:r>
                        <a:rPr lang="en-US" sz="1200" dirty="0">
                          <a:solidFill>
                            <a:srgbClr val="1B263B"/>
                          </a:solidFill>
                          <a:latin typeface="Calibri" pitchFamily="34" charset="0"/>
                          <a:ea typeface="Calibri" pitchFamily="34" charset="-122"/>
                          <a:cs typeface="Calibri" pitchFamily="34" charset="-120"/>
                        </a:rPr>
                        <a:t>Demand, input side only</a:t>
                      </a:r>
                      <a:endParaRPr lang="en-US" sz="12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63B"/>
                          </a:solidFill>
                          <a:latin typeface="Calibri" pitchFamily="34" charset="0"/>
                          <a:ea typeface="Calibri" pitchFamily="34" charset="-122"/>
                          <a:cs typeface="Calibri" pitchFamily="34" charset="-120"/>
                        </a:rPr>
                        <a:t>0.63</a:t>
                      </a:r>
                      <a:endParaRPr lang="en-US" sz="1200" dirty="0">
                        <a:latin typeface="Calibri" charset="0"/>
                        <a:ea typeface="Calibri" charset="0"/>
                        <a:cs typeface="Calibri" charset="0"/>
                      </a:endParaRPr>
                    </a:p>
                    <a:p>
                      <a:pPr algn="ctr" indent="0" marL="0">
                        <a:buNone/>
                      </a:pPr>
                      <a:r>
                        <a:rPr lang="en-US" sz="1100" dirty="0">
                          <a:solidFill>
                            <a:srgbClr val="0E7C86"/>
                          </a:solidFill>
                          <a:latin typeface="Calibri" pitchFamily="34" charset="0"/>
                          <a:ea typeface="Calibri" pitchFamily="34" charset="-122"/>
                          <a:cs typeface="Calibri" pitchFamily="34" charset="-120"/>
                        </a:rPr>
                        <a:t>Δ +0.19 (+0.02 to +0.39)</a:t>
                      </a:r>
                      <a:endParaRPr lang="en-US" sz="12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63B"/>
                          </a:solidFill>
                          <a:latin typeface="Calibri" pitchFamily="34" charset="0"/>
                          <a:ea typeface="Calibri" pitchFamily="34" charset="-122"/>
                          <a:cs typeface="Calibri" pitchFamily="34" charset="-120"/>
                        </a:rPr>
                        <a:t>0.44</a:t>
                      </a:r>
                      <a:endParaRPr lang="en-US" sz="1200" dirty="0">
                        <a:latin typeface="Calibri" charset="0"/>
                        <a:ea typeface="Calibri" charset="0"/>
                        <a:cs typeface="Calibri" charset="0"/>
                      </a:endParaRPr>
                    </a:p>
                    <a:p>
                      <a:pPr algn="ctr" indent="0" marL="0">
                        <a:buNone/>
                      </a:pPr>
                      <a:r>
                        <a:rPr lang="en-US" sz="1100" dirty="0">
                          <a:solidFill>
                            <a:srgbClr val="0E7C86"/>
                          </a:solidFill>
                          <a:latin typeface="Calibri" pitchFamily="34" charset="0"/>
                          <a:ea typeface="Calibri" pitchFamily="34" charset="-122"/>
                          <a:cs typeface="Calibri" pitchFamily="34" charset="-120"/>
                        </a:rPr>
                        <a:t>Δ +0.17 (+0.04 to +0.32)</a:t>
                      </a:r>
                      <a:endParaRPr lang="en-US" sz="12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63B"/>
                          </a:solidFill>
                          <a:latin typeface="Calibri" pitchFamily="34" charset="0"/>
                          <a:ea typeface="Calibri" pitchFamily="34" charset="-122"/>
                          <a:cs typeface="Calibri" pitchFamily="34" charset="-120"/>
                        </a:rPr>
                        <a:t>−0.16</a:t>
                      </a:r>
                      <a:endParaRPr lang="en-US" sz="1200" dirty="0">
                        <a:latin typeface="Calibri" charset="0"/>
                        <a:ea typeface="Calibri" charset="0"/>
                        <a:cs typeface="Calibri" charset="0"/>
                      </a:endParaRPr>
                    </a:p>
                    <a:p>
                      <a:pPr algn="ctr" indent="0" marL="0">
                        <a:buNone/>
                      </a:pPr>
                      <a:r>
                        <a:rPr lang="en-US" sz="1100" dirty="0">
                          <a:solidFill>
                            <a:srgbClr val="6B7785"/>
                          </a:solidFill>
                          <a:latin typeface="Calibri" pitchFamily="34" charset="0"/>
                          <a:ea typeface="Calibri" pitchFamily="34" charset="-122"/>
                          <a:cs typeface="Calibri" pitchFamily="34" charset="-120"/>
                        </a:rPr>
                        <a:t>Δ +0.18 (−0.11 to +0.50)</a:t>
                      </a:r>
                      <a:endParaRPr lang="en-US" sz="12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63B"/>
                          </a:solidFill>
                          <a:latin typeface="Calibri" pitchFamily="34" charset="0"/>
                          <a:ea typeface="Calibri" pitchFamily="34" charset="-122"/>
                          <a:cs typeface="Calibri" pitchFamily="34" charset="-120"/>
                        </a:rPr>
                        <a:t>−0.26</a:t>
                      </a:r>
                      <a:endParaRPr lang="en-US" sz="1200" dirty="0">
                        <a:latin typeface="Calibri" charset="0"/>
                        <a:ea typeface="Calibri" charset="0"/>
                        <a:cs typeface="Calibri" charset="0"/>
                      </a:endParaRPr>
                    </a:p>
                    <a:p>
                      <a:pPr algn="ctr" indent="0" marL="0">
                        <a:buNone/>
                      </a:pPr>
                      <a:r>
                        <a:rPr lang="en-US" sz="1100" dirty="0">
                          <a:solidFill>
                            <a:srgbClr val="6B7785"/>
                          </a:solidFill>
                          <a:latin typeface="Calibri" pitchFamily="34" charset="0"/>
                          <a:ea typeface="Calibri" pitchFamily="34" charset="-122"/>
                          <a:cs typeface="Calibri" pitchFamily="34" charset="-120"/>
                        </a:rPr>
                        <a:t>Δ +0.16 (−0.03 to +0.37)</a:t>
                      </a:r>
                      <a:endParaRPr lang="en-US" sz="12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63B"/>
                          </a:solidFill>
                          <a:latin typeface="Calibri" pitchFamily="34" charset="0"/>
                          <a:ea typeface="Calibri" pitchFamily="34" charset="-122"/>
                          <a:cs typeface="Calibri" pitchFamily="34" charset="-120"/>
                        </a:rPr>
                        <a:t>0.32</a:t>
                      </a:r>
                      <a:endParaRPr lang="en-US" sz="1200" dirty="0">
                        <a:latin typeface="Calibri" charset="0"/>
                        <a:ea typeface="Calibri" charset="0"/>
                        <a:cs typeface="Calibri" charset="0"/>
                      </a:endParaRPr>
                    </a:p>
                    <a:p>
                      <a:pPr algn="ctr" indent="0" marL="0">
                        <a:buNone/>
                      </a:pPr>
                      <a:r>
                        <a:rPr lang="en-US" sz="1100" dirty="0">
                          <a:solidFill>
                            <a:srgbClr val="D1495B"/>
                          </a:solidFill>
                          <a:latin typeface="Calibri" pitchFamily="34" charset="0"/>
                          <a:ea typeface="Calibri" pitchFamily="34" charset="-122"/>
                          <a:cs typeface="Calibri" pitchFamily="34" charset="-120"/>
                        </a:rPr>
                        <a:t>Δ −0.33 (−0.43 to −0.20)</a:t>
                      </a:r>
                      <a:endParaRPr lang="en-US" sz="12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603504">
                <a:tc>
                  <a:txBody>
                    <a:bodyPr/>
                    <a:lstStyle/>
                    <a:p>
                      <a:pPr indent="0" marL="0">
                        <a:buNone/>
                      </a:pPr>
                      <a:r>
                        <a:rPr lang="en-US" sz="1200" dirty="0">
                          <a:solidFill>
                            <a:srgbClr val="1B263B"/>
                          </a:solidFill>
                          <a:latin typeface="Calibri" pitchFamily="34" charset="0"/>
                          <a:ea typeface="Calibri" pitchFamily="34" charset="-122"/>
                          <a:cs typeface="Calibri" pitchFamily="34" charset="-120"/>
                        </a:rPr>
                        <a:t>k_new: new directions needed</a:t>
                      </a:r>
                      <a:endParaRPr lang="en-US" sz="12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63B"/>
                          </a:solidFill>
                          <a:latin typeface="Calibri" pitchFamily="34" charset="0"/>
                          <a:ea typeface="Calibri" pitchFamily="34" charset="-122"/>
                          <a:cs typeface="Calibri" pitchFamily="34" charset="-120"/>
                        </a:rPr>
                        <a:t>−0.37</a:t>
                      </a:r>
                      <a:endParaRPr lang="en-US" sz="1200" dirty="0">
                        <a:latin typeface="Calibri" charset="0"/>
                        <a:ea typeface="Calibri" charset="0"/>
                        <a:cs typeface="Calibri" charset="0"/>
                      </a:endParaRPr>
                    </a:p>
                    <a:p>
                      <a:pPr algn="ctr" indent="0" marL="0">
                        <a:buNone/>
                      </a:pPr>
                      <a:r>
                        <a:rPr lang="en-US" sz="1100" dirty="0">
                          <a:solidFill>
                            <a:srgbClr val="D1495B"/>
                          </a:solidFill>
                          <a:latin typeface="Calibri" pitchFamily="34" charset="0"/>
                          <a:ea typeface="Calibri" pitchFamily="34" charset="-122"/>
                          <a:cs typeface="Calibri" pitchFamily="34" charset="-120"/>
                        </a:rPr>
                        <a:t>Δ −0.81 (−1.07 to −0.42)</a:t>
                      </a:r>
                      <a:endParaRPr lang="en-US" sz="12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63B"/>
                          </a:solidFill>
                          <a:latin typeface="Calibri" pitchFamily="34" charset="0"/>
                          <a:ea typeface="Calibri" pitchFamily="34" charset="-122"/>
                          <a:cs typeface="Calibri" pitchFamily="34" charset="-120"/>
                        </a:rPr>
                        <a:t>−0.38</a:t>
                      </a:r>
                      <a:endParaRPr lang="en-US" sz="1200" dirty="0">
                        <a:latin typeface="Calibri" charset="0"/>
                        <a:ea typeface="Calibri" charset="0"/>
                        <a:cs typeface="Calibri" charset="0"/>
                      </a:endParaRPr>
                    </a:p>
                    <a:p>
                      <a:pPr algn="ctr" indent="0" marL="0">
                        <a:buNone/>
                      </a:pPr>
                      <a:r>
                        <a:rPr lang="en-US" sz="1100" dirty="0">
                          <a:solidFill>
                            <a:srgbClr val="D1495B"/>
                          </a:solidFill>
                          <a:latin typeface="Calibri" pitchFamily="34" charset="0"/>
                          <a:ea typeface="Calibri" pitchFamily="34" charset="-122"/>
                          <a:cs typeface="Calibri" pitchFamily="34" charset="-120"/>
                        </a:rPr>
                        <a:t>Δ −0.65 (−0.92 to −0.36)</a:t>
                      </a:r>
                      <a:endParaRPr lang="en-US" sz="12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63B"/>
                          </a:solidFill>
                          <a:latin typeface="Calibri" pitchFamily="34" charset="0"/>
                          <a:ea typeface="Calibri" pitchFamily="34" charset="-122"/>
                          <a:cs typeface="Calibri" pitchFamily="34" charset="-120"/>
                        </a:rPr>
                        <a:t>0.62</a:t>
                      </a:r>
                      <a:endParaRPr lang="en-US" sz="1200" dirty="0">
                        <a:latin typeface="Calibri" charset="0"/>
                        <a:ea typeface="Calibri" charset="0"/>
                        <a:cs typeface="Calibri" charset="0"/>
                      </a:endParaRPr>
                    </a:p>
                    <a:p>
                      <a:pPr algn="ctr" indent="0" marL="0">
                        <a:buNone/>
                      </a:pPr>
                      <a:r>
                        <a:rPr lang="en-US" sz="1100" dirty="0">
                          <a:solidFill>
                            <a:srgbClr val="0E7C86"/>
                          </a:solidFill>
                          <a:latin typeface="Calibri" pitchFamily="34" charset="0"/>
                          <a:ea typeface="Calibri" pitchFamily="34" charset="-122"/>
                          <a:cs typeface="Calibri" pitchFamily="34" charset="-120"/>
                        </a:rPr>
                        <a:t>Δ +0.96 (+0.43 to +1.34)</a:t>
                      </a:r>
                      <a:endParaRPr lang="en-US" sz="12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63B"/>
                          </a:solidFill>
                          <a:latin typeface="Calibri" pitchFamily="34" charset="0"/>
                          <a:ea typeface="Calibri" pitchFamily="34" charset="-122"/>
                          <a:cs typeface="Calibri" pitchFamily="34" charset="-120"/>
                        </a:rPr>
                        <a:t>0.59</a:t>
                      </a:r>
                      <a:endParaRPr lang="en-US" sz="1200" dirty="0">
                        <a:latin typeface="Calibri" charset="0"/>
                        <a:ea typeface="Calibri" charset="0"/>
                        <a:cs typeface="Calibri" charset="0"/>
                      </a:endParaRPr>
                    </a:p>
                    <a:p>
                      <a:pPr algn="ctr" indent="0" marL="0">
                        <a:buNone/>
                      </a:pPr>
                      <a:r>
                        <a:rPr lang="en-US" sz="1100" dirty="0">
                          <a:solidFill>
                            <a:srgbClr val="0E7C86"/>
                          </a:solidFill>
                          <a:latin typeface="Calibri" pitchFamily="34" charset="0"/>
                          <a:ea typeface="Calibri" pitchFamily="34" charset="-122"/>
                          <a:cs typeface="Calibri" pitchFamily="34" charset="-120"/>
                        </a:rPr>
                        <a:t>Δ +1.02 (+0.61 to +1.32)</a:t>
                      </a:r>
                      <a:endParaRPr lang="en-US" sz="12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63B"/>
                          </a:solidFill>
                          <a:latin typeface="Calibri" pitchFamily="34" charset="0"/>
                          <a:ea typeface="Calibri" pitchFamily="34" charset="-122"/>
                          <a:cs typeface="Calibri" pitchFamily="34" charset="-120"/>
                        </a:rPr>
                        <a:t>−0.72</a:t>
                      </a:r>
                      <a:endParaRPr lang="en-US" sz="1200" dirty="0">
                        <a:latin typeface="Calibri" charset="0"/>
                        <a:ea typeface="Calibri" charset="0"/>
                        <a:cs typeface="Calibri" charset="0"/>
                      </a:endParaRPr>
                    </a:p>
                    <a:p>
                      <a:pPr algn="ctr" indent="0" marL="0">
                        <a:buNone/>
                      </a:pPr>
                      <a:r>
                        <a:rPr lang="en-US" sz="1100" dirty="0">
                          <a:solidFill>
                            <a:srgbClr val="D1495B"/>
                          </a:solidFill>
                          <a:latin typeface="Calibri" pitchFamily="34" charset="0"/>
                          <a:ea typeface="Calibri" pitchFamily="34" charset="-122"/>
                          <a:cs typeface="Calibri" pitchFamily="34" charset="-120"/>
                        </a:rPr>
                        <a:t>Δ −1.37 (−1.47 to −1.11)</a:t>
                      </a:r>
                      <a:endParaRPr lang="en-US" sz="12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603504">
                <a:tc>
                  <a:txBody>
                    <a:bodyPr/>
                    <a:lstStyle/>
                    <a:p>
                      <a:pPr indent="0" marL="0">
                        <a:buNone/>
                      </a:pPr>
                      <a:r>
                        <a:rPr lang="en-US" sz="1200" dirty="0">
                          <a:solidFill>
                            <a:srgbClr val="1B263B"/>
                          </a:solidFill>
                          <a:latin typeface="Calibri" pitchFamily="34" charset="0"/>
                          <a:ea typeface="Calibri" pitchFamily="34" charset="-122"/>
                          <a:cs typeface="Calibri" pitchFamily="34" charset="-120"/>
                        </a:rPr>
                        <a:t>Conflict (−agreement)</a:t>
                      </a:r>
                      <a:endParaRPr lang="en-US" sz="12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63B"/>
                          </a:solidFill>
                          <a:latin typeface="Calibri" pitchFamily="34" charset="0"/>
                          <a:ea typeface="Calibri" pitchFamily="34" charset="-122"/>
                          <a:cs typeface="Calibri" pitchFamily="34" charset="-120"/>
                        </a:rPr>
                        <a:t>0.31</a:t>
                      </a:r>
                      <a:endParaRPr lang="en-US" sz="1200" dirty="0">
                        <a:latin typeface="Calibri" charset="0"/>
                        <a:ea typeface="Calibri" charset="0"/>
                        <a:cs typeface="Calibri" charset="0"/>
                      </a:endParaRPr>
                    </a:p>
                    <a:p>
                      <a:pPr algn="ctr" indent="0" marL="0">
                        <a:buNone/>
                      </a:pPr>
                      <a:r>
                        <a:rPr lang="en-US" sz="1100" dirty="0">
                          <a:solidFill>
                            <a:srgbClr val="D1495B"/>
                          </a:solidFill>
                          <a:latin typeface="Calibri" pitchFamily="34" charset="0"/>
                          <a:ea typeface="Calibri" pitchFamily="34" charset="-122"/>
                          <a:cs typeface="Calibri" pitchFamily="34" charset="-120"/>
                        </a:rPr>
                        <a:t>Δ −0.13 (−0.26 to −0.06)</a:t>
                      </a:r>
                      <a:endParaRPr lang="en-US" sz="12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63B"/>
                          </a:solidFill>
                          <a:latin typeface="Calibri" pitchFamily="34" charset="0"/>
                          <a:ea typeface="Calibri" pitchFamily="34" charset="-122"/>
                          <a:cs typeface="Calibri" pitchFamily="34" charset="-120"/>
                        </a:rPr>
                        <a:t>0.21</a:t>
                      </a:r>
                      <a:endParaRPr lang="en-US" sz="1200" dirty="0">
                        <a:latin typeface="Calibri" charset="0"/>
                        <a:ea typeface="Calibri" charset="0"/>
                        <a:cs typeface="Calibri" charset="0"/>
                      </a:endParaRPr>
                    </a:p>
                    <a:p>
                      <a:pPr algn="ctr" indent="0" marL="0">
                        <a:buNone/>
                      </a:pPr>
                      <a:r>
                        <a:rPr lang="en-US" sz="1100" dirty="0">
                          <a:solidFill>
                            <a:srgbClr val="6B7785"/>
                          </a:solidFill>
                          <a:latin typeface="Calibri" pitchFamily="34" charset="0"/>
                          <a:ea typeface="Calibri" pitchFamily="34" charset="-122"/>
                          <a:cs typeface="Calibri" pitchFamily="34" charset="-120"/>
                        </a:rPr>
                        <a:t>Δ −0.06 (−0.16 to +0.02)</a:t>
                      </a:r>
                      <a:endParaRPr lang="en-US" sz="12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63B"/>
                          </a:solidFill>
                          <a:latin typeface="Calibri" pitchFamily="34" charset="0"/>
                          <a:ea typeface="Calibri" pitchFamily="34" charset="-122"/>
                          <a:cs typeface="Calibri" pitchFamily="34" charset="-120"/>
                        </a:rPr>
                        <a:t>−0.34</a:t>
                      </a:r>
                      <a:endParaRPr lang="en-US" sz="1200" dirty="0">
                        <a:latin typeface="Calibri" charset="0"/>
                        <a:ea typeface="Calibri" charset="0"/>
                        <a:cs typeface="Calibri" charset="0"/>
                      </a:endParaRPr>
                    </a:p>
                    <a:p>
                      <a:pPr algn="ctr" indent="0" marL="0">
                        <a:buNone/>
                      </a:pPr>
                      <a:r>
                        <a:rPr lang="en-US" sz="1100" dirty="0">
                          <a:solidFill>
                            <a:srgbClr val="6B7785"/>
                          </a:solidFill>
                          <a:latin typeface="Calibri" pitchFamily="34" charset="0"/>
                          <a:ea typeface="Calibri" pitchFamily="34" charset="-122"/>
                          <a:cs typeface="Calibri" pitchFamily="34" charset="-120"/>
                        </a:rPr>
                        <a:t>Δ −0.001 (−0.08 to +0.08)</a:t>
                      </a:r>
                      <a:endParaRPr lang="en-US" sz="12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63B"/>
                          </a:solidFill>
                          <a:latin typeface="Calibri" pitchFamily="34" charset="0"/>
                          <a:ea typeface="Calibri" pitchFamily="34" charset="-122"/>
                          <a:cs typeface="Calibri" pitchFamily="34" charset="-120"/>
                        </a:rPr>
                        <a:t>−0.42</a:t>
                      </a:r>
                      <a:endParaRPr lang="en-US" sz="1200" dirty="0">
                        <a:latin typeface="Calibri" charset="0"/>
                        <a:ea typeface="Calibri" charset="0"/>
                        <a:cs typeface="Calibri" charset="0"/>
                      </a:endParaRPr>
                    </a:p>
                    <a:p>
                      <a:pPr algn="ctr" indent="0" marL="0">
                        <a:buNone/>
                      </a:pPr>
                      <a:r>
                        <a:rPr lang="en-US" sz="1100" dirty="0">
                          <a:solidFill>
                            <a:srgbClr val="6B7785"/>
                          </a:solidFill>
                          <a:latin typeface="Calibri" pitchFamily="34" charset="0"/>
                          <a:ea typeface="Calibri" pitchFamily="34" charset="-122"/>
                          <a:cs typeface="Calibri" pitchFamily="34" charset="-120"/>
                        </a:rPr>
                        <a:t>Δ +0.004 (−0.05 to +0.06)</a:t>
                      </a:r>
                      <a:endParaRPr lang="en-US" sz="12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B263B"/>
                          </a:solidFill>
                          <a:latin typeface="Calibri" pitchFamily="34" charset="0"/>
                          <a:ea typeface="Calibri" pitchFamily="34" charset="-122"/>
                          <a:cs typeface="Calibri" pitchFamily="34" charset="-120"/>
                        </a:rPr>
                        <a:t>0.67</a:t>
                      </a:r>
                      <a:endParaRPr lang="en-US" sz="1200" dirty="0">
                        <a:latin typeface="Calibri" charset="0"/>
                        <a:ea typeface="Calibri" charset="0"/>
                        <a:cs typeface="Calibri" charset="0"/>
                      </a:endParaRPr>
                    </a:p>
                    <a:p>
                      <a:pPr algn="ctr" indent="0" marL="0">
                        <a:buNone/>
                      </a:pPr>
                      <a:r>
                        <a:rPr lang="en-US" sz="1100" dirty="0">
                          <a:solidFill>
                            <a:srgbClr val="6B7785"/>
                          </a:solidFill>
                          <a:latin typeface="Calibri" pitchFamily="34" charset="0"/>
                          <a:ea typeface="Calibri" pitchFamily="34" charset="-122"/>
                          <a:cs typeface="Calibri" pitchFamily="34" charset="-120"/>
                        </a:rPr>
                        <a:t>Δ +0.02 (0.00 to +0.05)</a:t>
                      </a:r>
                      <a:endParaRPr lang="en-US" sz="1200" dirty="0">
                        <a:latin typeface="Calibri" charset="0"/>
                        <a:ea typeface="Calibri" charset="0"/>
                        <a:cs typeface="Calibri" charset="0"/>
                      </a:endParaRPr>
                    </a:p>
                  </a:txBody>
                  <a:tcPr marL="45720" marR="4572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4" name="text-207"/>
          <p:cNvSpPr txBox="1"/>
          <p:nvPr/>
        </p:nvSpPr>
        <p:spPr>
          <a:xfrm>
            <a:off x="548640" y="5349240"/>
            <a:ext cx="11094415" cy="777240"/>
          </a:xfrm>
          <a:prstGeom prst="rect">
            <a:avLst/>
          </a:prstGeom>
          <a:noFill/>
          <a:ln/>
        </p:spPr>
        <p:txBody>
          <a:bodyPr wrap="square" lIns="0" tIns="0" rIns="0" bIns="0" rtlCol="0" anchor="t"/>
          <a:lstStyle/>
          <a:p>
            <a:pPr indent="0" marL="0">
              <a:buNone/>
            </a:pPr>
            <a:r>
              <a:rPr lang="en-US" sz="1300" b="1" dirty="0">
                <a:solidFill>
                  <a:schemeClr val="tx1"/>
                </a:solidFill>
              </a:rPr>
              <a:t>How to read: </a:t>
            </a:r>
            <a:pPr indent="0" marL="0">
              <a:buNone/>
            </a:pPr>
            <a:r>
              <a:rPr lang="en-US" sz="1300" dirty="0">
                <a:solidFill>
                  <a:schemeClr val="tx1"/>
                </a:solidFill>
              </a:rPr>
              <a:t>Spearman ρ with K-Merge's damage (higher = better); Δ = score minus cosine with its 95% interval (teal: better than cosine, red: worse, grey: no clear difference). </a:t>
            </a:r>
            <a:pPr indent="0" marL="0">
              <a:buNone/>
            </a:pPr>
            <a:r>
              <a:rPr lang="en-US" sz="1300" dirty="0">
                <a:solidFill>
                  <a:schemeClr val="tx1"/>
                </a:solidFill>
              </a:rPr>
              <a:t>k_new flips sign across test beds; on real data it mostly mirrors each task's own size, which differs by task type.</a:t>
            </a:r>
            <a:endParaRPr lang="en-US" sz="13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Appendix: definitions, settings and sources</a:t>
            </a:r>
            <a:endParaRPr lang="en-US" sz="3000" dirty="0"/>
          </a:p>
        </p:txBody>
      </p:sp>
      <p:graphicFrame>
        <p:nvGraphicFramePr>
          <p:cNvPr id="23" name="definitions"/>
          <p:cNvGraphicFramePr>
            <a:graphicFrameLocks noGrp="1"/>
          </p:cNvGraphicFramePr>
          <p:nvPr>
            <p:extLst>
              <p:ext uri="{D42A27DB-BD31-4B8C-83A1-F6EECF244321}">
                <p14:modId xmlns:p14="http://schemas.microsoft.com/office/powerpoint/2010/main" val="1579011935"/>
              </p:ext>
            </p:extLst>
          </p:nvPr>
        </p:nvGraphicFramePr>
        <p:xfrm>
          <a:off x="548640" y="1188720"/>
          <a:ext cx="6949440" cy="914400"/>
        </p:xfrm>
        <a:graphic>
          <a:graphicData uri="http://schemas.openxmlformats.org/drawingml/2006/table">
            <a:tbl>
              <a:tblPr/>
              <a:tblGrid>
                <a:gridCol w="1783080"/>
                <a:gridCol w="5166360"/>
              </a:tblGrid>
              <a:tr h="585216">
                <a:tc>
                  <a:txBody>
                    <a:bodyPr/>
                    <a:lstStyle/>
                    <a:p>
                      <a:pPr indent="0" marL="0">
                        <a:buNone/>
                      </a:pPr>
                      <a:r>
                        <a:rPr lang="en-US" sz="1300" b="1" dirty="0">
                          <a:solidFill>
                            <a:srgbClr val="1B263B"/>
                          </a:solidFill>
                          <a:latin typeface="Calibri" pitchFamily="34" charset="0"/>
                          <a:ea typeface="Calibri" pitchFamily="34" charset="-122"/>
                          <a:cs typeface="Calibri" pitchFamily="34" charset="-120"/>
                        </a:rPr>
                        <a:t>Slot</a:t>
                      </a:r>
                      <a:endParaRPr lang="en-US" sz="1300" dirty="0">
                        <a:latin typeface="Calibri" charset="0"/>
                        <a:ea typeface="Calibri" charset="0"/>
                        <a:cs typeface="Calibri" charset="0"/>
                      </a:endParaRPr>
                    </a:p>
                  </a:txBody>
                  <a:tcPr marL="64008" marR="64008" marT="64008" marB="64008"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B263B"/>
                          </a:solidFill>
                          <a:latin typeface="Calibri" pitchFamily="34" charset="0"/>
                          <a:ea typeface="Calibri" pitchFamily="34" charset="-122"/>
                          <a:cs typeface="Calibri" pitchFamily="34" charset="-120"/>
                        </a:rPr>
                        <a:t>equal average of the other tasks' A and B in the same final slot (K-Merge Eq. 8); its SVD gives U, S, V</a:t>
                      </a:r>
                      <a:endParaRPr lang="en-US" sz="1300" dirty="0">
                        <a:latin typeface="Calibri" charset="0"/>
                        <a:ea typeface="Calibri" charset="0"/>
                        <a:cs typeface="Calibri" charset="0"/>
                      </a:endParaRPr>
                    </a:p>
                  </a:txBody>
                  <a:tcPr marL="64008" marR="64008" marT="64008" marB="64008"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85216">
                <a:tc>
                  <a:txBody>
                    <a:bodyPr/>
                    <a:lstStyle/>
                    <a:p>
                      <a:pPr indent="0" marL="0">
                        <a:buNone/>
                      </a:pPr>
                      <a:r>
                        <a:rPr lang="en-US" sz="1300" b="1" dirty="0">
                          <a:solidFill>
                            <a:srgbClr val="1B263B"/>
                          </a:solidFill>
                          <a:latin typeface="Calibri" pitchFamily="34" charset="0"/>
                          <a:ea typeface="Calibri" pitchFamily="34" charset="-122"/>
                          <a:cs typeface="Calibri" pitchFamily="34" charset="-120"/>
                        </a:rPr>
                        <a:t>Important directions</a:t>
                      </a:r>
                      <a:endParaRPr lang="en-US" sz="1300" dirty="0">
                        <a:latin typeface="Calibri" charset="0"/>
                        <a:ea typeface="Calibri" charset="0"/>
                        <a:cs typeface="Calibri" charset="0"/>
                      </a:endParaRPr>
                    </a:p>
                  </a:txBody>
                  <a:tcPr marL="64008" marR="64008" marT="64008" marB="64008"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B263B"/>
                          </a:solidFill>
                          <a:latin typeface="Calibri" pitchFamily="34" charset="0"/>
                          <a:ea typeface="Calibri" pitchFamily="34" charset="-122"/>
                          <a:cs typeface="Calibri" pitchFamily="34" charset="-120"/>
                        </a:rPr>
                        <a:t>the slot's top k directions holding 90% of its energy (k_slot)</a:t>
                      </a:r>
                      <a:endParaRPr lang="en-US" sz="1300" dirty="0">
                        <a:latin typeface="Calibri" charset="0"/>
                        <a:ea typeface="Calibri" charset="0"/>
                        <a:cs typeface="Calibri" charset="0"/>
                      </a:endParaRPr>
                    </a:p>
                  </a:txBody>
                  <a:tcPr marL="64008" marR="64008" marT="64008" marB="64008"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85216">
                <a:tc>
                  <a:txBody>
                    <a:bodyPr/>
                    <a:lstStyle/>
                    <a:p>
                      <a:pPr indent="0" marL="0">
                        <a:buNone/>
                      </a:pPr>
                      <a:r>
                        <a:rPr lang="en-US" sz="1300" b="1" dirty="0">
                          <a:solidFill>
                            <a:srgbClr val="1B263B"/>
                          </a:solidFill>
                          <a:latin typeface="Calibri" pitchFamily="34" charset="0"/>
                          <a:ea typeface="Calibri" pitchFamily="34" charset="-122"/>
                          <a:cs typeface="Calibri" pitchFamily="34" charset="-120"/>
                        </a:rPr>
                        <a:t>Overlap</a:t>
                      </a:r>
                      <a:endParaRPr lang="en-US" sz="1300" dirty="0">
                        <a:latin typeface="Calibri" charset="0"/>
                        <a:ea typeface="Calibri" charset="0"/>
                        <a:cs typeface="Calibri" charset="0"/>
                      </a:endParaRPr>
                    </a:p>
                  </a:txBody>
                  <a:tcPr marL="64008" marR="64008" marT="64008" marB="64008"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B263B"/>
                          </a:solidFill>
                          <a:latin typeface="Calibri" pitchFamily="34" charset="0"/>
                          <a:ea typeface="Calibri" pitchFamily="34" charset="-122"/>
                          <a:cs typeface="Calibri" pitchFamily="34" charset="-120"/>
                        </a:rPr>
                        <a:t>||U</a:t>
                      </a:r>
                      <a:pPr indent="0" marL="0">
                        <a:buNone/>
                      </a:pPr>
                      <a:r>
                        <a:rPr lang="en-US" sz="1300" baseline="-40000" dirty="0">
                          <a:solidFill>
                            <a:srgbClr val="1B263B"/>
                          </a:solidFill>
                          <a:latin typeface="Calibri" pitchFamily="34" charset="0"/>
                          <a:ea typeface="Calibri" pitchFamily="34" charset="-122"/>
                          <a:cs typeface="Calibri" pitchFamily="34" charset="-120"/>
                        </a:rPr>
                        <a:t>k</a:t>
                      </a:r>
                      <a:pPr indent="0" marL="0">
                        <a:buNone/>
                      </a:pPr>
                      <a:r>
                        <a:rPr lang="en-US" sz="1300" baseline="30000" dirty="0">
                          <a:solidFill>
                            <a:srgbClr val="1B263B"/>
                          </a:solidFill>
                          <a:latin typeface="Calibri" pitchFamily="34" charset="0"/>
                          <a:ea typeface="Calibri" pitchFamily="34" charset="-122"/>
                          <a:cs typeface="Calibri" pitchFamily="34" charset="-120"/>
                        </a:rPr>
                        <a:t>T</a:t>
                      </a:r>
                      <a:pPr indent="0" marL="0">
                        <a:buNone/>
                      </a:pPr>
                      <a:r>
                        <a:rPr lang="en-US" sz="1300" dirty="0">
                          <a:solidFill>
                            <a:srgbClr val="1B263B"/>
                          </a:solidFill>
                          <a:latin typeface="Calibri" pitchFamily="34" charset="0"/>
                          <a:ea typeface="Calibri" pitchFamily="34" charset="-122"/>
                          <a:cs typeface="Calibri" pitchFamily="34" charset="-120"/>
                        </a:rPr>
                        <a:t> ΔW</a:t>
                      </a:r>
                      <a:pPr indent="0" marL="0">
                        <a:buNone/>
                      </a:pPr>
                      <a:r>
                        <a:rPr lang="en-US" sz="1300" baseline="-40000" dirty="0">
                          <a:solidFill>
                            <a:srgbClr val="1B263B"/>
                          </a:solidFill>
                          <a:latin typeface="Calibri" pitchFamily="34" charset="0"/>
                          <a:ea typeface="Calibri" pitchFamily="34" charset="-122"/>
                          <a:cs typeface="Calibri" pitchFamily="34" charset="-120"/>
                        </a:rPr>
                        <a:t>t</a:t>
                      </a:r>
                      <a:pPr indent="0" marL="0">
                        <a:buNone/>
                      </a:pPr>
                      <a:r>
                        <a:rPr lang="en-US" sz="1300" dirty="0">
                          <a:solidFill>
                            <a:srgbClr val="1B263B"/>
                          </a:solidFill>
                          <a:latin typeface="Calibri" pitchFamily="34" charset="0"/>
                          <a:ea typeface="Calibri" pitchFamily="34" charset="-122"/>
                          <a:cs typeface="Calibri" pitchFamily="34" charset="-120"/>
                        </a:rPr>
                        <a:t> V</a:t>
                      </a:r>
                      <a:pPr indent="0" marL="0">
                        <a:buNone/>
                      </a:pPr>
                      <a:r>
                        <a:rPr lang="en-US" sz="1300" baseline="-40000" dirty="0">
                          <a:solidFill>
                            <a:srgbClr val="1B263B"/>
                          </a:solidFill>
                          <a:latin typeface="Calibri" pitchFamily="34" charset="0"/>
                          <a:ea typeface="Calibri" pitchFamily="34" charset="-122"/>
                          <a:cs typeface="Calibri" pitchFamily="34" charset="-120"/>
                        </a:rPr>
                        <a:t>k</a:t>
                      </a:r>
                      <a:pPr indent="0" marL="0">
                        <a:buNone/>
                      </a:pPr>
                      <a:r>
                        <a:rPr lang="en-US" sz="1300" dirty="0">
                          <a:solidFill>
                            <a:srgbClr val="1B263B"/>
                          </a:solidFill>
                          <a:latin typeface="Calibri" pitchFamily="34" charset="0"/>
                          <a:ea typeface="Calibri" pitchFamily="34" charset="-122"/>
                          <a:cs typeface="Calibri" pitchFamily="34" charset="-120"/>
                        </a:rPr>
                        <a:t>||² ÷ ||ΔW</a:t>
                      </a:r>
                      <a:pPr indent="0" marL="0">
                        <a:buNone/>
                      </a:pPr>
                      <a:r>
                        <a:rPr lang="en-US" sz="1300" baseline="-40000" dirty="0">
                          <a:solidFill>
                            <a:srgbClr val="1B263B"/>
                          </a:solidFill>
                          <a:latin typeface="Calibri" pitchFamily="34" charset="0"/>
                          <a:ea typeface="Calibri" pitchFamily="34" charset="-122"/>
                          <a:cs typeface="Calibri" pitchFamily="34" charset="-120"/>
                        </a:rPr>
                        <a:t>t</a:t>
                      </a:r>
                      <a:pPr indent="0" marL="0">
                        <a:buNone/>
                      </a:pPr>
                      <a:r>
                        <a:rPr lang="en-US" sz="1300" dirty="0">
                          <a:solidFill>
                            <a:srgbClr val="1B263B"/>
                          </a:solidFill>
                          <a:latin typeface="Calibri" pitchFamily="34" charset="0"/>
                          <a:ea typeface="Calibri" pitchFamily="34" charset="-122"/>
                          <a:cs typeface="Calibri" pitchFamily="34" charset="-120"/>
                        </a:rPr>
                        <a:t>||²; output or input side: project on one side only</a:t>
                      </a:r>
                      <a:endParaRPr lang="en-US" sz="1200" dirty="0">
                        <a:latin typeface="Calibri" charset="0"/>
                        <a:ea typeface="Calibri" charset="0"/>
                        <a:cs typeface="Calibri" charset="0"/>
                      </a:endParaRPr>
                    </a:p>
                  </a:txBody>
                  <a:tcPr marL="64008" marR="64008" marT="64008" marB="64008"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85216">
                <a:tc>
                  <a:txBody>
                    <a:bodyPr/>
                    <a:lstStyle/>
                    <a:p>
                      <a:pPr indent="0" marL="0">
                        <a:buNone/>
                      </a:pPr>
                      <a:r>
                        <a:rPr lang="en-US" sz="1300" b="1" dirty="0">
                          <a:solidFill>
                            <a:srgbClr val="1B263B"/>
                          </a:solidFill>
                          <a:latin typeface="Calibri" pitchFamily="34" charset="0"/>
                          <a:ea typeface="Calibri" pitchFamily="34" charset="-122"/>
                          <a:cs typeface="Calibri" pitchFamily="34" charset="-120"/>
                        </a:rPr>
                        <a:t>k_self, k_new</a:t>
                      </a:r>
                      <a:endParaRPr lang="en-US" sz="1300" dirty="0">
                        <a:latin typeface="Calibri" charset="0"/>
                        <a:ea typeface="Calibri" charset="0"/>
                        <a:cs typeface="Calibri" charset="0"/>
                      </a:endParaRPr>
                    </a:p>
                  </a:txBody>
                  <a:tcPr marL="64008" marR="64008" marT="64008" marB="64008"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B263B"/>
                          </a:solidFill>
                          <a:latin typeface="Calibri" pitchFamily="34" charset="0"/>
                          <a:ea typeface="Calibri" pitchFamily="34" charset="-122"/>
                          <a:cs typeface="Calibri" pitchFamily="34" charset="-120"/>
                        </a:rPr>
                        <a:t>own directions for 90% of the newcomer's energy; extra directions the slot needs to reach 90%</a:t>
                      </a:r>
                      <a:endParaRPr lang="en-US" sz="1300" dirty="0">
                        <a:latin typeface="Calibri" charset="0"/>
                        <a:ea typeface="Calibri" charset="0"/>
                        <a:cs typeface="Calibri" charset="0"/>
                      </a:endParaRPr>
                    </a:p>
                  </a:txBody>
                  <a:tcPr marL="64008" marR="64008" marT="64008" marB="64008"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85216">
                <a:tc>
                  <a:txBody>
                    <a:bodyPr/>
                    <a:lstStyle/>
                    <a:p>
                      <a:pPr indent="0" marL="0">
                        <a:buNone/>
                      </a:pPr>
                      <a:r>
                        <a:rPr lang="en-US" sz="1300" b="1" dirty="0">
                          <a:solidFill>
                            <a:srgbClr val="1B263B"/>
                          </a:solidFill>
                          <a:latin typeface="Calibri" pitchFamily="34" charset="0"/>
                          <a:ea typeface="Calibri" pitchFamily="34" charset="-122"/>
                          <a:cs typeface="Calibri" pitchFamily="34" charset="-120"/>
                        </a:rPr>
                        <a:t>Damage</a:t>
                      </a:r>
                      <a:endParaRPr lang="en-US" sz="1300" dirty="0">
                        <a:latin typeface="Calibri" charset="0"/>
                        <a:ea typeface="Calibri" charset="0"/>
                        <a:cs typeface="Calibri" charset="0"/>
                      </a:endParaRPr>
                    </a:p>
                  </a:txBody>
                  <a:tcPr marL="64008" marR="64008" marT="64008" marB="64008"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B263B"/>
                          </a:solidFill>
                          <a:latin typeface="Calibri" pitchFamily="34" charset="0"/>
                          <a:ea typeface="Calibri" pitchFamily="34" charset="-122"/>
                          <a:cs typeface="Calibri" pitchFamily="34" charset="-120"/>
                        </a:rPr>
                        <a:t>1 − score after K-Merge ÷ the task's own adapter (exact match in the lab; F0.5, ROUGE-L, F1 on real tasks)</a:t>
                      </a:r>
                      <a:endParaRPr lang="en-US" sz="1300" dirty="0">
                        <a:latin typeface="Calibri" charset="0"/>
                        <a:ea typeface="Calibri" charset="0"/>
                        <a:cs typeface="Calibri" charset="0"/>
                      </a:endParaRPr>
                    </a:p>
                  </a:txBody>
                  <a:tcPr marL="64008" marR="64008" marT="64008" marB="64008"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85216">
                <a:tc>
                  <a:txBody>
                    <a:bodyPr/>
                    <a:lstStyle/>
                    <a:p>
                      <a:pPr indent="0" marL="0">
                        <a:buNone/>
                      </a:pPr>
                      <a:r>
                        <a:rPr lang="en-US" sz="1300" b="1" dirty="0">
                          <a:solidFill>
                            <a:srgbClr val="1B263B"/>
                          </a:solidFill>
                          <a:latin typeface="Calibri" pitchFamily="34" charset="0"/>
                          <a:ea typeface="Calibri" pitchFamily="34" charset="-122"/>
                          <a:cs typeface="Calibri" pitchFamily="34" charset="-120"/>
                        </a:rPr>
                        <a:t>Functional need</a:t>
                      </a:r>
                      <a:endParaRPr lang="en-US" sz="1300" dirty="0">
                        <a:latin typeface="Calibri" charset="0"/>
                        <a:ea typeface="Calibri" charset="0"/>
                        <a:cs typeface="Calibri" charset="0"/>
                      </a:endParaRPr>
                    </a:p>
                  </a:txBody>
                  <a:tcPr marL="64008" marR="64008" marT="64008" marB="64008"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B263B"/>
                          </a:solidFill>
                          <a:latin typeface="Calibri" pitchFamily="34" charset="0"/>
                          <a:ea typeface="Calibri" pitchFamily="34" charset="-122"/>
                          <a:cs typeface="Calibri" pitchFamily="34" charset="-120"/>
                        </a:rPr>
                        <a:t>fewest own directions that keep ≥ 97% of the task's own-adapter quality (Phase 3 split results)</a:t>
                      </a:r>
                      <a:endParaRPr lang="en-US" sz="1300" dirty="0">
                        <a:latin typeface="Calibri" charset="0"/>
                        <a:ea typeface="Calibri" charset="0"/>
                        <a:cs typeface="Calibri" charset="0"/>
                      </a:endParaRPr>
                    </a:p>
                  </a:txBody>
                  <a:tcPr marL="64008" marR="64008" marT="64008" marB="64008"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85216">
                <a:tc>
                  <a:txBody>
                    <a:bodyPr/>
                    <a:lstStyle/>
                    <a:p>
                      <a:pPr indent="0" marL="0">
                        <a:buNone/>
                      </a:pPr>
                      <a:r>
                        <a:rPr lang="en-US" sz="1300" b="1" dirty="0">
                          <a:solidFill>
                            <a:srgbClr val="1B263B"/>
                          </a:solidFill>
                          <a:latin typeface="Calibri" pitchFamily="34" charset="0"/>
                          <a:ea typeface="Calibri" pitchFamily="34" charset="-122"/>
                          <a:cs typeface="Calibri" pitchFamily="34" charset="-120"/>
                        </a:rPr>
                        <a:t>Statistics</a:t>
                      </a:r>
                      <a:endParaRPr lang="en-US" sz="1300" dirty="0">
                        <a:latin typeface="Calibri" charset="0"/>
                        <a:ea typeface="Calibri" charset="0"/>
                        <a:cs typeface="Calibri" charset="0"/>
                      </a:endParaRPr>
                    </a:p>
                  </a:txBody>
                  <a:tcPr marL="64008" marR="64008" marT="64008" marB="64008"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B263B"/>
                          </a:solidFill>
                          <a:latin typeface="Calibri" pitchFamily="34" charset="0"/>
                          <a:ea typeface="Calibri" pitchFamily="34" charset="-122"/>
                          <a:cs typeface="Calibri" pitchFamily="34" charset="-120"/>
                        </a:rPr>
                        <a:t>Spearman ρ; cluster bootstrap, 1,000 draws (seed 20261013); partial ρ removes slot size (rank) and task type</a:t>
                      </a:r>
                      <a:endParaRPr lang="en-US" sz="1300" dirty="0">
                        <a:latin typeface="Calibri" charset="0"/>
                        <a:ea typeface="Calibri" charset="0"/>
                        <a:cs typeface="Calibri" charset="0"/>
                      </a:endParaRPr>
                    </a:p>
                  </a:txBody>
                  <a:tcPr marL="64008" marR="64008" marT="64008" marB="64008"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4" name="card-208"/>
          <p:cNvSpPr/>
          <p:nvPr/>
        </p:nvSpPr>
        <p:spPr>
          <a:xfrm>
            <a:off x="7818120" y="1188720"/>
            <a:ext cx="3824935" cy="4526280"/>
          </a:xfrm>
          <a:prstGeom prst="roundRect">
            <a:avLst>
              <a:gd name="adj" fmla="val 2869"/>
            </a:avLst>
          </a:prstGeom>
          <a:solidFill>
            <a:schemeClr val="bg2"/>
          </a:solidFill>
          <a:ln w="12700">
            <a:solidFill>
              <a:schemeClr val="bg2"/>
            </a:solidFill>
            <a:prstDash val="solid"/>
          </a:ln>
        </p:spPr>
      </p:sp>
      <p:sp>
        <p:nvSpPr>
          <p:cNvPr id="5" name="icon-bg-209"/>
          <p:cNvSpPr/>
          <p:nvPr/>
        </p:nvSpPr>
        <p:spPr>
          <a:xfrm>
            <a:off x="8046720" y="1325880"/>
            <a:ext cx="731520" cy="731520"/>
          </a:xfrm>
          <a:prstGeom prst="ellipse">
            <a:avLst/>
          </a:prstGeom>
          <a:solidFill>
            <a:schemeClr val="bg1"/>
          </a:solidFill>
          <a:ln w="12700">
            <a:solidFill>
              <a:schemeClr val="bg1"/>
            </a:solidFill>
            <a:prstDash val="solid"/>
          </a:ln>
        </p:spPr>
      </p:sp>
      <p:pic>
        <p:nvPicPr>
          <p:cNvPr id="6" name="icon-books-210" descr="books illustration">    </p:cNvPr>
          <p:cNvPicPr>
            <a:picLocks noChangeAspect="1"/>
          </p:cNvPicPr>
          <p:nvPr/>
        </p:nvPicPr>
        <p:blipFill>
          <a:blip r:embed="rId1"/>
          <a:stretch>
            <a:fillRect/>
          </a:stretch>
        </p:blipFill>
        <p:spPr>
          <a:xfrm>
            <a:off x="8163763" y="1442923"/>
            <a:ext cx="497434" cy="497434"/>
          </a:xfrm>
          <a:prstGeom prst="rect">
            <a:avLst/>
          </a:prstGeom>
        </p:spPr>
      </p:pic>
      <p:sp>
        <p:nvSpPr>
          <p:cNvPr id="7" name="text-211"/>
          <p:cNvSpPr txBox="1"/>
          <p:nvPr/>
        </p:nvSpPr>
        <p:spPr>
          <a:xfrm>
            <a:off x="8915400" y="1371600"/>
            <a:ext cx="2544775" cy="640080"/>
          </a:xfrm>
          <a:prstGeom prst="rect">
            <a:avLst/>
          </a:prstGeom>
          <a:noFill/>
          <a:ln/>
        </p:spPr>
        <p:txBody>
          <a:bodyPr wrap="square" lIns="0" tIns="0" rIns="0" bIns="0" rtlCol="0" anchor="ctr"/>
          <a:lstStyle/>
          <a:p>
            <a:pPr indent="0" marL="0">
              <a:buNone/>
            </a:pPr>
            <a:r>
              <a:rPr lang="en-US" sz="1900" b="1" dirty="0">
                <a:solidFill>
                  <a:schemeClr val="tx1"/>
                </a:solidFill>
                <a:latin typeface="Cambria" pitchFamily="34" charset="0"/>
                <a:ea typeface="Cambria" pitchFamily="34" charset="-122"/>
                <a:cs typeface="Cambria" pitchFamily="34" charset="-120"/>
              </a:rPr>
              <a:t>Sources</a:t>
            </a:r>
            <a:endParaRPr lang="en-US" sz="1900" dirty="0"/>
          </a:p>
        </p:txBody>
      </p:sp>
      <p:sp>
        <p:nvSpPr>
          <p:cNvPr id="8" name="text-212"/>
          <p:cNvSpPr txBox="1"/>
          <p:nvPr/>
        </p:nvSpPr>
        <p:spPr>
          <a:xfrm>
            <a:off x="8046720" y="2148840"/>
            <a:ext cx="3413455" cy="34747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Shenaj et al. K-Merge. ACL 2026 (arXiv 2510.13537)</a:t>
            </a:r>
            <a:endParaRPr lang="en-US" sz="1300" dirty="0"/>
          </a:p>
          <a:p>
            <a:pPr marL="342900" indent="-342900">
              <a:spcAft>
                <a:spcPts val="600"/>
              </a:spcAft>
              <a:buSzPct val="100000"/>
              <a:buChar char="•"/>
            </a:pPr>
            <a:r>
              <a:rPr lang="en-US" sz="1300" dirty="0">
                <a:solidFill>
                  <a:schemeClr val="tx1"/>
                </a:solidFill>
              </a:rPr>
              <a:t>Zhu et al. Asymmetry in Low-Rank Adapters. ICML 2024</a:t>
            </a:r>
            <a:endParaRPr lang="en-US" sz="1300" dirty="0"/>
          </a:p>
          <a:p>
            <a:pPr marL="342900" indent="-342900">
              <a:spcAft>
                <a:spcPts val="600"/>
              </a:spcAft>
              <a:buSzPct val="100000"/>
              <a:buChar char="•"/>
            </a:pPr>
            <a:r>
              <a:rPr lang="en-US" sz="1300" dirty="0">
                <a:solidFill>
                  <a:schemeClr val="tx1"/>
                </a:solidFill>
              </a:rPr>
              <a:t>Tian et al. HydraLoRA. NeurIPS 2024</a:t>
            </a:r>
            <a:endParaRPr lang="en-US" sz="1300" dirty="0"/>
          </a:p>
          <a:p>
            <a:pPr marL="342900" indent="-342900">
              <a:spcAft>
                <a:spcPts val="600"/>
              </a:spcAft>
              <a:buSzPct val="100000"/>
              <a:buChar char="•"/>
            </a:pPr>
            <a:r>
              <a:rPr lang="en-US" sz="1300" dirty="0">
                <a:solidFill>
                  <a:schemeClr val="tx1"/>
                </a:solidFill>
              </a:rPr>
              <a:t>Marczak et al. Iso-CTS (No Task Left Behind). ICML 2025</a:t>
            </a:r>
            <a:endParaRPr lang="en-US" sz="1300" dirty="0"/>
          </a:p>
          <a:p>
            <a:pPr marL="342900" indent="-342900">
              <a:spcAft>
                <a:spcPts val="600"/>
              </a:spcAft>
              <a:buSzPct val="100000"/>
              <a:buChar char="•"/>
            </a:pPr>
            <a:r>
              <a:rPr lang="en-US" sz="1300" dirty="0">
                <a:solidFill>
                  <a:schemeClr val="tx1"/>
                </a:solidFill>
              </a:rPr>
              <a:t>Gargiulo et al. Task Singular Vectors (TSV). CVPR 2025</a:t>
            </a:r>
            <a:endParaRPr lang="en-US" sz="1300" dirty="0"/>
          </a:p>
          <a:p>
            <a:pPr marL="342900" indent="-342900">
              <a:spcAft>
                <a:spcPts val="600"/>
              </a:spcAft>
              <a:buSzPct val="100000"/>
              <a:buChar char="•"/>
            </a:pPr>
            <a:r>
              <a:rPr lang="en-US" sz="1300" dirty="0">
                <a:solidFill>
                  <a:schemeClr val="tx1"/>
                </a:solidFill>
              </a:rPr>
              <a:t>Our data: Kaggle runs, merge lab v4 and v5, real benchmark v8</a:t>
            </a:r>
            <a:endParaRPr lang="en-US" sz="1300" dirty="0"/>
          </a:p>
        </p:txBody>
      </p:sp>
      <p:sp>
        <p:nvSpPr>
          <p:cNvPr id="9" name="text-213"/>
          <p:cNvSpPr txBox="1"/>
          <p:nvPr/>
        </p:nvSpPr>
        <p:spPr>
          <a:xfrm>
            <a:off x="548640" y="5897880"/>
            <a:ext cx="11094415" cy="365760"/>
          </a:xfrm>
          <a:prstGeom prst="rect">
            <a:avLst/>
          </a:prstGeom>
          <a:noFill/>
          <a:ln/>
        </p:spPr>
        <p:txBody>
          <a:bodyPr wrap="square" lIns="0" tIns="0" rIns="0" bIns="0" rtlCol="0" anchor="t"/>
          <a:lstStyle/>
          <a:p>
            <a:pPr indent="0" marL="0">
              <a:buNone/>
            </a:pPr>
            <a:r>
              <a:rPr lang="en-US" sz="1200" i="1" dirty="0">
                <a:solidFill>
                  <a:schemeClr val="tx1"/>
                </a:solidFill>
              </a:rPr>
              <a:t>3D illustrations: Microsoft Fluent Emoji (MIT License). The analysis ran on CPU in a Python workbench; every number is in one saved results file (geometry_results.json).</a:t>
            </a:r>
            <a:endParaRPr lang="en-US" sz="1200" dirty="0"/>
          </a:p>
        </p:txBody>
      </p:sp>
      <p:sp>
        <p:nvSpPr>
          <p:cNvPr id="25" name="Slide Number Placeholder 0"/>
          <p:cNvSpPr>
            <a:spLocks noGrp="1"/>
          </p:cNvSpPr>
          <p:nvPr>
            <p:ph type="sldNum" sz="quarter" idx="4294967295"/>
          </p:nvPr>
        </p:nvSpPr>
        <p:spPr>
          <a:xfrm>
            <a:off x="1110996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Share the Slot">
  <a:themeElements>
    <a:clrScheme name="Share the Slot">
      <a:dk1>
        <a:srgbClr val="1B263B"/>
      </a:dk1>
      <a:lt1>
        <a:srgbClr val="FFFFFF"/>
      </a:lt1>
      <a:dk2>
        <a:srgbClr val="0B2135"/>
      </a:dk2>
      <a:lt2>
        <a:srgbClr val="EEF3F6"/>
      </a:lt2>
      <a:accent1>
        <a:srgbClr val="0E7C86"/>
      </a:accent1>
      <a:accent2>
        <a:srgbClr val="D1495B"/>
      </a:accent2>
      <a:accent3>
        <a:srgbClr val="E9A23B"/>
      </a:accent3>
      <a:accent4>
        <a:srgbClr val="5FA97E"/>
      </a:accent4>
      <a:accent5>
        <a:srgbClr val="8A96A3"/>
      </a:accent5>
      <a:accent6>
        <a:srgbClr val="7D6B91"/>
      </a:accent6>
      <a:hlink>
        <a:srgbClr val="0E7C86"/>
      </a:hlink>
      <a:folHlink>
        <a:srgbClr val="3D5A80"/>
      </a:folHlink>
    </a:clrScheme>
    <a:fontScheme name="Share the Slo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Much Is Really New? LoRA geometry and K-Merge</dc:title>
  <dc:subject>Geometry study for Prof. Divya Saxena, IIT Jodhpur</dc:subject>
  <dc:creator>Ankit Raj Choudhary</dc:creator>
  <cp:lastModifiedBy>Ankit Raj Choudhary</cp:lastModifiedBy>
  <cp:revision>1</cp:revision>
  <dcterms:created xsi:type="dcterms:W3CDTF">2026-10-19T03:40:22Z</dcterms:created>
  <dcterms:modified xsi:type="dcterms:W3CDTF">2026-10-19T03:40:22Z</dcterms:modified>
</cp:coreProperties>
</file>