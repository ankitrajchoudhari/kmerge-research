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32b49745-5fd6-a555-7898-b981aef4d7af}">
          <p14:sldIdLst>
            <p14:sldId id="256"/>
            <p14:sldId id="257"/>
            <p14:sldId id="258"/>
            <p14:sldId id="259"/>
            <p14:sldId id="260"/>
            <p14:sldId id="261"/>
          </p14:sldIdLst>
        </p14:section>
        <p14:section name="What we did" id="{194a2f16-847c-c4f2-5745-7cd0778e9e26}">
          <p14:sldIdLst>
            <p14:sldId id="262"/>
            <p14:sldId id="263"/>
            <p14:sldId id="264"/>
          </p14:sldIdLst>
        </p14:section>
        <p14:section name="Results" id="{f99e0324-8b7d-976f-b215-c0bdada68545}">
          <p14:sldIdLst>
            <p14:sldId id="265"/>
            <p14:sldId id="266"/>
            <p14:sldId id="267"/>
            <p14:sldId id="268"/>
            <p14:sldId id="269"/>
            <p14:sldId id="270"/>
            <p14:sldId id="271"/>
            <p14:sldId id="272"/>
          </p14:sldIdLst>
        </p14:section>
        <p14:section name="What it means" id="{99cc1864-2e40-8c59-bcec-910a54d7ed6e}">
          <p14:sldIdLst>
            <p14:sldId id="273"/>
            <p14:sldId id="274"/>
            <p14:sldId id="275"/>
          </p14:sldIdLst>
        </p14:section>
        <p14:section name="What's next" id="{ac346fbd-eb8d-e6b6-48c2-bd75739348e9}">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Weakest language, % of its own adapter</a:t>
            </a:r>
          </a:p>
        </c:rich>
      </c:tx>
      <c:layout/>
      <c:overlay val="0"/>
    </c:title>
    <c:autoTitleDeleted val="0"/>
    <c:plotArea>
      <c:layout/>
      <c:barChart>
        <c:barDir val="bar"/>
        <c:grouping val="clustered"/>
        <c:varyColors val="0"/>
        <c:ser>
          <c:idx val="0"/>
          <c:order val="0"/>
          <c:tx>
            <c:strRef>
              <c:f>Sheet1!$B$1</c:f>
              <c:strCache>
                <c:ptCount val="1"/>
                <c:pt idx="0">
                  <c:v>Weakest language</c:v>
                </c:pt>
              </c:strCache>
            </c:strRef>
          </c:tx>
          <c:spPr>
            <a:solidFill>
              <a:srgbClr val="D1495B"/>
            </a:solidFill>
            <a:effectLst/>
          </c:spPr>
          <c:invertIfNegative val="0"/>
          <c:dLbls>
            <c:numFmt formatCode="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E8A0A8"/>
              </a:solidFill>
              <a:effectLst/>
            </c:spPr>
          </c:dPt>
          <c:dPt>
            <c:idx val="2"/>
            <c:invertIfNegative val="0"/>
            <c:bubble3D val="0"/>
            <c:spPr>
              <a:solidFill>
                <a:srgbClr val="E8A0A8"/>
              </a:solidFill>
              <a:effectLst/>
            </c:spPr>
          </c:dPt>
          <c:dPt>
            <c:idx val="3"/>
            <c:invertIfNegative val="0"/>
            <c:bubble3D val="0"/>
            <c:spPr>
              <a:solidFill>
                <a:srgbClr val="E9A23B"/>
              </a:solidFill>
              <a:effectLst/>
            </c:spPr>
          </c:dPt>
          <c:dPt>
            <c:idx val="4"/>
            <c:invertIfNegative val="0"/>
            <c:bubble3D val="0"/>
            <c:spPr>
              <a:solidFill>
                <a:srgbClr val="0E7C86"/>
              </a:solidFill>
              <a:effectLst/>
            </c:spPr>
          </c:dPt>
          <c:cat>
            <c:multiLvlStrRef>
              <c:f>Sheet1!$A$2:$A$6</c:f>
              <c:multiLvlStrCache>
                <c:ptCount val="5"/>
                <c:lvl>
                  <c:pt idx="0">
                    <c:v>K-Merge (cosine partner + average)</c:v>
                  </c:pt>
                  <c:pt idx="1">
                    <c:v>Global partner rule, same average</c:v>
                  </c:pt>
                  <c:pt idx="2">
                    <c:v>Validation-guided partner (oracle), same average</c:v>
                  </c:pt>
                  <c:pt idx="3">
                    <c:v>Same partner, smarter merge (RegMean-style)</c:v>
                  </c:pt>
                  <c:pt idx="4">
                    <c:v>Same partner, share the slot (K-Share)</c:v>
                  </c:pt>
                </c:lvl>
              </c:multiLvlStrCache>
            </c:multiLvlStrRef>
          </c:cat>
          <c:val>
            <c:numRef>
              <c:f>Sheet1!$B$2:$B$6</c:f>
              <c:numCache>
                <c:formatCode>General</c:formatCode>
                <c:ptCount val="5"/>
                <c:pt idx="0">
                  <c:v>81.2</c:v>
                </c:pt>
                <c:pt idx="1">
                  <c:v>85.7</c:v>
                </c:pt>
                <c:pt idx="2">
                  <c:v>84.9</c:v>
                </c:pt>
                <c:pt idx="3">
                  <c:v>95.2</c:v>
                </c:pt>
                <c:pt idx="4">
                  <c:v>98.8</c:v>
                </c:pt>
              </c:numCache>
            </c:numRef>
          </c:val>
        </c:ser>
        <c:dLbls>
          <c:numFmt formatCode="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Average over 12 tasks, % of own adapter</a:t>
            </a:r>
          </a:p>
        </c:rich>
      </c:tx>
      <c:layout/>
      <c:overlay val="0"/>
    </c:title>
    <c:autoTitleDeleted val="0"/>
    <c:plotArea>
      <c:layout/>
      <c:barChart>
        <c:barDir val="col"/>
        <c:grouping val="clustered"/>
        <c:varyColors val="0"/>
        <c:ser>
          <c:idx val="0"/>
          <c:order val="0"/>
          <c:tx>
            <c:strRef>
              <c:f>Sheet1!$B$1</c:f>
              <c:strCache>
                <c:ptCount val="1"/>
                <c:pt idx="0">
                  <c:v>Average</c:v>
                </c:pt>
              </c:strCache>
            </c:strRef>
          </c:tx>
          <c:spPr>
            <a:solidFill>
              <a:srgbClr val="D1495B"/>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A3ADB8"/>
              </a:solidFill>
              <a:effectLst/>
            </c:spPr>
          </c:dPt>
          <c:dPt>
            <c:idx val="2"/>
            <c:invertIfNegative val="0"/>
            <c:bubble3D val="0"/>
            <c:spPr>
              <a:solidFill>
                <a:srgbClr val="A3ADB8"/>
              </a:solidFill>
              <a:effectLst/>
            </c:spPr>
          </c:dPt>
          <c:dPt>
            <c:idx val="3"/>
            <c:invertIfNegative val="0"/>
            <c:bubble3D val="0"/>
            <c:spPr>
              <a:solidFill>
                <a:srgbClr val="A3ADB8"/>
              </a:solidFill>
              <a:effectLst/>
            </c:spPr>
          </c:dPt>
          <c:dPt>
            <c:idx val="4"/>
            <c:invertIfNegative val="0"/>
            <c:bubble3D val="0"/>
            <c:spPr>
              <a:solidFill>
                <a:srgbClr val="E9A23B"/>
              </a:solidFill>
              <a:effectLst/>
            </c:spPr>
          </c:dPt>
          <c:dPt>
            <c:idx val="5"/>
            <c:invertIfNegative val="0"/>
            <c:bubble3D val="0"/>
            <c:spPr>
              <a:solidFill>
                <a:srgbClr val="5FA97E"/>
              </a:solidFill>
              <a:effectLst/>
            </c:spPr>
          </c:dPt>
          <c:dPt>
            <c:idx val="6"/>
            <c:invertIfNegative val="0"/>
            <c:bubble3D val="0"/>
            <c:spPr>
              <a:solidFill>
                <a:srgbClr val="0E7C86"/>
              </a:solidFill>
              <a:effectLst/>
            </c:spPr>
          </c:dPt>
          <c:cat>
            <c:multiLvlStrRef>
              <c:f>Sheet1!$A$2:$A$8</c:f>
              <c:multiLvlStrCache>
                <c:ptCount val="7"/>
                <c:lvl>
                  <c:pt idx="0">
                    <c:v>K-Merge</c:v>
                  </c:pt>
                  <c:pt idx="1">
                    <c:v>Plain avg</c:v>
                  </c:pt>
                  <c:pt idx="2">
                    <c:v>DARE+TIES</c:v>
                  </c:pt>
                  <c:pt idx="3">
                    <c:v>TIES</c:v>
                  </c:pt>
                  <c:pt idx="4">
                    <c:v>RegMean</c:v>
                  </c:pt>
                  <c:pt idx="5">
                    <c:v>Split</c:v>
                  </c:pt>
                  <c:pt idx="6">
                    <c:v>K-Share</c:v>
                  </c:pt>
                </c:lvl>
              </c:multiLvlStrCache>
            </c:multiLvlStrRef>
          </c:cat>
          <c:val>
            <c:numRef>
              <c:f>Sheet1!$B$2:$B$8</c:f>
              <c:numCache>
                <c:formatCode>General</c:formatCode>
                <c:ptCount val="7"/>
                <c:pt idx="0">
                  <c:v>90.8</c:v>
                </c:pt>
                <c:pt idx="1">
                  <c:v>91.8</c:v>
                </c:pt>
                <c:pt idx="2">
                  <c:v>95.4</c:v>
                </c:pt>
                <c:pt idx="3">
                  <c:v>95.6</c:v>
                </c:pt>
                <c:pt idx="4">
                  <c:v>95.6</c:v>
                </c:pt>
                <c:pt idx="5">
                  <c:v>98.9</c:v>
                </c:pt>
                <c:pt idx="6">
                  <c:v>98.9</c:v>
                </c:pt>
              </c:numCache>
            </c:numRef>
          </c:val>
        </c:ser>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Weakest task, % of own adapter</a:t>
            </a:r>
          </a:p>
        </c:rich>
      </c:tx>
      <c:layout/>
      <c:overlay val="0"/>
    </c:title>
    <c:autoTitleDeleted val="0"/>
    <c:plotArea>
      <c:layout/>
      <c:barChart>
        <c:barDir val="col"/>
        <c:grouping val="clustered"/>
        <c:varyColors val="0"/>
        <c:ser>
          <c:idx val="0"/>
          <c:order val="0"/>
          <c:tx>
            <c:strRef>
              <c:f>Sheet1!$B$1</c:f>
              <c:strCache>
                <c:ptCount val="1"/>
                <c:pt idx="0">
                  <c:v>Weakest task</c:v>
                </c:pt>
              </c:strCache>
            </c:strRef>
          </c:tx>
          <c:spPr>
            <a:solidFill>
              <a:srgbClr val="D1495B"/>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A3ADB8"/>
              </a:solidFill>
              <a:effectLst/>
            </c:spPr>
          </c:dPt>
          <c:dPt>
            <c:idx val="2"/>
            <c:invertIfNegative val="0"/>
            <c:bubble3D val="0"/>
            <c:spPr>
              <a:solidFill>
                <a:srgbClr val="A3ADB8"/>
              </a:solidFill>
              <a:effectLst/>
            </c:spPr>
          </c:dPt>
          <c:dPt>
            <c:idx val="3"/>
            <c:invertIfNegative val="0"/>
            <c:bubble3D val="0"/>
            <c:spPr>
              <a:solidFill>
                <a:srgbClr val="A3ADB8"/>
              </a:solidFill>
              <a:effectLst/>
            </c:spPr>
          </c:dPt>
          <c:dPt>
            <c:idx val="4"/>
            <c:invertIfNegative val="0"/>
            <c:bubble3D val="0"/>
            <c:spPr>
              <a:solidFill>
                <a:srgbClr val="E9A23B"/>
              </a:solidFill>
              <a:effectLst/>
            </c:spPr>
          </c:dPt>
          <c:dPt>
            <c:idx val="5"/>
            <c:invertIfNegative val="0"/>
            <c:bubble3D val="0"/>
            <c:spPr>
              <a:solidFill>
                <a:srgbClr val="5FA97E"/>
              </a:solidFill>
              <a:effectLst/>
            </c:spPr>
          </c:dPt>
          <c:dPt>
            <c:idx val="6"/>
            <c:invertIfNegative val="0"/>
            <c:bubble3D val="0"/>
            <c:spPr>
              <a:solidFill>
                <a:srgbClr val="0E7C86"/>
              </a:solidFill>
              <a:effectLst/>
            </c:spPr>
          </c:dPt>
          <c:cat>
            <c:multiLvlStrRef>
              <c:f>Sheet1!$A$2:$A$8</c:f>
              <c:multiLvlStrCache>
                <c:ptCount val="7"/>
                <c:lvl>
                  <c:pt idx="0">
                    <c:v>K-Merge</c:v>
                  </c:pt>
                  <c:pt idx="1">
                    <c:v>Plain avg</c:v>
                  </c:pt>
                  <c:pt idx="2">
                    <c:v>DARE+TIES</c:v>
                  </c:pt>
                  <c:pt idx="3">
                    <c:v>TIES</c:v>
                  </c:pt>
                  <c:pt idx="4">
                    <c:v>RegMean</c:v>
                  </c:pt>
                  <c:pt idx="5">
                    <c:v>Split</c:v>
                  </c:pt>
                  <c:pt idx="6">
                    <c:v>K-Share</c:v>
                  </c:pt>
                </c:lvl>
              </c:multiLvlStrCache>
            </c:multiLvlStrRef>
          </c:cat>
          <c:val>
            <c:numRef>
              <c:f>Sheet1!$B$2:$B$8</c:f>
              <c:numCache>
                <c:formatCode>General</c:formatCode>
                <c:ptCount val="7"/>
                <c:pt idx="0">
                  <c:v>65.7</c:v>
                </c:pt>
                <c:pt idx="1">
                  <c:v>69.1</c:v>
                </c:pt>
                <c:pt idx="2">
                  <c:v>83.5</c:v>
                </c:pt>
                <c:pt idx="3">
                  <c:v>82.9</c:v>
                </c:pt>
                <c:pt idx="4">
                  <c:v>78.6</c:v>
                </c:pt>
                <c:pt idx="5">
                  <c:v>94.6</c:v>
                </c:pt>
                <c:pt idx="6">
                  <c:v>94.7</c:v>
                </c:pt>
              </c:numCache>
            </c:numRef>
          </c:val>
        </c:ser>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Share of each task's gain over the base model that survives (K = 2)</a:t>
            </a:r>
          </a:p>
        </c:rich>
      </c:tx>
      <c:layout/>
      <c:overlay val="0"/>
    </c:title>
    <c:autoTitleDeleted val="0"/>
    <c:plotArea>
      <c:layout/>
      <c:barChart>
        <c:barDir val="bar"/>
        <c:grouping val="clustered"/>
        <c:varyColors val="0"/>
        <c:ser>
          <c:idx val="0"/>
          <c:order val="0"/>
          <c:tx>
            <c:strRef>
              <c:f>Sheet1!$B$1</c:f>
              <c:strCache>
                <c:ptCount val="1"/>
                <c:pt idx="0">
                  <c:v>Gain kept</c:v>
                </c:pt>
              </c:strCache>
            </c:strRef>
          </c:tx>
          <c:spPr>
            <a:solidFill>
              <a:srgbClr val="D1495B"/>
            </a:solidFill>
            <a:effectLst/>
          </c:spPr>
          <c:invertIfNegative val="0"/>
          <c:dLbls>
            <c:numFmt formatCode="0&quot;%&quot;"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A3ADB8"/>
              </a:solidFill>
              <a:effectLst/>
            </c:spPr>
          </c:dPt>
          <c:dPt>
            <c:idx val="2"/>
            <c:invertIfNegative val="0"/>
            <c:bubble3D val="0"/>
            <c:spPr>
              <a:solidFill>
                <a:srgbClr val="A3ADB8"/>
              </a:solidFill>
              <a:effectLst/>
            </c:spPr>
          </c:dPt>
          <c:dPt>
            <c:idx val="3"/>
            <c:invertIfNegative val="0"/>
            <c:bubble3D val="0"/>
            <c:spPr>
              <a:solidFill>
                <a:srgbClr val="A3ADB8"/>
              </a:solidFill>
              <a:effectLst/>
            </c:spPr>
          </c:dPt>
          <c:dPt>
            <c:idx val="4"/>
            <c:invertIfNegative val="0"/>
            <c:bubble3D val="0"/>
            <c:spPr>
              <a:solidFill>
                <a:srgbClr val="E9A23B"/>
              </a:solidFill>
              <a:effectLst/>
            </c:spPr>
          </c:dPt>
          <c:dPt>
            <c:idx val="5"/>
            <c:invertIfNegative val="0"/>
            <c:bubble3D val="0"/>
            <c:spPr>
              <a:solidFill>
                <a:srgbClr val="5FA97E"/>
              </a:solidFill>
              <a:effectLst/>
            </c:spPr>
          </c:dPt>
          <c:dPt>
            <c:idx val="6"/>
            <c:invertIfNegative val="0"/>
            <c:bubble3D val="0"/>
            <c:spPr>
              <a:solidFill>
                <a:srgbClr val="0E7C86"/>
              </a:solidFill>
              <a:effectLst/>
            </c:spPr>
          </c:dPt>
          <c:cat>
            <c:multiLvlStrRef>
              <c:f>Sheet1!$A$2:$A$8</c:f>
              <c:multiLvlStrCache>
                <c:ptCount val="7"/>
                <c:lvl>
                  <c:pt idx="0">
                    <c:v>K-Merge</c:v>
                  </c:pt>
                  <c:pt idx="1">
                    <c:v>Plain average</c:v>
                  </c:pt>
                  <c:pt idx="2">
                    <c:v>DARE + TIES</c:v>
                  </c:pt>
                  <c:pt idx="3">
                    <c:v>TIES</c:v>
                  </c:pt>
                  <c:pt idx="4">
                    <c:v>RegMean (best merge)</c:v>
                  </c:pt>
                  <c:pt idx="5">
                    <c:v>Split (sharing)</c:v>
                  </c:pt>
                  <c:pt idx="6">
                    <c:v>K-Share (sharing)</c:v>
                  </c:pt>
                </c:lvl>
              </c:multiLvlStrCache>
            </c:multiLvlStrRef>
          </c:cat>
          <c:val>
            <c:numRef>
              <c:f>Sheet1!$B$2:$B$8</c:f>
              <c:numCache>
                <c:formatCode>General</c:formatCode>
                <c:ptCount val="7"/>
                <c:pt idx="0">
                  <c:v>64</c:v>
                </c:pt>
                <c:pt idx="1">
                  <c:v>68</c:v>
                </c:pt>
                <c:pt idx="2">
                  <c:v>79</c:v>
                </c:pt>
                <c:pt idx="3">
                  <c:v>81</c:v>
                </c:pt>
                <c:pt idx="4">
                  <c:v>84</c:v>
                </c:pt>
                <c:pt idx="5">
                  <c:v>96</c:v>
                </c:pt>
                <c:pt idx="6">
                  <c:v>96</c:v>
                </c:pt>
              </c:numCache>
            </c:numRef>
          </c:val>
        </c:ser>
        <c:dLbls>
          <c:numFmt formatCode="0&quot;%&quot;"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When tasks outnumber directions, split collapses; K-Share holds (1 seed)</a:t>
            </a:r>
          </a:p>
        </c:rich>
      </c:tx>
      <c:layout/>
      <c:overlay val="0"/>
    </c:title>
    <c:autoTitleDeleted val="0"/>
    <c:plotArea>
      <c:layout/>
      <c:lineChart>
        <c:varyColors val="0"/>
        <c:ser>
          <c:idx val="0"/>
          <c:order val="0"/>
          <c:tx>
            <c:strRef>
              <c:f>Sheet1!$B$1</c:f>
              <c:strCache>
                <c:ptCount val="1"/>
                <c:pt idx="0">
                  <c:v>K-Share</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0E7C86"/>
              </a:solidFill>
              <a:ln w="9525" cap="flat">
                <a:solidFill>
                  <a:srgbClr val="0E7C86"/>
                </a:solidFill>
                <a:prstDash val="solid"/>
                <a:round/>
              </a:ln>
              <a:effectLst/>
            </c:spPr>
          </c:marker>
          <c:cat>
            <c:multiLvlStrRef>
              <c:f>Sheet1!$A$2:$A$4</c:f>
              <c:multiLvlStrCache>
                <c:ptCount val="3"/>
                <c:lvl>
                  <c:pt idx="0">
                    <c:v>4</c:v>
                  </c:pt>
                  <c:pt idx="1">
                    <c:v>8</c:v>
                  </c:pt>
                  <c:pt idx="2">
                    <c:v>16</c:v>
                  </c:pt>
                </c:lvl>
              </c:multiLvlStrCache>
            </c:multiLvlStrRef>
          </c:cat>
          <c:val>
            <c:numRef>
              <c:f>Sheet1!$B$2:$B$4</c:f>
              <c:numCache>
                <c:formatCode>General</c:formatCode>
                <c:ptCount val="3"/>
                <c:pt idx="0">
                  <c:v>94.4</c:v>
                </c:pt>
                <c:pt idx="1">
                  <c:v>96.7</c:v>
                </c:pt>
                <c:pt idx="2">
                  <c:v>97.8</c:v>
                </c:pt>
              </c:numCache>
            </c:numRef>
          </c:val>
          <c:smooth val="0"/>
        </c:ser>
        <c:ser>
          <c:idx val="1"/>
          <c:order val="1"/>
          <c:tx>
            <c:strRef>
              <c:f>Sheet1!$C$1</c:f>
              <c:strCache>
                <c:ptCount val="1"/>
                <c:pt idx="0">
                  <c:v>Split</c:v>
                </c:pt>
              </c:strCache>
            </c:strRef>
          </c:tx>
          <c:spPr>
            <a:solidFill>
              <a:srgbClr val="5FA97E"/>
            </a:solidFill>
            <a:ln w="38100" cap="flat">
              <a:solidFill>
                <a:srgbClr val="5FA97E"/>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5FA97E"/>
              </a:solidFill>
              <a:ln w="9525" cap="flat">
                <a:solidFill>
                  <a:srgbClr val="5FA97E"/>
                </a:solidFill>
                <a:prstDash val="solid"/>
                <a:round/>
              </a:ln>
              <a:effectLst/>
            </c:spPr>
          </c:marker>
          <c:cat>
            <c:multiLvlStrRef>
              <c:f>Sheet1!$A$2:$A$4</c:f>
              <c:multiLvlStrCache>
                <c:ptCount val="3"/>
                <c:lvl>
                  <c:pt idx="0">
                    <c:v>4</c:v>
                  </c:pt>
                  <c:pt idx="1">
                    <c:v>8</c:v>
                  </c:pt>
                  <c:pt idx="2">
                    <c:v>16</c:v>
                  </c:pt>
                </c:lvl>
              </c:multiLvlStrCache>
            </c:multiLvlStrRef>
          </c:cat>
          <c:val>
            <c:numRef>
              <c:f>Sheet1!$C$2:$C$4</c:f>
              <c:numCache>
                <c:formatCode>General</c:formatCode>
                <c:ptCount val="3"/>
                <c:pt idx="0">
                  <c:v>87.1</c:v>
                </c:pt>
                <c:pt idx="1">
                  <c:v>91</c:v>
                </c:pt>
                <c:pt idx="2">
                  <c:v>98.2</c:v>
                </c:pt>
              </c:numCache>
            </c:numRef>
          </c:val>
          <c:smooth val="0"/>
        </c:ser>
        <c:ser>
          <c:idx val="2"/>
          <c:order val="2"/>
          <c:tx>
            <c:strRef>
              <c:f>Sheet1!$D$1</c:f>
              <c:strCache>
                <c:ptCount val="1"/>
                <c:pt idx="0">
                  <c:v>RegMean</c:v>
                </c:pt>
              </c:strCache>
            </c:strRef>
          </c:tx>
          <c:spPr>
            <a:solidFill>
              <a:srgbClr val="E9A23B"/>
            </a:solidFill>
            <a:ln w="38100" cap="flat">
              <a:solidFill>
                <a:srgbClr val="E9A23B"/>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E9A23B"/>
              </a:solidFill>
              <a:ln w="9525" cap="flat">
                <a:solidFill>
                  <a:srgbClr val="E9A23B"/>
                </a:solidFill>
                <a:prstDash val="solid"/>
                <a:round/>
              </a:ln>
              <a:effectLst/>
            </c:spPr>
          </c:marker>
          <c:cat>
            <c:multiLvlStrRef>
              <c:f>Sheet1!$A$2:$A$4</c:f>
              <c:multiLvlStrCache>
                <c:ptCount val="3"/>
                <c:lvl>
                  <c:pt idx="0">
                    <c:v>4</c:v>
                  </c:pt>
                  <c:pt idx="1">
                    <c:v>8</c:v>
                  </c:pt>
                  <c:pt idx="2">
                    <c:v>16</c:v>
                  </c:pt>
                </c:lvl>
              </c:multiLvlStrCache>
            </c:multiLvlStrRef>
          </c:cat>
          <c:val>
            <c:numRef>
              <c:f>Sheet1!$D$2:$D$4</c:f>
              <c:numCache>
                <c:formatCode>General</c:formatCode>
                <c:ptCount val="3"/>
                <c:pt idx="0">
                  <c:v>86.4</c:v>
                </c:pt>
                <c:pt idx="1">
                  <c:v>89.3</c:v>
                </c:pt>
                <c:pt idx="2">
                  <c:v>92</c:v>
                </c:pt>
              </c:numCache>
            </c:numRef>
          </c:val>
          <c:smooth val="0"/>
        </c:ser>
        <c:ser>
          <c:idx val="3"/>
          <c:order val="3"/>
          <c:tx>
            <c:strRef>
              <c:f>Sheet1!$E$1</c:f>
              <c:strCache>
                <c:ptCount val="1"/>
                <c:pt idx="0">
                  <c:v>K-Merge</c:v>
                </c:pt>
              </c:strCache>
            </c:strRef>
          </c:tx>
          <c:spPr>
            <a:solidFill>
              <a:srgbClr val="D1495B"/>
            </a:solidFill>
            <a:ln w="38100" cap="flat">
              <a:solidFill>
                <a:srgbClr val="D1495B"/>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D1495B"/>
              </a:solidFill>
              <a:ln w="9525" cap="flat">
                <a:solidFill>
                  <a:srgbClr val="D1495B"/>
                </a:solidFill>
                <a:prstDash val="solid"/>
                <a:round/>
              </a:ln>
              <a:effectLst/>
            </c:spPr>
          </c:marker>
          <c:cat>
            <c:multiLvlStrRef>
              <c:f>Sheet1!$A$2:$A$4</c:f>
              <c:multiLvlStrCache>
                <c:ptCount val="3"/>
                <c:lvl>
                  <c:pt idx="0">
                    <c:v>4</c:v>
                  </c:pt>
                  <c:pt idx="1">
                    <c:v>8</c:v>
                  </c:pt>
                  <c:pt idx="2">
                    <c:v>16</c:v>
                  </c:pt>
                </c:lvl>
              </c:multiLvlStrCache>
            </c:multiLvlStrRef>
          </c:cat>
          <c:val>
            <c:numRef>
              <c:f>Sheet1!$E$2:$E$4</c:f>
              <c:numCache>
                <c:formatCode>General</c:formatCode>
                <c:ptCount val="3"/>
                <c:pt idx="0">
                  <c:v>87.9</c:v>
                </c:pt>
                <c:pt idx="1">
                  <c:v>88.1</c:v>
                </c:pt>
                <c:pt idx="2">
                  <c:v>88.4</c:v>
                </c:pt>
              </c:numCache>
            </c:numRef>
          </c:val>
          <c:smooth val="0"/>
        </c:ser>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785"/>
                    </a:solidFill>
                    <a:latin typeface="+mn-lt"/>
                  </a:defRPr>
                </a:pPr>
                <a:r>
                  <a:rPr sz="1200" b="0" i="0" u="none" strike="noStrike">
                    <a:solidFill>
                      <a:srgbClr val="6B7785"/>
                    </a:solidFill>
                    <a:latin typeface="+mn-lt"/>
                  </a:rPr>
                  <a:t>directions (rank) available in the one slot</a:t>
                </a:r>
              </a:p>
            </c:rich>
          </c:tx>
          <c:layout/>
          <c:overlay val="0"/>
        </c:title>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9525" cap="flat">
              <a:solidFill>
                <a:srgbClr val="E6EBF0"/>
              </a:solidFill>
              <a:prstDash val="solid"/>
              <a:round/>
            </a:ln>
          </c:spPr>
        </c:majorGridlines>
        <c:title>
          <c:tx>
            <c:rich>
              <a:bodyPr/>
              <a:lstStyle/>
              <a:p>
                <a:pPr>
                  <a:defRPr sz="1200" b="0" i="0" u="none" strike="noStrike">
                    <a:solidFill>
                      <a:srgbClr val="6B7785"/>
                    </a:solidFill>
                    <a:latin typeface="+mn-lt"/>
                  </a:defRPr>
                </a:pPr>
                <a:r>
                  <a:rPr sz="1200" b="0" i="0" u="none" strike="noStrike">
                    <a:solidFill>
                      <a:srgbClr val="6B7785"/>
                    </a:solidFill>
                    <a:latin typeface="+mn-lt"/>
                  </a:rPr>
                  <a:t>average over 12 tasks, % of own adapter</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Synthetic grammar correction, Qwen2.5-0.5B, 3 seeds</a:t>
            </a:r>
          </a:p>
        </c:rich>
      </c:tx>
      <c:layout/>
      <c:overlay val="0"/>
    </c:title>
    <c:autoTitleDeleted val="0"/>
    <c:plotArea>
      <c:layout/>
      <c:lineChart>
        <c:varyColors val="0"/>
        <c:ser>
          <c:idx val="0"/>
          <c:order val="0"/>
          <c:tx>
            <c:strRef>
              <c:f>Sheet1!$B$1</c:f>
              <c:strCache>
                <c:ptCount val="1"/>
                <c:pt idx="0">
                  <c:v>K-Share</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0E7C86"/>
              </a:solidFill>
              <a:ln w="9525" cap="flat">
                <a:solidFill>
                  <a:srgbClr val="0E7C86"/>
                </a:solidFill>
                <a:prstDash val="solid"/>
                <a:round/>
              </a:ln>
              <a:effectLst/>
            </c:spPr>
          </c:marker>
          <c:cat>
            <c:multiLvlStrRef>
              <c:f>Sheet1!$A$2:$A$4</c:f>
              <c:multiLvlStrCache>
                <c:ptCount val="3"/>
                <c:lvl>
                  <c:pt idx="0">
                    <c:v>2</c:v>
                  </c:pt>
                  <c:pt idx="1">
                    <c:v>3</c:v>
                  </c:pt>
                  <c:pt idx="2">
                    <c:v>4</c:v>
                  </c:pt>
                </c:lvl>
              </c:multiLvlStrCache>
            </c:multiLvlStrRef>
          </c:cat>
          <c:val>
            <c:numRef>
              <c:f>Sheet1!$B$2:$B$4</c:f>
              <c:numCache>
                <c:formatCode>General</c:formatCode>
                <c:ptCount val="3"/>
                <c:pt idx="0">
                  <c:v>99.4</c:v>
                </c:pt>
                <c:pt idx="1">
                  <c:v>98.5</c:v>
                </c:pt>
                <c:pt idx="2">
                  <c:v>97.5</c:v>
                </c:pt>
              </c:numCache>
            </c:numRef>
          </c:val>
          <c:smooth val="0"/>
        </c:ser>
        <c:ser>
          <c:idx val="1"/>
          <c:order val="1"/>
          <c:tx>
            <c:strRef>
              <c:f>Sheet1!$C$1</c:f>
              <c:strCache>
                <c:ptCount val="1"/>
                <c:pt idx="0">
                  <c:v>Split</c:v>
                </c:pt>
              </c:strCache>
            </c:strRef>
          </c:tx>
          <c:spPr>
            <a:solidFill>
              <a:srgbClr val="5FA97E"/>
            </a:solidFill>
            <a:ln w="38100" cap="flat">
              <a:solidFill>
                <a:srgbClr val="5FA97E"/>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5FA97E"/>
              </a:solidFill>
              <a:ln w="9525" cap="flat">
                <a:solidFill>
                  <a:srgbClr val="5FA97E"/>
                </a:solidFill>
                <a:prstDash val="solid"/>
                <a:round/>
              </a:ln>
              <a:effectLst/>
            </c:spPr>
          </c:marker>
          <c:cat>
            <c:multiLvlStrRef>
              <c:f>Sheet1!$A$2:$A$4</c:f>
              <c:multiLvlStrCache>
                <c:ptCount val="3"/>
                <c:lvl>
                  <c:pt idx="0">
                    <c:v>2</c:v>
                  </c:pt>
                  <c:pt idx="1">
                    <c:v>3</c:v>
                  </c:pt>
                  <c:pt idx="2">
                    <c:v>4</c:v>
                  </c:pt>
                </c:lvl>
              </c:multiLvlStrCache>
            </c:multiLvlStrRef>
          </c:cat>
          <c:val>
            <c:numRef>
              <c:f>Sheet1!$C$2:$C$4</c:f>
              <c:numCache>
                <c:formatCode>General</c:formatCode>
                <c:ptCount val="3"/>
                <c:pt idx="0">
                  <c:v>99.3</c:v>
                </c:pt>
                <c:pt idx="1">
                  <c:v>98.5</c:v>
                </c:pt>
                <c:pt idx="2">
                  <c:v>98.1</c:v>
                </c:pt>
              </c:numCache>
            </c:numRef>
          </c:val>
          <c:smooth val="0"/>
        </c:ser>
        <c:ser>
          <c:idx val="2"/>
          <c:order val="2"/>
          <c:tx>
            <c:strRef>
              <c:f>Sheet1!$D$1</c:f>
              <c:strCache>
                <c:ptCount val="1"/>
                <c:pt idx="0">
                  <c:v>RegMean</c:v>
                </c:pt>
              </c:strCache>
            </c:strRef>
          </c:tx>
          <c:spPr>
            <a:solidFill>
              <a:srgbClr val="E9A23B"/>
            </a:solidFill>
            <a:ln w="38100" cap="flat">
              <a:solidFill>
                <a:srgbClr val="E9A23B"/>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E9A23B"/>
              </a:solidFill>
              <a:ln w="9525" cap="flat">
                <a:solidFill>
                  <a:srgbClr val="E9A23B"/>
                </a:solidFill>
                <a:prstDash val="solid"/>
                <a:round/>
              </a:ln>
              <a:effectLst/>
            </c:spPr>
          </c:marker>
          <c:cat>
            <c:multiLvlStrRef>
              <c:f>Sheet1!$A$2:$A$4</c:f>
              <c:multiLvlStrCache>
                <c:ptCount val="3"/>
                <c:lvl>
                  <c:pt idx="0">
                    <c:v>2</c:v>
                  </c:pt>
                  <c:pt idx="1">
                    <c:v>3</c:v>
                  </c:pt>
                  <c:pt idx="2">
                    <c:v>4</c:v>
                  </c:pt>
                </c:lvl>
              </c:multiLvlStrCache>
            </c:multiLvlStrRef>
          </c:cat>
          <c:val>
            <c:numRef>
              <c:f>Sheet1!$D$2:$D$4</c:f>
              <c:numCache>
                <c:formatCode>General</c:formatCode>
                <c:ptCount val="3"/>
                <c:pt idx="0">
                  <c:v>97.1</c:v>
                </c:pt>
                <c:pt idx="1">
                  <c:v>94.6</c:v>
                </c:pt>
                <c:pt idx="2">
                  <c:v>93.1</c:v>
                </c:pt>
              </c:numCache>
            </c:numRef>
          </c:val>
          <c:smooth val="0"/>
        </c:ser>
        <c:ser>
          <c:idx val="3"/>
          <c:order val="3"/>
          <c:tx>
            <c:strRef>
              <c:f>Sheet1!$E$1</c:f>
              <c:strCache>
                <c:ptCount val="1"/>
                <c:pt idx="0">
                  <c:v>K-Merge</c:v>
                </c:pt>
              </c:strCache>
            </c:strRef>
          </c:tx>
          <c:spPr>
            <a:solidFill>
              <a:srgbClr val="D1495B"/>
            </a:solidFill>
            <a:ln w="38100" cap="flat">
              <a:solidFill>
                <a:srgbClr val="D1495B"/>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D1495B"/>
              </a:solidFill>
              <a:ln w="9525" cap="flat">
                <a:solidFill>
                  <a:srgbClr val="D1495B"/>
                </a:solidFill>
                <a:prstDash val="solid"/>
                <a:round/>
              </a:ln>
              <a:effectLst/>
            </c:spPr>
          </c:marker>
          <c:cat>
            <c:multiLvlStrRef>
              <c:f>Sheet1!$A$2:$A$4</c:f>
              <c:multiLvlStrCache>
                <c:ptCount val="3"/>
                <c:lvl>
                  <c:pt idx="0">
                    <c:v>2</c:v>
                  </c:pt>
                  <c:pt idx="1">
                    <c:v>3</c:v>
                  </c:pt>
                  <c:pt idx="2">
                    <c:v>4</c:v>
                  </c:pt>
                </c:lvl>
              </c:multiLvlStrCache>
            </c:multiLvlStrRef>
          </c:cat>
          <c:val>
            <c:numRef>
              <c:f>Sheet1!$E$2:$E$4</c:f>
              <c:numCache>
                <c:formatCode>General</c:formatCode>
                <c:ptCount val="3"/>
                <c:pt idx="0">
                  <c:v>88.2</c:v>
                </c:pt>
                <c:pt idx="1">
                  <c:v>77.7</c:v>
                </c:pt>
                <c:pt idx="2">
                  <c:v>70.2</c:v>
                </c:pt>
              </c:numCache>
            </c:numRef>
          </c:val>
          <c:smooth val="0"/>
        </c:ser>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785"/>
                    </a:solidFill>
                    <a:latin typeface="+mn-lt"/>
                  </a:defRPr>
                </a:pPr>
                <a:r>
                  <a:rPr sz="1200" b="0" i="0" u="none" strike="noStrike">
                    <a:solidFill>
                      <a:srgbClr val="6B7785"/>
                    </a:solidFill>
                    <a:latin typeface="+mn-lt"/>
                  </a:rPr>
                  <a:t>tasks sharing one slot</a:t>
                </a:r>
              </a:p>
            </c:rich>
          </c:tx>
          <c:layout/>
          <c:overlay val="0"/>
        </c:title>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E6EBF0"/>
              </a:solidFill>
              <a:prstDash val="solid"/>
              <a:round/>
            </a:ln>
          </c:spPr>
        </c:majorGridlines>
        <c:title>
          <c:tx>
            <c:rich>
              <a:bodyPr/>
              <a:lstStyle/>
              <a:p>
                <a:pPr>
                  <a:defRPr sz="1200" b="0" i="0" u="none" strike="noStrike">
                    <a:solidFill>
                      <a:srgbClr val="6B7785"/>
                    </a:solidFill>
                    <a:latin typeface="+mn-lt"/>
                  </a:defRPr>
                </a:pPr>
                <a:r>
                  <a:rPr sz="1200" b="0" i="0" u="none" strike="noStrike">
                    <a:solidFill>
                      <a:srgbClr val="6B7785"/>
                    </a:solidFill>
                    <a:latin typeface="+mn-lt"/>
                  </a:rPr>
                  <a:t>weakest language, % of own adapter</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6 language pairs x 3 seeds, % of own adapter</a:t>
            </a:r>
          </a:p>
        </c:rich>
      </c:tx>
      <c:layout/>
      <c:overlay val="0"/>
    </c:title>
    <c:autoTitleDeleted val="0"/>
    <c:plotArea>
      <c:layout/>
      <c:barChart>
        <c:barDir val="col"/>
        <c:grouping val="clustered"/>
        <c:varyColors val="0"/>
        <c:ser>
          <c:idx val="0"/>
          <c:order val="0"/>
          <c:tx>
            <c:strRef>
              <c:f>Sheet1!$B$1</c:f>
              <c:strCache>
                <c:ptCount val="1"/>
                <c:pt idx="0">
                  <c:v>K-Merge (merge every layer)</c:v>
                </c:pt>
              </c:strCache>
            </c:strRef>
          </c:tx>
          <c:spPr>
            <a:solidFill>
              <a:srgbClr val="D1495B"/>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cat>
            <c:multiLvlStrRef>
              <c:f>Sheet1!$A$2:$A$5</c:f>
              <c:multiLvlStrCache>
                <c:ptCount val="4"/>
                <c:lvl>
                  <c:pt idx="0">
                    <c:v>0.5B average</c:v>
                  </c:pt>
                  <c:pt idx="1">
                    <c:v>0.5B weakest</c:v>
                  </c:pt>
                  <c:pt idx="2">
                    <c:v>1.5B average</c:v>
                  </c:pt>
                  <c:pt idx="3">
                    <c:v>1.5B weakest</c:v>
                  </c:pt>
                </c:lvl>
              </c:multiLvlStrCache>
            </c:multiLvlStrRef>
          </c:cat>
          <c:val>
            <c:numRef>
              <c:f>Sheet1!$B$2:$B$5</c:f>
              <c:numCache>
                <c:formatCode>General</c:formatCode>
                <c:ptCount val="4"/>
                <c:pt idx="0">
                  <c:v>92.4</c:v>
                </c:pt>
                <c:pt idx="1">
                  <c:v>88.2</c:v>
                </c:pt>
                <c:pt idx="2">
                  <c:v>98.9</c:v>
                </c:pt>
                <c:pt idx="3">
                  <c:v>98.1</c:v>
                </c:pt>
              </c:numCache>
            </c:numRef>
          </c:val>
        </c:ser>
        <c:ser>
          <c:idx val="1"/>
          <c:order val="1"/>
          <c:tx>
            <c:strRef>
              <c:f>Sheet1!$C$1</c:f>
              <c:strCache>
                <c:ptCount val="1"/>
                <c:pt idx="0">
                  <c:v>Layer-selective (keep stored adapter in conflicting layers)</c:v>
                </c:pt>
              </c:strCache>
            </c:strRef>
          </c:tx>
          <c:spPr>
            <a:solidFill>
              <a:srgbClr val="7D6B91"/>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cat>
            <c:multiLvlStrRef>
              <c:f>Sheet1!$A$2:$A$5</c:f>
              <c:multiLvlStrCache>
                <c:ptCount val="4"/>
                <c:lvl>
                  <c:pt idx="0">
                    <c:v>0.5B average</c:v>
                  </c:pt>
                  <c:pt idx="1">
                    <c:v>0.5B weakest</c:v>
                  </c:pt>
                  <c:pt idx="2">
                    <c:v>1.5B average</c:v>
                  </c:pt>
                  <c:pt idx="3">
                    <c:v>1.5B weakest</c:v>
                  </c:pt>
                </c:lvl>
              </c:multiLvlStrCache>
            </c:multiLvlStrRef>
          </c:cat>
          <c:val>
            <c:numRef>
              <c:f>Sheet1!$C$2:$C$5</c:f>
              <c:numCache>
                <c:formatCode>General</c:formatCode>
                <c:ptCount val="4"/>
                <c:pt idx="0">
                  <c:v>91.1</c:v>
                </c:pt>
                <c:pt idx="1">
                  <c:v>83.4</c:v>
                </c:pt>
                <c:pt idx="2">
                  <c:v>93.7</c:v>
                </c:pt>
                <c:pt idx="3">
                  <c:v>88</c:v>
                </c:pt>
              </c:numCache>
            </c:numRef>
          </c:val>
        </c:ser>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 Today I will show what we found in Phase 3. In one line: K-Merge loses quality mainly because it averages adapters, not because it picks the wrong partner. If we share the slot instead of averaging, almost all the quality comes back; the simplest version, split, uses exactly the same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First: on 12 real tasks, sharing keeps 98.9 percent of each task's own quality; K-Merge keeps 90.8. The simplest sharing method, split, does this with exactly the same storage as K-Merge. Second: if we only count what the adapters learned beyond the base model, K-Merge keeps 64 percent of it and sharing 96. Third: choosing a better merge partner improves the weakest language by at most 4.5 points, but changing how the slot stores tasks improves it by 17.6. So the main problem is averaging, not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keeps one base model and small add-ons called LoRA adapters, one per task and language, for example English grammar correction or German summaries. Storage is limited to K adapters. When a new adapter arrives and all slots are full, it has to share a slot. That is the problem K-Merge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K-Merge does three things. It compares the new adapter with each stored one using cosine similarity. It picks the most similar slot. Then it averages them, giving weight to how many tasks the slot already holds. For example, if French arrives and English grammar is most similar, the slot becomes half English and half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earlier phases we knew that similarity does not guarantee a good merge. English and Hindi were the most similar pair but the result was one-sided. At rank 4 the German-French pair's similarity was highest, yet there was no net gain; at rank 32 it was lowest and both languages gained. And Analysis 4 showed that layers 17 to 21 matter for French. The open question was: why do merges fail, and what is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your Insight 3 said a merge can fail because the wrong tasks are grouped, or because the averaging rule damages them. So we separated the two. On the left, we change who is merged: better similarity, a global choice, even an oracle using labelled data. On the right, we keep the partner and change how the slot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three test beds. The merge lab uses synthetic grammar errors in four languages and two model sizes, with 25 methods. The real benchmark uses real datasets: learner essays for grammar, dialogue summaries and question answering, in four languages, with the same model and LoRA settings as the K-Merge paper. Summaries and QA in German, Spanish and Italian are machine-translated from English. The stress test forces all 12 tasks into one small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averaging hurt? Like mixing paint, once two adapters are blended you cannot separate them. Three things go wrong. Dilution: each task keeps only part of its own update, so the model leaves errors unfixed. Interference: other tasks' updates leak in. And K-Merge averages the A and B matrices separately, which creates cross terms that no task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is to share the slot instead of blending it. Think of the slot as a bookcase with R shelves, one per direction. Split gives each task its own shelves with its most important directions, so nothing is mixed. K-Share builds one set of shelves that all tasks can use, plus a tiny personal key for each task. Split uses exactly the storage of one LoRA; K-Share adds a small core per task, 2 to 8 percent extra in our runs. These two building blocks exist in recent papers; what is new, as far as we found, is testing them in K-Merge's continual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experiment. We ran K-Merge on all 24 arrival orders, three seeds, and changed one thing at a time. The weakest language with K-Merge keeps 81 percent. A global partner rule gets it to about 86, and even an oracle that uses labelled data reaches only about 85. A smarter merge gets 95. Sharing the slot gets 98.8. So how we store the tasks matters far more than who we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find a better similarity measure? Four reasons from our data. First, cosine's relation to damage even changes sign: on the small model, more similar pairs were damaged less; on the larger one, more. Second, on real data, the cosine rule packed 11 of 12 tasks into one slot. Third, an oracle with labelled data added at most 3.7 points. Fourth, a merge that used only the LoRA weights as its statistics kept 4.8 percent on 0.5B and 53 percent on 1.5B, because LoRA's A matrices stay close to their random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real data: 12 tasks, real learner essays, dialogue summaries and questions. All methods use the same slots that K-Merge chose, so only the way of building the slot changes. K-Merge keeps 90.8 percent on average and only 65.7 on its weakest task. The best merging method, RegMean, keeps 95.6 and 78.6. Sharing keeps 98.9 and about 94.6, and split does it with exactly the same storage. RegMean and TIES tie on average at 95.6; the best weakest task among the merges is DARE plus TIES at 83.5. These differences are statistically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fairer way to see it. The base model without any adapter already gets 79 percent of the adapters' scores, so percentages of the own adapter look high for everyone. If we count only what the adapters added, K-Merge keeps 64 percent of it and sharing 96. For grammar correction, K-Merge keeps only 36 percent of the learning, sharing 93 to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real learner sentences. In German, K-Merge leaves 'diese Satz' unchanged; K-Share writes 'diesen Satz'. In Spanish, K-Merge even changes the meaning: 'terrible' becomes 'triste'. These are examples I picked to show the problem, so the rate at the bottom is what counts: K-Merge fully fixes 24 percent of sentences, K-Share 34, almost the same as each task's own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stress test all 12 real tasks must live in a single slot. With only 4 directions, split has to give 8 tasks nothing, so it collapses. K-Share still keeps 94.4 percent, which is better than split with twice the room and better than RegMean and K-Merge with four times the room. This is one seed so far, so we will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your question about pairwise versus set-wise merging. As more tasks share one slot, K-Merge's weakest language falls from 88 to 70 percent. RegMean falls more slowly. Split and K-Share stay at about 97.5 to 99 percent. So averaging does not compose, but sharing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result changed our plan. After Analysis 4 we proposed merging only some layers. In the lab we tested that idea on 6 pairs, 3 seeds, both models, and we measured both languages. It loses to plain K-Merge, because protecting one language in those layers takes them away from the other. So the layer analysis is a good diagnostic tool, as your RQ5 says, but not a merging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sure are we? We used a paired bootstrap: we re-scored all methods on resampled test examples, 2,000 times on real data and 4,000 on synthetic data, and the confidence intervals come from that. We corrected the p-values for many comparisons. The main gains have intervals far from zero. One honest point: on the main real benchmark, K-Share and split tie, so K-Share's extra value shows only in crowded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honest about novelty: splitting the slot and the shared basis already exist in 2025 papers, and our GRAM merge turned out to be essentially RegMean. What is new, as far as we found, is showing this inside K-Merge's continual setting on real tasks, with split at exactly equal storage, the who-versus-how test, the crowding map, and the diagnosis of why K-Merge fails. Our own new methods are designed but not tested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The stress test has one seed and the real benchmark two. We used one model family. We have 12 tasks while the K-Merge paper had 40. Some data are machine-translated. And K-Share needs a little extra storage: 2 to 8 percent overall, and up to 14.5 percent in the most crowded slot, while split needs none. I also correct two earlier statements. I said K-Share costs 1 to 3 percent; that is true only at 4 directions. And the Phase 2 report says English lost in 2 of 3 EN-HI seeds, but its own table shows a loss in 1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is left. About 17 to 19 GPU hours, which fits in one week of Kaggle's free quota; I plan it over two weeks so there is room to rerun anything that fails. First the extra seeds, then a pilot of our own new methods, then a second model family, Llama, which K-Merge also used. There are also a few open items: on-device cost, real Hindi data, the Phase 1 checks you asked for, and adding everything to your Google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for the next four weeks. Week one, when the GPU quota resets: the extra seeds and a pilot of our own methods. Week two: a second model family and the remaining baselines. Weeks three and four: on-device timing, the paper draft, and putting all results into your Google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these checks, five ideas could each become a new study. The one I find most important is A: instead of asking which adapters are similar, ask how much room each task needs in a slot, and find a rule for it. The others: truly on-device sharing without keeping the original adapters, removing the need to know the task label, a better compatibility score, and a real phone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Ma'am. I would like your guidance on four things: which new study to start first, whether more GPU time is possible, edit access to your Google Doc, and help contacting authors of a Hindi grammar corpus. The full report has every number, chart and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references, with the datasets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1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722376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063240"/>
            <a:ext cx="7223760" cy="1097280"/>
          </a:xfrm>
          <a:prstGeom prst="rect">
            <a:avLst/>
          </a:prstGeom>
          <a:noFill/>
          <a:ln/>
        </p:spPr>
        <p:txBody>
          <a:bodyPr wrap="square" rtlCol="0"/>
          <a:lstStyle>
            <a:lvl1pPr indent="0" marL="0">
              <a:buNone/>
              <a:defRPr lang="en-US" sz="2100" dirty="0">
                <a:solidFill>
                  <a:schemeClr val="bg2"/>
                </a:solidFill>
              </a:defRPr>
            </a:lvl1pPr>
          </a:lstStyle>
          <a:p>
            <a:pPr indent="0" marL="0">
              <a:buNone/>
            </a:pPr>
            <a:endParaRPr lang="en-US" sz="2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K-Merge Phase 3  ·  Ankit Raj Choudhary  ·  IIT Jodhpur</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21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image" Target="../media/image-20-1.png"/><Relationship Id="rId6" Type="http://schemas.openxmlformats.org/officeDocument/2006/relationships/image" Target="../media/image-20-1.png"/><Relationship Id="rId7" Type="http://schemas.openxmlformats.org/officeDocument/2006/relationships/image" Target="../media/image-20-1.png"/><Relationship Id="rId8" Type="http://schemas.openxmlformats.org/officeDocument/2006/relationships/image" Target="../media/image-20-1.png"/><Relationship Id="rId9" Type="http://schemas.openxmlformats.org/officeDocument/2006/relationships/slideLayout" Target="../slideLayouts/slideLayout3.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7223760" cy="1371600"/>
          </a:xfrm>
          <a:prstGeom prst="rect">
            <a:avLst/>
          </a:prstGeom>
          <a:noFill/>
          <a:ln/>
        </p:spPr>
        <p:txBody>
          <a:bodyPr wrap="square" lIns="0" tIns="0" rIns="0" bIns="0" rtlCol="0" anchor="b"/>
          <a:lstStyle/>
          <a:p>
            <a:pPr algn="l" indent="0" marL="0">
              <a:buNone/>
            </a:pPr>
            <a:r>
              <a:rPr lang="en-US" sz="4800" b="1" dirty="0">
                <a:solidFill>
                  <a:schemeClr val="bg1"/>
                </a:solidFill>
              </a:rPr>
              <a:t>Don't Average, Share</a:t>
            </a:r>
            <a:endParaRPr lang="en-US" sz="4800" dirty="0"/>
          </a:p>
        </p:txBody>
      </p:sp>
      <p:sp>
        <p:nvSpPr>
          <p:cNvPr id="3" name="Text 0"/>
          <p:cNvSpPr/>
          <p:nvPr>
            <p:ph idx="101" type="body" hasCustomPrompt="1"/>
          </p:nvPr>
        </p:nvSpPr>
        <p:spPr>
          <a:xfrm>
            <a:off x="548640" y="3063240"/>
            <a:ext cx="7223760" cy="1097280"/>
          </a:xfrm>
          <a:prstGeom prst="rect">
            <a:avLst/>
          </a:prstGeom>
          <a:noFill/>
          <a:ln/>
        </p:spPr>
        <p:txBody>
          <a:bodyPr wrap="square" lIns="0" tIns="0" rIns="0" bIns="0" rtlCol="0" anchor="t"/>
          <a:lstStyle/>
          <a:p>
            <a:pPr indent="0" marL="0">
              <a:buNone/>
            </a:pPr>
            <a:r>
              <a:rPr lang="en-US" sz="2100" dirty="0">
                <a:solidFill>
                  <a:schemeClr val="bg2"/>
                </a:solidFill>
              </a:rPr>
              <a:t>What breaks K-Merge, and a storage-fair way to keep every task</a:t>
            </a:r>
            <a:endParaRPr lang="en-US" sz="2100" dirty="0"/>
          </a:p>
        </p:txBody>
      </p:sp>
      <p:sp>
        <p:nvSpPr>
          <p:cNvPr id="4" name="text-1"/>
          <p:cNvSpPr txBox="1"/>
          <p:nvPr/>
        </p:nvSpPr>
        <p:spPr>
          <a:xfrm>
            <a:off x="548640" y="4160520"/>
            <a:ext cx="7223760" cy="365760"/>
          </a:xfrm>
          <a:prstGeom prst="rect">
            <a:avLst/>
          </a:prstGeom>
          <a:noFill/>
          <a:ln/>
        </p:spPr>
        <p:txBody>
          <a:bodyPr wrap="square" lIns="0" tIns="0" rIns="0" bIns="0" rtlCol="0" anchor="t"/>
          <a:lstStyle/>
          <a:p>
            <a:pPr indent="0" marL="0">
              <a:buNone/>
            </a:pPr>
            <a:r>
              <a:rPr lang="en-US" sz="1600" b="1" dirty="0">
                <a:solidFill>
                  <a:schemeClr val="accent1"/>
                </a:solidFill>
              </a:rPr>
              <a:t>Phase 3 results  ·  5 October 2026</a:t>
            </a:r>
            <a:endParaRPr lang="en-US" sz="1600" dirty="0"/>
          </a:p>
        </p:txBody>
      </p:sp>
      <p:sp>
        <p:nvSpPr>
          <p:cNvPr id="5" name="text-2"/>
          <p:cNvSpPr txBox="1"/>
          <p:nvPr/>
        </p:nvSpPr>
        <p:spPr>
          <a:xfrm>
            <a:off x="548640" y="5074920"/>
            <a:ext cx="7498080" cy="73152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Ankit Raj Choudhary</a:t>
            </a:r>
            <a:endParaRPr lang="en-US" sz="1500" dirty="0"/>
          </a:p>
          <a:p>
            <a:pPr indent="0" marL="0">
              <a:spcAft>
                <a:spcPts val="400"/>
              </a:spcAft>
              <a:buNone/>
            </a:pPr>
            <a:r>
              <a:rPr lang="en-US" sz="1500" dirty="0">
                <a:solidFill>
                  <a:schemeClr val="bg2"/>
                </a:solidFill>
              </a:rPr>
              <a:t>Supervisor: Prof. Divya Saxena  ·  School of AI and Data Science, IIT Jodhpur</a:t>
            </a:r>
            <a:endParaRPr lang="en-US" sz="1500" dirty="0"/>
          </a:p>
        </p:txBody>
      </p:sp>
      <p:sp>
        <p:nvSpPr>
          <p:cNvPr id="6" name="halo"/>
          <p:cNvSpPr/>
          <p:nvPr/>
        </p:nvSpPr>
        <p:spPr>
          <a:xfrm>
            <a:off x="8001000" y="1051560"/>
            <a:ext cx="3657600" cy="3657600"/>
          </a:xfrm>
          <a:prstGeom prst="ellipse">
            <a:avLst/>
          </a:prstGeom>
          <a:solidFill>
            <a:srgbClr val="13304A"/>
          </a:solidFill>
          <a:ln w="12700">
            <a:solidFill>
              <a:srgbClr val="13304A"/>
            </a:solidFill>
            <a:prstDash val="solid"/>
          </a:ln>
        </p:spPr>
      </p:sp>
      <p:pic>
        <p:nvPicPr>
          <p:cNvPr id="7" name="phone" descr="mobile phone illustration">    </p:cNvPr>
          <p:cNvPicPr>
            <a:picLocks noChangeAspect="1"/>
          </p:cNvPicPr>
          <p:nvPr/>
        </p:nvPicPr>
        <p:blipFill>
          <a:blip r:embed="rId1"/>
          <a:stretch>
            <a:fillRect/>
          </a:stretch>
        </p:blipFill>
        <p:spPr>
          <a:xfrm>
            <a:off x="8732520" y="1691640"/>
            <a:ext cx="2286000" cy="2286000"/>
          </a:xfrm>
          <a:prstGeom prst="rect">
            <a:avLst/>
          </a:prstGeom>
        </p:spPr>
      </p:pic>
      <p:pic>
        <p:nvPicPr>
          <p:cNvPr id="8" name="adapter-1" descr="puzzle piece illustration">    </p:cNvPr>
          <p:cNvPicPr>
            <a:picLocks noChangeAspect="1"/>
          </p:cNvPicPr>
          <p:nvPr/>
        </p:nvPicPr>
        <p:blipFill>
          <a:blip r:embed="rId2"/>
          <a:stretch>
            <a:fillRect/>
          </a:stretch>
        </p:blipFill>
        <p:spPr>
          <a:xfrm>
            <a:off x="7818120" y="3886200"/>
            <a:ext cx="960120" cy="960120"/>
          </a:xfrm>
          <a:prstGeom prst="rect">
            <a:avLst/>
          </a:prstGeom>
        </p:spPr>
      </p:pic>
      <p:pic>
        <p:nvPicPr>
          <p:cNvPr id="9" name="adapter-2" descr="books illustration">    </p:cNvPr>
          <p:cNvPicPr>
            <a:picLocks noChangeAspect="1"/>
          </p:cNvPicPr>
          <p:nvPr/>
        </p:nvPicPr>
        <p:blipFill>
          <a:blip r:embed="rId3"/>
          <a:stretch>
            <a:fillRect/>
          </a:stretch>
        </p:blipFill>
        <p:spPr>
          <a:xfrm>
            <a:off x="10927080" y="3931920"/>
            <a:ext cx="914400" cy="914400"/>
          </a:xfrm>
          <a:prstGeom prst="rect">
            <a:avLst/>
          </a:prstGeom>
        </p:spPr>
      </p:pic>
      <p:pic>
        <p:nvPicPr>
          <p:cNvPr id="10" name="adapter-3" descr="key illustration">    </p:cNvPr>
          <p:cNvPicPr>
            <a:picLocks noChangeAspect="1"/>
          </p:cNvPicPr>
          <p:nvPr/>
        </p:nvPicPr>
        <p:blipFill>
          <a:blip r:embed="rId4"/>
          <a:stretch>
            <a:fillRect/>
          </a:stretch>
        </p:blipFill>
        <p:spPr>
          <a:xfrm>
            <a:off x="10927080" y="91440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The answer in one slide</a:t>
            </a:r>
            <a:endParaRPr lang="en-US" sz="3200" dirty="0"/>
          </a:p>
        </p:txBody>
      </p:sp>
      <p:sp>
        <p:nvSpPr>
          <p:cNvPr id="3" name="card-3"/>
          <p:cNvSpPr/>
          <p:nvPr/>
        </p:nvSpPr>
        <p:spPr>
          <a:xfrm>
            <a:off x="548640" y="1417320"/>
            <a:ext cx="3520440" cy="2514600"/>
          </a:xfrm>
          <a:prstGeom prst="roundRect">
            <a:avLst>
              <a:gd name="adj" fmla="val 4364"/>
            </a:avLst>
          </a:prstGeom>
          <a:solidFill>
            <a:schemeClr val="bg2"/>
          </a:solidFill>
          <a:ln w="12700">
            <a:solidFill>
              <a:schemeClr val="bg2"/>
            </a:solidFill>
            <a:prstDash val="solid"/>
          </a:ln>
        </p:spPr>
      </p:sp>
      <p:sp>
        <p:nvSpPr>
          <p:cNvPr id="4" name="text-4"/>
          <p:cNvSpPr txBox="1"/>
          <p:nvPr/>
        </p:nvSpPr>
        <p:spPr>
          <a:xfrm>
            <a:off x="777240" y="1737360"/>
            <a:ext cx="3063240" cy="868680"/>
          </a:xfrm>
          <a:prstGeom prst="rect">
            <a:avLst/>
          </a:prstGeom>
          <a:noFill/>
          <a:ln/>
        </p:spPr>
        <p:txBody>
          <a:bodyPr wrap="square" lIns="0" tIns="0" rIns="0" bIns="0" rtlCol="0" anchor="ctr"/>
          <a:lstStyle/>
          <a:p>
            <a:pPr indent="0" marL="0">
              <a:buNone/>
            </a:pPr>
            <a:r>
              <a:rPr lang="en-US" sz="3100" b="1" dirty="0">
                <a:solidFill>
                  <a:schemeClr val="accent1"/>
                </a:solidFill>
                <a:latin typeface="Cambria" pitchFamily="34" charset="0"/>
                <a:ea typeface="Cambria" pitchFamily="34" charset="-122"/>
                <a:cs typeface="Cambria" pitchFamily="34" charset="-120"/>
              </a:rPr>
              <a:t>98.9%</a:t>
            </a:r>
            <a:pPr indent="0" marL="0">
              <a:buNone/>
            </a:pPr>
            <a:r>
              <a:rPr lang="en-US" sz="3100" b="1" dirty="0">
                <a:solidFill>
                  <a:schemeClr val="accent5"/>
                </a:solidFill>
                <a:latin typeface="Cambria" pitchFamily="34" charset="0"/>
                <a:ea typeface="Cambria" pitchFamily="34" charset="-122"/>
                <a:cs typeface="Cambria" pitchFamily="34" charset="-120"/>
              </a:rPr>
              <a:t> vs </a:t>
            </a:r>
            <a:pPr indent="0" marL="0">
              <a:buNone/>
            </a:pPr>
            <a:r>
              <a:rPr lang="en-US" sz="3100" b="1" dirty="0">
                <a:solidFill>
                  <a:schemeClr val="accent2"/>
                </a:solidFill>
                <a:latin typeface="Cambria" pitchFamily="34" charset="0"/>
                <a:ea typeface="Cambria" pitchFamily="34" charset="-122"/>
                <a:cs typeface="Cambria" pitchFamily="34" charset="-120"/>
              </a:rPr>
              <a:t>90.8%</a:t>
            </a:r>
            <a:endParaRPr lang="en-US" sz="3100" dirty="0"/>
          </a:p>
        </p:txBody>
      </p:sp>
      <p:sp>
        <p:nvSpPr>
          <p:cNvPr id="5" name="text-5"/>
          <p:cNvSpPr txBox="1"/>
          <p:nvPr/>
        </p:nvSpPr>
        <p:spPr>
          <a:xfrm>
            <a:off x="777240" y="2743200"/>
            <a:ext cx="3063240" cy="1005840"/>
          </a:xfrm>
          <a:prstGeom prst="rect">
            <a:avLst/>
          </a:prstGeom>
          <a:noFill/>
          <a:ln/>
        </p:spPr>
        <p:txBody>
          <a:bodyPr wrap="square" lIns="0" tIns="0" rIns="0" bIns="0" rtlCol="0" anchor="t"/>
          <a:lstStyle/>
          <a:p>
            <a:pPr indent="0" marL="0">
              <a:buNone/>
            </a:pPr>
            <a:r>
              <a:rPr lang="en-US" sz="1600" dirty="0">
                <a:solidFill>
                  <a:schemeClr val="tx1"/>
                </a:solidFill>
              </a:rPr>
              <a:t>of single-adapter quality kept on 12 real tasks: sharing vs K-Merge (K = 2 slots)</a:t>
            </a:r>
            <a:endParaRPr lang="en-US" sz="1600" dirty="0"/>
          </a:p>
        </p:txBody>
      </p:sp>
      <p:sp>
        <p:nvSpPr>
          <p:cNvPr id="6" name="card-6"/>
          <p:cNvSpPr/>
          <p:nvPr/>
        </p:nvSpPr>
        <p:spPr>
          <a:xfrm>
            <a:off x="4334256" y="1417320"/>
            <a:ext cx="3520440" cy="2514600"/>
          </a:xfrm>
          <a:prstGeom prst="roundRect">
            <a:avLst>
              <a:gd name="adj" fmla="val 4364"/>
            </a:avLst>
          </a:prstGeom>
          <a:solidFill>
            <a:schemeClr val="bg2"/>
          </a:solidFill>
          <a:ln w="12700">
            <a:solidFill>
              <a:schemeClr val="bg2"/>
            </a:solidFill>
            <a:prstDash val="solid"/>
          </a:ln>
        </p:spPr>
      </p:sp>
      <p:sp>
        <p:nvSpPr>
          <p:cNvPr id="7" name="text-7"/>
          <p:cNvSpPr txBox="1"/>
          <p:nvPr/>
        </p:nvSpPr>
        <p:spPr>
          <a:xfrm>
            <a:off x="4562856" y="1737360"/>
            <a:ext cx="3063240" cy="868680"/>
          </a:xfrm>
          <a:prstGeom prst="rect">
            <a:avLst/>
          </a:prstGeom>
          <a:noFill/>
          <a:ln/>
        </p:spPr>
        <p:txBody>
          <a:bodyPr wrap="square" lIns="0" tIns="0" rIns="0" bIns="0" rtlCol="0" anchor="ctr"/>
          <a:lstStyle/>
          <a:p>
            <a:pPr indent="0" marL="0">
              <a:buNone/>
            </a:pPr>
            <a:r>
              <a:rPr lang="en-US" sz="3100" b="1" dirty="0">
                <a:solidFill>
                  <a:schemeClr val="accent1"/>
                </a:solidFill>
                <a:latin typeface="Cambria" pitchFamily="34" charset="0"/>
                <a:ea typeface="Cambria" pitchFamily="34" charset="-122"/>
                <a:cs typeface="Cambria" pitchFamily="34" charset="-120"/>
              </a:rPr>
              <a:t>96%</a:t>
            </a:r>
            <a:pPr indent="0" marL="0">
              <a:buNone/>
            </a:pPr>
            <a:r>
              <a:rPr lang="en-US" sz="3100" b="1" dirty="0">
                <a:solidFill>
                  <a:schemeClr val="accent5"/>
                </a:solidFill>
                <a:latin typeface="Cambria" pitchFamily="34" charset="0"/>
                <a:ea typeface="Cambria" pitchFamily="34" charset="-122"/>
                <a:cs typeface="Cambria" pitchFamily="34" charset="-120"/>
              </a:rPr>
              <a:t> vs </a:t>
            </a:r>
            <a:pPr indent="0" marL="0">
              <a:buNone/>
            </a:pPr>
            <a:r>
              <a:rPr lang="en-US" sz="3100" b="1" dirty="0">
                <a:solidFill>
                  <a:schemeClr val="accent2"/>
                </a:solidFill>
                <a:latin typeface="Cambria" pitchFamily="34" charset="0"/>
                <a:ea typeface="Cambria" pitchFamily="34" charset="-122"/>
                <a:cs typeface="Cambria" pitchFamily="34" charset="-120"/>
              </a:rPr>
              <a:t>64%</a:t>
            </a:r>
            <a:endParaRPr lang="en-US" sz="3100" dirty="0"/>
          </a:p>
        </p:txBody>
      </p:sp>
      <p:sp>
        <p:nvSpPr>
          <p:cNvPr id="8" name="text-8"/>
          <p:cNvSpPr txBox="1"/>
          <p:nvPr/>
        </p:nvSpPr>
        <p:spPr>
          <a:xfrm>
            <a:off x="4562856" y="2743200"/>
            <a:ext cx="3063240" cy="1005840"/>
          </a:xfrm>
          <a:prstGeom prst="rect">
            <a:avLst/>
          </a:prstGeom>
          <a:noFill/>
          <a:ln/>
        </p:spPr>
        <p:txBody>
          <a:bodyPr wrap="square" lIns="0" tIns="0" rIns="0" bIns="0" rtlCol="0" anchor="t"/>
          <a:lstStyle/>
          <a:p>
            <a:pPr indent="0" marL="0">
              <a:buNone/>
            </a:pPr>
            <a:r>
              <a:rPr lang="en-US" sz="1600" dirty="0">
                <a:solidFill>
                  <a:schemeClr val="tx1"/>
                </a:solidFill>
              </a:rPr>
              <a:t>of what the adapters learned beyond the base model is still there: sharing vs K-Merge</a:t>
            </a:r>
            <a:endParaRPr lang="en-US" sz="1600" dirty="0"/>
          </a:p>
        </p:txBody>
      </p:sp>
      <p:sp>
        <p:nvSpPr>
          <p:cNvPr id="9" name="card-9"/>
          <p:cNvSpPr/>
          <p:nvPr/>
        </p:nvSpPr>
        <p:spPr>
          <a:xfrm>
            <a:off x="8119872" y="1417320"/>
            <a:ext cx="3520440" cy="2514600"/>
          </a:xfrm>
          <a:prstGeom prst="roundRect">
            <a:avLst>
              <a:gd name="adj" fmla="val 4364"/>
            </a:avLst>
          </a:prstGeom>
          <a:solidFill>
            <a:schemeClr val="bg2"/>
          </a:solidFill>
          <a:ln w="12700">
            <a:solidFill>
              <a:schemeClr val="bg2"/>
            </a:solidFill>
            <a:prstDash val="solid"/>
          </a:ln>
        </p:spPr>
      </p:sp>
      <p:sp>
        <p:nvSpPr>
          <p:cNvPr id="10" name="text-10"/>
          <p:cNvSpPr txBox="1"/>
          <p:nvPr/>
        </p:nvSpPr>
        <p:spPr>
          <a:xfrm>
            <a:off x="8348472" y="1737360"/>
            <a:ext cx="3063240" cy="868680"/>
          </a:xfrm>
          <a:prstGeom prst="rect">
            <a:avLst/>
          </a:prstGeom>
          <a:noFill/>
          <a:ln/>
        </p:spPr>
        <p:txBody>
          <a:bodyPr wrap="square" lIns="0" tIns="0" rIns="0" bIns="0" rtlCol="0" anchor="ctr"/>
          <a:lstStyle/>
          <a:p>
            <a:pPr indent="0" marL="0">
              <a:buNone/>
            </a:pPr>
            <a:r>
              <a:rPr lang="en-US" sz="3100" b="1" dirty="0">
                <a:solidFill>
                  <a:schemeClr val="accent1"/>
                </a:solidFill>
                <a:latin typeface="Cambria" pitchFamily="34" charset="0"/>
                <a:ea typeface="Cambria" pitchFamily="34" charset="-122"/>
                <a:cs typeface="Cambria" pitchFamily="34" charset="-120"/>
              </a:rPr>
              <a:t>+17.6</a:t>
            </a:r>
            <a:pPr indent="0" marL="0">
              <a:buNone/>
            </a:pPr>
            <a:r>
              <a:rPr lang="en-US" sz="3100" b="1" dirty="0">
                <a:solidFill>
                  <a:schemeClr val="accent5"/>
                </a:solidFill>
                <a:latin typeface="Cambria" pitchFamily="34" charset="0"/>
                <a:ea typeface="Cambria" pitchFamily="34" charset="-122"/>
                <a:cs typeface="Cambria" pitchFamily="34" charset="-120"/>
              </a:rPr>
              <a:t> vs </a:t>
            </a:r>
            <a:pPr indent="0" marL="0">
              <a:buNone/>
            </a:pPr>
            <a:r>
              <a:rPr lang="en-US" sz="3100" b="1" dirty="0">
                <a:solidFill>
                  <a:schemeClr val="accent2"/>
                </a:solidFill>
                <a:latin typeface="Cambria" pitchFamily="34" charset="0"/>
                <a:ea typeface="Cambria" pitchFamily="34" charset="-122"/>
                <a:cs typeface="Cambria" pitchFamily="34" charset="-120"/>
              </a:rPr>
              <a:t>+4.5</a:t>
            </a:r>
            <a:endParaRPr lang="en-US" sz="3100" dirty="0"/>
          </a:p>
        </p:txBody>
      </p:sp>
      <p:sp>
        <p:nvSpPr>
          <p:cNvPr id="11" name="text-11"/>
          <p:cNvSpPr txBox="1"/>
          <p:nvPr/>
        </p:nvSpPr>
        <p:spPr>
          <a:xfrm>
            <a:off x="8348472" y="2743200"/>
            <a:ext cx="3063240" cy="1005840"/>
          </a:xfrm>
          <a:prstGeom prst="rect">
            <a:avLst/>
          </a:prstGeom>
          <a:noFill/>
          <a:ln/>
        </p:spPr>
        <p:txBody>
          <a:bodyPr wrap="square" lIns="0" tIns="0" rIns="0" bIns="0" rtlCol="0" anchor="t"/>
          <a:lstStyle/>
          <a:p>
            <a:pPr indent="0" marL="0">
              <a:buNone/>
            </a:pPr>
            <a:r>
              <a:rPr lang="en-US" sz="1600" dirty="0">
                <a:solidFill>
                  <a:schemeClr val="tx1"/>
                </a:solidFill>
              </a:rPr>
              <a:t>points on the weakest language: change HOW the slot stores tasks vs WHO gets merged</a:t>
            </a:r>
            <a:endParaRPr lang="en-US" sz="1600" dirty="0"/>
          </a:p>
        </p:txBody>
      </p:sp>
      <p:sp>
        <p:nvSpPr>
          <p:cNvPr id="12" name="card-12"/>
          <p:cNvSpPr/>
          <p:nvPr/>
        </p:nvSpPr>
        <p:spPr>
          <a:xfrm>
            <a:off x="548640" y="4251960"/>
            <a:ext cx="11094415" cy="1325880"/>
          </a:xfrm>
          <a:prstGeom prst="roundRect">
            <a:avLst>
              <a:gd name="adj" fmla="val 8276"/>
            </a:avLst>
          </a:prstGeom>
          <a:solidFill>
            <a:schemeClr val="tx1"/>
          </a:solidFill>
          <a:ln w="12700">
            <a:solidFill>
              <a:schemeClr val="tx1"/>
            </a:solidFill>
            <a:prstDash val="solid"/>
          </a:ln>
        </p:spPr>
      </p:sp>
      <p:sp>
        <p:nvSpPr>
          <p:cNvPr id="13" name="icon-bg-13"/>
          <p:cNvSpPr/>
          <p:nvPr/>
        </p:nvSpPr>
        <p:spPr>
          <a:xfrm>
            <a:off x="868680" y="4434840"/>
            <a:ext cx="960120" cy="960120"/>
          </a:xfrm>
          <a:prstGeom prst="ellipse">
            <a:avLst/>
          </a:prstGeom>
          <a:solidFill>
            <a:schemeClr val="bg1"/>
          </a:solidFill>
          <a:ln w="12700">
            <a:solidFill>
              <a:schemeClr val="bg1"/>
            </a:solidFill>
            <a:prstDash val="solid"/>
          </a:ln>
        </p:spPr>
      </p:sp>
      <p:pic>
        <p:nvPicPr>
          <p:cNvPr id="14" name="icon-bullseye-14" descr="bullseye illustration">    </p:cNvPr>
          <p:cNvPicPr>
            <a:picLocks noChangeAspect="1"/>
          </p:cNvPicPr>
          <p:nvPr/>
        </p:nvPicPr>
        <p:blipFill>
          <a:blip r:embed="rId1"/>
          <a:stretch>
            <a:fillRect/>
          </a:stretch>
        </p:blipFill>
        <p:spPr>
          <a:xfrm>
            <a:off x="1022299" y="4588459"/>
            <a:ext cx="652882" cy="652882"/>
          </a:xfrm>
          <a:prstGeom prst="rect">
            <a:avLst/>
          </a:prstGeom>
        </p:spPr>
      </p:pic>
      <p:sp>
        <p:nvSpPr>
          <p:cNvPr id="15" name="text-15"/>
          <p:cNvSpPr txBox="1"/>
          <p:nvPr/>
        </p:nvSpPr>
        <p:spPr>
          <a:xfrm>
            <a:off x="2057400" y="4434840"/>
            <a:ext cx="9265615" cy="1005840"/>
          </a:xfrm>
          <a:prstGeom prst="rect">
            <a:avLst/>
          </a:prstGeom>
          <a:noFill/>
          <a:ln/>
        </p:spPr>
        <p:txBody>
          <a:bodyPr wrap="square" lIns="0" tIns="0" rIns="0" bIns="0" rtlCol="0" anchor="ctr"/>
          <a:lstStyle/>
          <a:p>
            <a:pPr indent="0" marL="0">
              <a:buNone/>
            </a:pPr>
            <a:r>
              <a:rPr lang="en-US" sz="2200" b="1" dirty="0">
                <a:solidFill>
                  <a:schemeClr val="bg1"/>
                </a:solidFill>
                <a:latin typeface="Calibri" pitchFamily="34" charset="0"/>
                <a:ea typeface="Calibri" pitchFamily="34" charset="-122"/>
                <a:cs typeface="Calibri" pitchFamily="34" charset="-120"/>
              </a:rPr>
              <a:t>In our tests, similarity was not the main problem; averaging was.</a:t>
            </a:r>
            <a:endParaRPr lang="en-US" sz="2200" dirty="0"/>
          </a:p>
          <a:p>
            <a:pPr indent="0" marL="0">
              <a:buNone/>
            </a:pPr>
            <a:r>
              <a:rPr lang="en-US" sz="1600" dirty="0">
                <a:solidFill>
                  <a:schemeClr val="bg2"/>
                </a:solidFill>
                <a:latin typeface="Calibri" pitchFamily="34" charset="0"/>
                <a:ea typeface="Calibri" pitchFamily="34" charset="-122"/>
                <a:cs typeface="Calibri" pitchFamily="34" charset="-120"/>
              </a:rPr>
              <a:t>Keep each task's own directions inside the slot ("sharing") and almost nothing is lost; split does it with exactly the same storage.</a:t>
            </a:r>
            <a:endParaRPr lang="en-US" sz="2200" dirty="0"/>
          </a:p>
        </p:txBody>
      </p:sp>
      <p:sp>
        <p:nvSpPr>
          <p:cNvPr id="16" name="text-16"/>
          <p:cNvSpPr txBox="1"/>
          <p:nvPr/>
        </p:nvSpPr>
        <p:spPr>
          <a:xfrm>
            <a:off x="548640" y="576072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Real benchmark: Qwen2.5-1.5B-Instruct, grammar correction + summarisation + QA in EN/DE/ES/IT, 2 seeds. Weakest-language test: synthetic, Qwen2.5-0.5B-Instruct, 24 arrival orders x 3 seeds.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A phone has room for only K skill packs</a:t>
            </a:r>
            <a:endParaRPr lang="en-US" sz="3200" dirty="0"/>
          </a:p>
        </p:txBody>
      </p:sp>
      <p:sp>
        <p:nvSpPr>
          <p:cNvPr id="3" name="icon-bg-17"/>
          <p:cNvSpPr/>
          <p:nvPr/>
        </p:nvSpPr>
        <p:spPr>
          <a:xfrm>
            <a:off x="685800" y="1463040"/>
            <a:ext cx="2194560" cy="2194560"/>
          </a:xfrm>
          <a:prstGeom prst="ellipse">
            <a:avLst/>
          </a:prstGeom>
          <a:solidFill>
            <a:schemeClr val="bg2"/>
          </a:solidFill>
          <a:ln w="12700">
            <a:solidFill>
              <a:schemeClr val="bg2"/>
            </a:solidFill>
            <a:prstDash val="solid"/>
          </a:ln>
        </p:spPr>
      </p:sp>
      <p:pic>
        <p:nvPicPr>
          <p:cNvPr id="4" name="icon-mobile_phone-18" descr="mobile phone illustration">    </p:cNvPr>
          <p:cNvPicPr>
            <a:picLocks noChangeAspect="1"/>
          </p:cNvPicPr>
          <p:nvPr/>
        </p:nvPicPr>
        <p:blipFill>
          <a:blip r:embed="rId1"/>
          <a:stretch>
            <a:fillRect/>
          </a:stretch>
        </p:blipFill>
        <p:spPr>
          <a:xfrm>
            <a:off x="1036930" y="1814170"/>
            <a:ext cx="1492301" cy="1492301"/>
          </a:xfrm>
          <a:prstGeom prst="rect">
            <a:avLst/>
          </a:prstGeom>
        </p:spPr>
      </p:pic>
      <p:sp>
        <p:nvSpPr>
          <p:cNvPr id="5" name="text-19"/>
          <p:cNvSpPr txBox="1"/>
          <p:nvPr/>
        </p:nvSpPr>
        <p:spPr>
          <a:xfrm>
            <a:off x="548640" y="3749040"/>
            <a:ext cx="2514600" cy="640080"/>
          </a:xfrm>
          <a:prstGeom prst="rect">
            <a:avLst/>
          </a:prstGeom>
          <a:noFill/>
          <a:ln/>
        </p:spPr>
        <p:txBody>
          <a:bodyPr wrap="square" lIns="0" tIns="0" rIns="0" bIns="0" rtlCol="0" anchor="t"/>
          <a:lstStyle/>
          <a:p>
            <a:pPr algn="ctr" indent="0" marL="0">
              <a:buNone/>
            </a:pPr>
            <a:r>
              <a:rPr lang="en-US" sz="1400" dirty="0">
                <a:solidFill>
                  <a:schemeClr val="tx1"/>
                </a:solidFill>
              </a:rPr>
              <a:t>One base model on the phone (e.g. Qwen2.5-1.5B)</a:t>
            </a:r>
            <a:endParaRPr lang="en-US" sz="1400" dirty="0"/>
          </a:p>
        </p:txBody>
      </p:sp>
      <p:sp>
        <p:nvSpPr>
          <p:cNvPr id="6" name="storage"/>
          <p:cNvSpPr/>
          <p:nvPr/>
        </p:nvSpPr>
        <p:spPr>
          <a:xfrm>
            <a:off x="3520440" y="1463040"/>
            <a:ext cx="4206240" cy="2788920"/>
          </a:xfrm>
          <a:prstGeom prst="roundRect">
            <a:avLst>
              <a:gd name="adj" fmla="val 3934"/>
            </a:avLst>
          </a:prstGeom>
          <a:solidFill>
            <a:schemeClr val="bg1"/>
          </a:solidFill>
          <a:ln w="19050">
            <a:solidFill>
              <a:schemeClr val="accent5"/>
            </a:solidFill>
            <a:prstDash val="dash"/>
          </a:ln>
        </p:spPr>
      </p:sp>
      <p:sp>
        <p:nvSpPr>
          <p:cNvPr id="7" name="text-20"/>
          <p:cNvSpPr txBox="1"/>
          <p:nvPr/>
        </p:nvSpPr>
        <p:spPr>
          <a:xfrm>
            <a:off x="3749040" y="1600200"/>
            <a:ext cx="3749040" cy="365760"/>
          </a:xfrm>
          <a:prstGeom prst="rect">
            <a:avLst/>
          </a:prstGeom>
          <a:noFill/>
          <a:ln/>
        </p:spPr>
        <p:txBody>
          <a:bodyPr wrap="square" lIns="0" tIns="0" rIns="0" bIns="0" rtlCol="0" anchor="t"/>
          <a:lstStyle/>
          <a:p>
            <a:pPr indent="0" marL="0">
              <a:buNone/>
            </a:pPr>
            <a:r>
              <a:rPr lang="en-US" sz="1500" b="1" dirty="0">
                <a:solidFill>
                  <a:schemeClr val="accent5"/>
                </a:solidFill>
              </a:rPr>
              <a:t>Storage: K = 2 slots</a:t>
            </a:r>
            <a:endParaRPr lang="en-US" sz="1500" dirty="0"/>
          </a:p>
        </p:txBody>
      </p:sp>
      <p:sp>
        <p:nvSpPr>
          <p:cNvPr id="8" name="slot-21"/>
          <p:cNvSpPr/>
          <p:nvPr/>
        </p:nvSpPr>
        <p:spPr>
          <a:xfrm>
            <a:off x="3794760" y="2148840"/>
            <a:ext cx="3657600" cy="777240"/>
          </a:xfrm>
          <a:prstGeom prst="roundRect">
            <a:avLst>
              <a:gd name="adj" fmla="val 11765"/>
            </a:avLst>
          </a:prstGeom>
          <a:solidFill>
            <a:schemeClr val="accent1"/>
          </a:solidFill>
          <a:ln w="12700">
            <a:solidFill>
              <a:schemeClr val="accent1"/>
            </a:solidFill>
            <a:prstDash val="solid"/>
          </a:ln>
        </p:spPr>
      </p:sp>
      <p:sp>
        <p:nvSpPr>
          <p:cNvPr id="9" name="text-22"/>
          <p:cNvSpPr txBox="1"/>
          <p:nvPr/>
        </p:nvSpPr>
        <p:spPr>
          <a:xfrm>
            <a:off x="4023360" y="2148840"/>
            <a:ext cx="3200400" cy="777240"/>
          </a:xfrm>
          <a:prstGeom prst="rect">
            <a:avLst/>
          </a:prstGeom>
          <a:noFill/>
          <a:ln/>
        </p:spPr>
        <p:txBody>
          <a:bodyPr wrap="square" lIns="0" tIns="0" rIns="0" bIns="0" rtlCol="0" anchor="ctr"/>
          <a:lstStyle/>
          <a:p>
            <a:pPr indent="0" marL="0">
              <a:buNone/>
            </a:pPr>
            <a:r>
              <a:rPr lang="en-US" sz="1700" b="1" dirty="0">
                <a:solidFill>
                  <a:schemeClr val="bg1"/>
                </a:solidFill>
              </a:rPr>
              <a:t>Slot 1:  English grammar</a:t>
            </a:r>
            <a:endParaRPr lang="en-US" sz="1700" dirty="0"/>
          </a:p>
        </p:txBody>
      </p:sp>
      <p:sp>
        <p:nvSpPr>
          <p:cNvPr id="10" name="slot-23"/>
          <p:cNvSpPr/>
          <p:nvPr/>
        </p:nvSpPr>
        <p:spPr>
          <a:xfrm>
            <a:off x="3794760" y="3108960"/>
            <a:ext cx="3657600" cy="777240"/>
          </a:xfrm>
          <a:prstGeom prst="roundRect">
            <a:avLst>
              <a:gd name="adj" fmla="val 11765"/>
            </a:avLst>
          </a:prstGeom>
          <a:solidFill>
            <a:schemeClr val="accent4"/>
          </a:solidFill>
          <a:ln w="12700">
            <a:solidFill>
              <a:schemeClr val="accent4"/>
            </a:solidFill>
            <a:prstDash val="solid"/>
          </a:ln>
        </p:spPr>
      </p:sp>
      <p:sp>
        <p:nvSpPr>
          <p:cNvPr id="11" name="text-24"/>
          <p:cNvSpPr txBox="1"/>
          <p:nvPr/>
        </p:nvSpPr>
        <p:spPr>
          <a:xfrm>
            <a:off x="4023360" y="3108960"/>
            <a:ext cx="3200400" cy="777240"/>
          </a:xfrm>
          <a:prstGeom prst="rect">
            <a:avLst/>
          </a:prstGeom>
          <a:noFill/>
          <a:ln/>
        </p:spPr>
        <p:txBody>
          <a:bodyPr wrap="square" lIns="0" tIns="0" rIns="0" bIns="0" rtlCol="0" anchor="ctr"/>
          <a:lstStyle/>
          <a:p>
            <a:pPr indent="0" marL="0">
              <a:buNone/>
            </a:pPr>
            <a:r>
              <a:rPr lang="en-US" sz="1700" b="1" dirty="0">
                <a:solidFill>
                  <a:schemeClr val="bg1"/>
                </a:solidFill>
              </a:rPr>
              <a:t>Slot 2:  German summary</a:t>
            </a:r>
            <a:endParaRPr lang="en-US" sz="1700" dirty="0"/>
          </a:p>
        </p:txBody>
      </p:sp>
      <p:sp>
        <p:nvSpPr>
          <p:cNvPr id="12" name="arrive-arrow"/>
          <p:cNvSpPr/>
          <p:nvPr/>
        </p:nvSpPr>
        <p:spPr>
          <a:xfrm>
            <a:off x="7955280" y="2514600"/>
            <a:ext cx="777240" cy="548640"/>
          </a:xfrm>
          <a:prstGeom prst="leftArrow">
            <a:avLst/>
          </a:prstGeom>
          <a:solidFill>
            <a:schemeClr val="accent2"/>
          </a:solidFill>
          <a:ln w="12700">
            <a:solidFill>
              <a:schemeClr val="accent2"/>
            </a:solidFill>
            <a:prstDash val="solid"/>
          </a:ln>
        </p:spPr>
      </p:sp>
      <p:sp>
        <p:nvSpPr>
          <p:cNvPr id="13" name="newcomer-25"/>
          <p:cNvSpPr/>
          <p:nvPr/>
        </p:nvSpPr>
        <p:spPr>
          <a:xfrm>
            <a:off x="8915400" y="1600200"/>
            <a:ext cx="2697480" cy="658368"/>
          </a:xfrm>
          <a:prstGeom prst="roundRect">
            <a:avLst>
              <a:gd name="adj" fmla="val 13889"/>
            </a:avLst>
          </a:prstGeom>
          <a:solidFill>
            <a:schemeClr val="bg2"/>
          </a:solidFill>
          <a:ln w="15875">
            <a:solidFill>
              <a:schemeClr val="accent2"/>
            </a:solidFill>
            <a:prstDash val="solid"/>
          </a:ln>
        </p:spPr>
      </p:sp>
      <p:sp>
        <p:nvSpPr>
          <p:cNvPr id="14" name="text-26"/>
          <p:cNvSpPr txBox="1"/>
          <p:nvPr/>
        </p:nvSpPr>
        <p:spPr>
          <a:xfrm>
            <a:off x="9098280" y="1600200"/>
            <a:ext cx="2377440" cy="658368"/>
          </a:xfrm>
          <a:prstGeom prst="rect">
            <a:avLst/>
          </a:prstGeom>
          <a:noFill/>
          <a:ln/>
        </p:spPr>
        <p:txBody>
          <a:bodyPr wrap="square" lIns="0" tIns="0" rIns="0" bIns="0" rtlCol="0" anchor="ctr"/>
          <a:lstStyle/>
          <a:p>
            <a:pPr indent="0" marL="0">
              <a:buNone/>
            </a:pPr>
            <a:r>
              <a:rPr lang="en-US" sz="1500" b="1" dirty="0">
                <a:solidFill>
                  <a:schemeClr val="tx1"/>
                </a:solidFill>
              </a:rPr>
              <a:t>French grammar</a:t>
            </a:r>
            <a:endParaRPr lang="en-US" sz="1500" dirty="0"/>
          </a:p>
        </p:txBody>
      </p:sp>
      <p:sp>
        <p:nvSpPr>
          <p:cNvPr id="15" name="newcomer-27"/>
          <p:cNvSpPr/>
          <p:nvPr/>
        </p:nvSpPr>
        <p:spPr>
          <a:xfrm>
            <a:off x="8915400" y="2468880"/>
            <a:ext cx="2697480" cy="658368"/>
          </a:xfrm>
          <a:prstGeom prst="roundRect">
            <a:avLst>
              <a:gd name="adj" fmla="val 13889"/>
            </a:avLst>
          </a:prstGeom>
          <a:solidFill>
            <a:schemeClr val="bg2"/>
          </a:solidFill>
          <a:ln w="15875">
            <a:solidFill>
              <a:schemeClr val="accent2"/>
            </a:solidFill>
            <a:prstDash val="solid"/>
          </a:ln>
        </p:spPr>
      </p:sp>
      <p:sp>
        <p:nvSpPr>
          <p:cNvPr id="16" name="text-28"/>
          <p:cNvSpPr txBox="1"/>
          <p:nvPr/>
        </p:nvSpPr>
        <p:spPr>
          <a:xfrm>
            <a:off x="9098280" y="2468880"/>
            <a:ext cx="2377440" cy="658368"/>
          </a:xfrm>
          <a:prstGeom prst="rect">
            <a:avLst/>
          </a:prstGeom>
          <a:noFill/>
          <a:ln/>
        </p:spPr>
        <p:txBody>
          <a:bodyPr wrap="square" lIns="0" tIns="0" rIns="0" bIns="0" rtlCol="0" anchor="ctr"/>
          <a:lstStyle/>
          <a:p>
            <a:pPr indent="0" marL="0">
              <a:buNone/>
            </a:pPr>
            <a:r>
              <a:rPr lang="en-US" sz="1500" b="1" dirty="0">
                <a:solidFill>
                  <a:schemeClr val="tx1"/>
                </a:solidFill>
              </a:rPr>
              <a:t>Italian QA</a:t>
            </a:r>
            <a:endParaRPr lang="en-US" sz="1500" dirty="0"/>
          </a:p>
        </p:txBody>
      </p:sp>
      <p:sp>
        <p:nvSpPr>
          <p:cNvPr id="17" name="newcomer-29"/>
          <p:cNvSpPr/>
          <p:nvPr/>
        </p:nvSpPr>
        <p:spPr>
          <a:xfrm>
            <a:off x="8915400" y="3337560"/>
            <a:ext cx="2697480" cy="658368"/>
          </a:xfrm>
          <a:prstGeom prst="roundRect">
            <a:avLst>
              <a:gd name="adj" fmla="val 13889"/>
            </a:avLst>
          </a:prstGeom>
          <a:solidFill>
            <a:schemeClr val="bg2"/>
          </a:solidFill>
          <a:ln w="15875">
            <a:solidFill>
              <a:schemeClr val="accent2"/>
            </a:solidFill>
            <a:prstDash val="solid"/>
          </a:ln>
        </p:spPr>
      </p:sp>
      <p:sp>
        <p:nvSpPr>
          <p:cNvPr id="18" name="text-30"/>
          <p:cNvSpPr txBox="1"/>
          <p:nvPr/>
        </p:nvSpPr>
        <p:spPr>
          <a:xfrm>
            <a:off x="9098280" y="3337560"/>
            <a:ext cx="2377440" cy="658368"/>
          </a:xfrm>
          <a:prstGeom prst="rect">
            <a:avLst/>
          </a:prstGeom>
          <a:noFill/>
          <a:ln/>
        </p:spPr>
        <p:txBody>
          <a:bodyPr wrap="square" lIns="0" tIns="0" rIns="0" bIns="0" rtlCol="0" anchor="ctr"/>
          <a:lstStyle/>
          <a:p>
            <a:pPr indent="0" marL="0">
              <a:buNone/>
            </a:pPr>
            <a:r>
              <a:rPr lang="en-US" sz="1500" b="1" dirty="0">
                <a:solidFill>
                  <a:schemeClr val="tx1"/>
                </a:solidFill>
              </a:rPr>
              <a:t>Spanish summary</a:t>
            </a:r>
            <a:endParaRPr lang="en-US" sz="1500" dirty="0"/>
          </a:p>
        </p:txBody>
      </p:sp>
      <p:sp>
        <p:nvSpPr>
          <p:cNvPr id="19" name="text-31"/>
          <p:cNvSpPr txBox="1"/>
          <p:nvPr/>
        </p:nvSpPr>
        <p:spPr>
          <a:xfrm>
            <a:off x="8915400" y="4206240"/>
            <a:ext cx="2697480" cy="320040"/>
          </a:xfrm>
          <a:prstGeom prst="rect">
            <a:avLst/>
          </a:prstGeom>
          <a:noFill/>
          <a:ln/>
        </p:spPr>
        <p:txBody>
          <a:bodyPr wrap="square" lIns="0" tIns="0" rIns="0" bIns="0" rtlCol="0" anchor="t"/>
          <a:lstStyle/>
          <a:p>
            <a:pPr algn="ctr" indent="0" marL="0">
              <a:buNone/>
            </a:pPr>
            <a:r>
              <a:rPr lang="en-US" sz="1300" i="1" dirty="0">
                <a:solidFill>
                  <a:schemeClr val="accent2"/>
                </a:solidFill>
              </a:rPr>
              <a:t>New adapters keep arriving</a:t>
            </a:r>
            <a:endParaRPr lang="en-US" sz="1300" dirty="0"/>
          </a:p>
        </p:txBody>
      </p:sp>
      <p:sp>
        <p:nvSpPr>
          <p:cNvPr id="20" name="card-32"/>
          <p:cNvSpPr/>
          <p:nvPr/>
        </p:nvSpPr>
        <p:spPr>
          <a:xfrm>
            <a:off x="548640" y="4754880"/>
            <a:ext cx="11094415" cy="1143000"/>
          </a:xfrm>
          <a:prstGeom prst="roundRect">
            <a:avLst>
              <a:gd name="adj" fmla="val 9600"/>
            </a:avLst>
          </a:prstGeom>
          <a:solidFill>
            <a:schemeClr val="bg2"/>
          </a:solidFill>
          <a:ln w="12700">
            <a:solidFill>
              <a:schemeClr val="bg2"/>
            </a:solidFill>
            <a:prstDash val="solid"/>
          </a:ln>
        </p:spPr>
      </p:sp>
      <p:sp>
        <p:nvSpPr>
          <p:cNvPr id="21" name="text-33"/>
          <p:cNvSpPr txBox="1"/>
          <p:nvPr/>
        </p:nvSpPr>
        <p:spPr>
          <a:xfrm>
            <a:off x="822960" y="4864608"/>
            <a:ext cx="10545775" cy="960120"/>
          </a:xfrm>
          <a:prstGeom prst="rect">
            <a:avLst/>
          </a:prstGeom>
          <a:noFill/>
          <a:ln/>
        </p:spPr>
        <p:txBody>
          <a:bodyPr wrap="square" lIns="0" tIns="0" rIns="0" bIns="0" rtlCol="0" anchor="ctr"/>
          <a:lstStyle/>
          <a:p>
            <a:pPr indent="0" marL="0">
              <a:spcAft>
                <a:spcPts val="600"/>
              </a:spcAft>
              <a:buNone/>
            </a:pPr>
            <a:r>
              <a:rPr lang="en-US" sz="1600" b="1" dirty="0">
                <a:solidFill>
                  <a:schemeClr val="accent1"/>
                </a:solidFill>
              </a:rPr>
              <a:t>LoRA adapter</a:t>
            </a:r>
            <a:pPr indent="0" marL="0">
              <a:spcAft>
                <a:spcPts val="600"/>
              </a:spcAft>
              <a:buNone/>
            </a:pPr>
            <a:r>
              <a:rPr lang="en-US" sz="1600" dirty="0">
                <a:solidFill>
                  <a:schemeClr val="tx1"/>
                </a:solidFill>
              </a:rPr>
              <a:t> = a small add-on that teaches the base model one task in one language (here under 1% of the model's size).</a:t>
            </a:r>
            <a:endParaRPr lang="en-US" sz="1600" dirty="0"/>
          </a:p>
          <a:p>
            <a:pPr indent="0" marL="0">
              <a:spcAft>
                <a:spcPts val="600"/>
              </a:spcAft>
              <a:buNone/>
            </a:pPr>
            <a:r>
              <a:rPr lang="en-US" sz="1600" b="1" dirty="0">
                <a:solidFill>
                  <a:schemeClr val="accent2"/>
                </a:solidFill>
              </a:rPr>
              <a:t>The problem: </a:t>
            </a:r>
            <a:pPr indent="0" marL="0">
              <a:spcAft>
                <a:spcPts val="600"/>
              </a:spcAft>
              <a:buNone/>
            </a:pPr>
            <a:r>
              <a:rPr lang="en-US" sz="1600" dirty="0">
                <a:solidFill>
                  <a:schemeClr val="tx1"/>
                </a:solidFill>
              </a:rPr>
              <a:t>when all K slots are full, a new adapter must share a slot with an old one. How should two tasks share one slot?</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How K-Merge makes room</a:t>
            </a:r>
            <a:endParaRPr lang="en-US" sz="3200" dirty="0"/>
          </a:p>
        </p:txBody>
      </p:sp>
      <p:sp>
        <p:nvSpPr>
          <p:cNvPr id="3" name="card-34"/>
          <p:cNvSpPr/>
          <p:nvPr/>
        </p:nvSpPr>
        <p:spPr>
          <a:xfrm>
            <a:off x="548640" y="1463040"/>
            <a:ext cx="3246120" cy="2788920"/>
          </a:xfrm>
          <a:prstGeom prst="roundRect">
            <a:avLst>
              <a:gd name="adj" fmla="val 3934"/>
            </a:avLst>
          </a:prstGeom>
          <a:solidFill>
            <a:schemeClr val="bg2"/>
          </a:solidFill>
          <a:ln w="12700">
            <a:solidFill>
              <a:schemeClr val="bg2"/>
            </a:solidFill>
            <a:prstDash val="solid"/>
          </a:ln>
        </p:spPr>
      </p:sp>
      <p:sp>
        <p:nvSpPr>
          <p:cNvPr id="4" name="icon-bg-35"/>
          <p:cNvSpPr/>
          <p:nvPr/>
        </p:nvSpPr>
        <p:spPr>
          <a:xfrm>
            <a:off x="777240" y="1691640"/>
            <a:ext cx="960120" cy="960120"/>
          </a:xfrm>
          <a:prstGeom prst="ellipse">
            <a:avLst/>
          </a:prstGeom>
          <a:solidFill>
            <a:schemeClr val="bg1"/>
          </a:solidFill>
          <a:ln w="12700">
            <a:solidFill>
              <a:schemeClr val="bg1"/>
            </a:solidFill>
            <a:prstDash val="solid"/>
          </a:ln>
        </p:spPr>
      </p:sp>
      <p:pic>
        <p:nvPicPr>
          <p:cNvPr id="5" name="icon-magnifying_glass_tilted_left-36" descr="magnifying glass tilted left illustration">    </p:cNvPr>
          <p:cNvPicPr>
            <a:picLocks noChangeAspect="1"/>
          </p:cNvPicPr>
          <p:nvPr/>
        </p:nvPicPr>
        <p:blipFill>
          <a:blip r:embed="rId1"/>
          <a:stretch>
            <a:fillRect/>
          </a:stretch>
        </p:blipFill>
        <p:spPr>
          <a:xfrm>
            <a:off x="930859" y="1845259"/>
            <a:ext cx="652882" cy="652882"/>
          </a:xfrm>
          <a:prstGeom prst="rect">
            <a:avLst/>
          </a:prstGeom>
        </p:spPr>
      </p:pic>
      <p:sp>
        <p:nvSpPr>
          <p:cNvPr id="6" name="text-37"/>
          <p:cNvSpPr txBox="1"/>
          <p:nvPr/>
        </p:nvSpPr>
        <p:spPr>
          <a:xfrm>
            <a:off x="1874520" y="1810512"/>
            <a:ext cx="178308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1. Compare</a:t>
            </a:r>
            <a:endParaRPr lang="en-US" sz="2200" dirty="0"/>
          </a:p>
        </p:txBody>
      </p:sp>
      <p:sp>
        <p:nvSpPr>
          <p:cNvPr id="7" name="text-38"/>
          <p:cNvSpPr txBox="1"/>
          <p:nvPr/>
        </p:nvSpPr>
        <p:spPr>
          <a:xfrm>
            <a:off x="822960" y="2834640"/>
            <a:ext cx="2697480" cy="1280160"/>
          </a:xfrm>
          <a:prstGeom prst="rect">
            <a:avLst/>
          </a:prstGeom>
          <a:noFill/>
          <a:ln/>
        </p:spPr>
        <p:txBody>
          <a:bodyPr wrap="square" lIns="0" tIns="0" rIns="0" bIns="0" rtlCol="0" anchor="t"/>
          <a:lstStyle/>
          <a:p>
            <a:pPr indent="0" marL="0">
              <a:buNone/>
            </a:pPr>
            <a:r>
              <a:rPr lang="en-US" sz="1600" dirty="0">
                <a:solidFill>
                  <a:schemeClr val="tx1"/>
                </a:solidFill>
              </a:rPr>
              <a:t>Cosine similarity between the newcomer and every slot (Eq. 5)</a:t>
            </a:r>
            <a:endParaRPr lang="en-US" sz="1600" dirty="0"/>
          </a:p>
        </p:txBody>
      </p:sp>
      <p:sp>
        <p:nvSpPr>
          <p:cNvPr id="8" name="arrow-39"/>
          <p:cNvSpPr/>
          <p:nvPr/>
        </p:nvSpPr>
        <p:spPr>
          <a:xfrm>
            <a:off x="3913632" y="2606040"/>
            <a:ext cx="457200" cy="411480"/>
          </a:xfrm>
          <a:prstGeom prst="rightArrow">
            <a:avLst/>
          </a:prstGeom>
          <a:solidFill>
            <a:schemeClr val="accent5"/>
          </a:solidFill>
          <a:ln w="12700">
            <a:solidFill>
              <a:schemeClr val="accent5"/>
            </a:solidFill>
            <a:prstDash val="solid"/>
          </a:ln>
        </p:spPr>
      </p:sp>
      <p:sp>
        <p:nvSpPr>
          <p:cNvPr id="9" name="card-40"/>
          <p:cNvSpPr/>
          <p:nvPr/>
        </p:nvSpPr>
        <p:spPr>
          <a:xfrm>
            <a:off x="4480560" y="1463040"/>
            <a:ext cx="3246120" cy="2788920"/>
          </a:xfrm>
          <a:prstGeom prst="roundRect">
            <a:avLst>
              <a:gd name="adj" fmla="val 3934"/>
            </a:avLst>
          </a:prstGeom>
          <a:solidFill>
            <a:schemeClr val="bg2"/>
          </a:solidFill>
          <a:ln w="12700">
            <a:solidFill>
              <a:schemeClr val="bg2"/>
            </a:solidFill>
            <a:prstDash val="solid"/>
          </a:ln>
        </p:spPr>
      </p:sp>
      <p:sp>
        <p:nvSpPr>
          <p:cNvPr id="10" name="icon-bg-41"/>
          <p:cNvSpPr/>
          <p:nvPr/>
        </p:nvSpPr>
        <p:spPr>
          <a:xfrm>
            <a:off x="4709160" y="1691640"/>
            <a:ext cx="960120" cy="960120"/>
          </a:xfrm>
          <a:prstGeom prst="ellipse">
            <a:avLst/>
          </a:prstGeom>
          <a:solidFill>
            <a:schemeClr val="bg1"/>
          </a:solidFill>
          <a:ln w="12700">
            <a:solidFill>
              <a:schemeClr val="bg1"/>
            </a:solidFill>
            <a:prstDash val="solid"/>
          </a:ln>
        </p:spPr>
      </p:sp>
      <p:pic>
        <p:nvPicPr>
          <p:cNvPr id="11" name="icon-bullseye-42" descr="bullseye illustration">    </p:cNvPr>
          <p:cNvPicPr>
            <a:picLocks noChangeAspect="1"/>
          </p:cNvPicPr>
          <p:nvPr/>
        </p:nvPicPr>
        <p:blipFill>
          <a:blip r:embed="rId2"/>
          <a:stretch>
            <a:fillRect/>
          </a:stretch>
        </p:blipFill>
        <p:spPr>
          <a:xfrm>
            <a:off x="4862779" y="1845259"/>
            <a:ext cx="652882" cy="652882"/>
          </a:xfrm>
          <a:prstGeom prst="rect">
            <a:avLst/>
          </a:prstGeom>
        </p:spPr>
      </p:pic>
      <p:sp>
        <p:nvSpPr>
          <p:cNvPr id="12" name="text-43"/>
          <p:cNvSpPr txBox="1"/>
          <p:nvPr/>
        </p:nvSpPr>
        <p:spPr>
          <a:xfrm>
            <a:off x="5806440" y="1810512"/>
            <a:ext cx="178308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2. Pick</a:t>
            </a:r>
            <a:endParaRPr lang="en-US" sz="2200" dirty="0"/>
          </a:p>
        </p:txBody>
      </p:sp>
      <p:sp>
        <p:nvSpPr>
          <p:cNvPr id="13" name="text-44"/>
          <p:cNvSpPr txBox="1"/>
          <p:nvPr/>
        </p:nvSpPr>
        <p:spPr>
          <a:xfrm>
            <a:off x="4754880" y="2834640"/>
            <a:ext cx="2697480" cy="1280160"/>
          </a:xfrm>
          <a:prstGeom prst="rect">
            <a:avLst/>
          </a:prstGeom>
          <a:noFill/>
          <a:ln/>
        </p:spPr>
        <p:txBody>
          <a:bodyPr wrap="square" lIns="0" tIns="0" rIns="0" bIns="0" rtlCol="0" anchor="t"/>
          <a:lstStyle/>
          <a:p>
            <a:pPr indent="0" marL="0">
              <a:buNone/>
            </a:pPr>
            <a:r>
              <a:rPr lang="en-US" sz="1600" dirty="0">
                <a:solidFill>
                  <a:schemeClr val="tx1"/>
                </a:solidFill>
              </a:rPr>
              <a:t>Choose the most similar slot</a:t>
            </a:r>
            <a:endParaRPr lang="en-US" sz="1600" dirty="0"/>
          </a:p>
        </p:txBody>
      </p:sp>
      <p:sp>
        <p:nvSpPr>
          <p:cNvPr id="14" name="arrow-45"/>
          <p:cNvSpPr/>
          <p:nvPr/>
        </p:nvSpPr>
        <p:spPr>
          <a:xfrm>
            <a:off x="7845552" y="2606040"/>
            <a:ext cx="457200" cy="411480"/>
          </a:xfrm>
          <a:prstGeom prst="rightArrow">
            <a:avLst/>
          </a:prstGeom>
          <a:solidFill>
            <a:schemeClr val="accent5"/>
          </a:solidFill>
          <a:ln w="12700">
            <a:solidFill>
              <a:schemeClr val="accent5"/>
            </a:solidFill>
            <a:prstDash val="solid"/>
          </a:ln>
        </p:spPr>
      </p:sp>
      <p:sp>
        <p:nvSpPr>
          <p:cNvPr id="15" name="card-46"/>
          <p:cNvSpPr/>
          <p:nvPr/>
        </p:nvSpPr>
        <p:spPr>
          <a:xfrm>
            <a:off x="8412480" y="1463040"/>
            <a:ext cx="3246120" cy="2788920"/>
          </a:xfrm>
          <a:prstGeom prst="roundRect">
            <a:avLst>
              <a:gd name="adj" fmla="val 3934"/>
            </a:avLst>
          </a:prstGeom>
          <a:solidFill>
            <a:schemeClr val="bg2"/>
          </a:solidFill>
          <a:ln w="12700">
            <a:solidFill>
              <a:schemeClr val="bg2"/>
            </a:solidFill>
            <a:prstDash val="solid"/>
          </a:ln>
        </p:spPr>
      </p:sp>
      <p:sp>
        <p:nvSpPr>
          <p:cNvPr id="16" name="icon-bg-47"/>
          <p:cNvSpPr/>
          <p:nvPr/>
        </p:nvSpPr>
        <p:spPr>
          <a:xfrm>
            <a:off x="8641080" y="1691640"/>
            <a:ext cx="960120" cy="960120"/>
          </a:xfrm>
          <a:prstGeom prst="ellipse">
            <a:avLst/>
          </a:prstGeom>
          <a:solidFill>
            <a:schemeClr val="bg1"/>
          </a:solidFill>
          <a:ln w="12700">
            <a:solidFill>
              <a:schemeClr val="bg1"/>
            </a:solidFill>
            <a:prstDash val="solid"/>
          </a:ln>
        </p:spPr>
      </p:sp>
      <p:pic>
        <p:nvPicPr>
          <p:cNvPr id="17" name="icon-artist_palette-48" descr="artist palette illustration">    </p:cNvPr>
          <p:cNvPicPr>
            <a:picLocks noChangeAspect="1"/>
          </p:cNvPicPr>
          <p:nvPr/>
        </p:nvPicPr>
        <p:blipFill>
          <a:blip r:embed="rId3"/>
          <a:stretch>
            <a:fillRect/>
          </a:stretch>
        </p:blipFill>
        <p:spPr>
          <a:xfrm>
            <a:off x="8794699" y="1845259"/>
            <a:ext cx="652882" cy="652882"/>
          </a:xfrm>
          <a:prstGeom prst="rect">
            <a:avLst/>
          </a:prstGeom>
        </p:spPr>
      </p:pic>
      <p:sp>
        <p:nvSpPr>
          <p:cNvPr id="18" name="text-49"/>
          <p:cNvSpPr txBox="1"/>
          <p:nvPr/>
        </p:nvSpPr>
        <p:spPr>
          <a:xfrm>
            <a:off x="9738360" y="1810512"/>
            <a:ext cx="178308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3. Average</a:t>
            </a:r>
            <a:endParaRPr lang="en-US" sz="2200" dirty="0"/>
          </a:p>
        </p:txBody>
      </p:sp>
      <p:sp>
        <p:nvSpPr>
          <p:cNvPr id="19" name="text-50"/>
          <p:cNvSpPr txBox="1"/>
          <p:nvPr/>
        </p:nvSpPr>
        <p:spPr>
          <a:xfrm>
            <a:off x="8686800" y="2834640"/>
            <a:ext cx="2697480" cy="1280160"/>
          </a:xfrm>
          <a:prstGeom prst="rect">
            <a:avLst/>
          </a:prstGeom>
          <a:noFill/>
          <a:ln/>
        </p:spPr>
        <p:txBody>
          <a:bodyPr wrap="square" lIns="0" tIns="0" rIns="0" bIns="0" rtlCol="0" anchor="t"/>
          <a:lstStyle/>
          <a:p>
            <a:pPr indent="0" marL="0">
              <a:buNone/>
            </a:pPr>
            <a:r>
              <a:rPr lang="en-US" sz="1600" dirty="0">
                <a:solidFill>
                  <a:schemeClr val="tx1"/>
                </a:solidFill>
              </a:rPr>
              <a:t>Blend with history weights:</a:t>
            </a:r>
            <a:endParaRPr lang="en-US" sz="1600" dirty="0"/>
          </a:p>
          <a:p>
            <a:pPr indent="0" marL="0">
              <a:buNone/>
            </a:pPr>
            <a:r>
              <a:rPr lang="en-US" sz="1600" dirty="0">
                <a:solidFill>
                  <a:schemeClr val="tx1"/>
                </a:solidFill>
              </a:rPr>
              <a:t>slot = (n × slot + new) / (n + 1)</a:t>
            </a:r>
            <a:endParaRPr lang="en-US" sz="1600" dirty="0"/>
          </a:p>
          <a:p>
            <a:pPr indent="0" marL="0">
              <a:buNone/>
            </a:pPr>
            <a:r>
              <a:rPr lang="en-US" sz="1600" dirty="0">
                <a:solidFill>
                  <a:schemeClr val="tx1"/>
                </a:solidFill>
              </a:rPr>
              <a:t>n = tasks already in the slot</a:t>
            </a:r>
            <a:endParaRPr lang="en-US" sz="1600" dirty="0"/>
          </a:p>
          <a:p>
            <a:pPr indent="0" marL="0">
              <a:buNone/>
            </a:pPr>
            <a:r>
              <a:rPr lang="en-US" sz="1600" dirty="0">
                <a:solidFill>
                  <a:schemeClr val="tx1"/>
                </a:solidFill>
              </a:rPr>
              <a:t>(Eq. 8)</a:t>
            </a:r>
            <a:endParaRPr lang="en-US" sz="1600" dirty="0"/>
          </a:p>
        </p:txBody>
      </p:sp>
      <p:sp>
        <p:nvSpPr>
          <p:cNvPr id="20" name="card-51"/>
          <p:cNvSpPr/>
          <p:nvPr/>
        </p:nvSpPr>
        <p:spPr>
          <a:xfrm>
            <a:off x="548640" y="4526280"/>
            <a:ext cx="11094415" cy="1325880"/>
          </a:xfrm>
          <a:prstGeom prst="roundRect">
            <a:avLst>
              <a:gd name="adj" fmla="val 8276"/>
            </a:avLst>
          </a:prstGeom>
          <a:solidFill>
            <a:schemeClr val="bg1"/>
          </a:solidFill>
          <a:ln w="12700">
            <a:solidFill>
              <a:schemeClr val="accent5"/>
            </a:solidFill>
            <a:prstDash val="solid"/>
          </a:ln>
        </p:spPr>
      </p:sp>
      <p:sp>
        <p:nvSpPr>
          <p:cNvPr id="21" name="text-52"/>
          <p:cNvSpPr txBox="1"/>
          <p:nvPr/>
        </p:nvSpPr>
        <p:spPr>
          <a:xfrm>
            <a:off x="822960" y="4617720"/>
            <a:ext cx="10545775" cy="11430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Example: </a:t>
            </a:r>
            <a:pPr indent="0" marL="0">
              <a:spcAft>
                <a:spcPts val="400"/>
              </a:spcAft>
              <a:buNone/>
            </a:pPr>
            <a:r>
              <a:rPr lang="en-US" sz="1600" dirty="0">
                <a:solidFill>
                  <a:schemeClr val="tx1"/>
                </a:solidFill>
              </a:rPr>
              <a:t>French grammar arrives. The most similar slot holds English grammar. That slot becomes half English, half French, and both tasks now use the blend.</a:t>
            </a:r>
            <a:endParaRPr lang="en-US" sz="1600" dirty="0"/>
          </a:p>
          <a:p>
            <a:pPr indent="0" marL="0">
              <a:spcAft>
                <a:spcPts val="400"/>
              </a:spcAft>
              <a:buNone/>
            </a:pPr>
            <a:r>
              <a:rPr lang="en-US" sz="1400" dirty="0">
                <a:solidFill>
                  <a:srgbClr val="6B7785"/>
                </a:solidFill>
              </a:rPr>
              <a:t>The paper treats a LoRA as its pair of matrices (A, B), so A and B each become half-half; their product then gains cross terms (slide 8).</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What Phases 1–2 already told us</a:t>
            </a:r>
            <a:endParaRPr lang="en-US" sz="3200" dirty="0"/>
          </a:p>
        </p:txBody>
      </p:sp>
      <p:sp>
        <p:nvSpPr>
          <p:cNvPr id="3" name="card-53"/>
          <p:cNvSpPr/>
          <p:nvPr/>
        </p:nvSpPr>
        <p:spPr>
          <a:xfrm>
            <a:off x="548640" y="1417320"/>
            <a:ext cx="5349240" cy="1737360"/>
          </a:xfrm>
          <a:prstGeom prst="roundRect">
            <a:avLst>
              <a:gd name="adj" fmla="val 6316"/>
            </a:avLst>
          </a:prstGeom>
          <a:solidFill>
            <a:schemeClr val="bg2"/>
          </a:solidFill>
          <a:ln w="12700">
            <a:solidFill>
              <a:schemeClr val="bg2"/>
            </a:solidFill>
            <a:prstDash val="solid"/>
          </a:ln>
        </p:spPr>
      </p:sp>
      <p:sp>
        <p:nvSpPr>
          <p:cNvPr id="4" name="text-54"/>
          <p:cNvSpPr txBox="1"/>
          <p:nvPr/>
        </p:nvSpPr>
        <p:spPr>
          <a:xfrm>
            <a:off x="822960" y="1600200"/>
            <a:ext cx="48006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0.145</a:t>
            </a:r>
            <a:endParaRPr lang="en-US" sz="2800" dirty="0"/>
          </a:p>
        </p:txBody>
      </p:sp>
      <p:sp>
        <p:nvSpPr>
          <p:cNvPr id="5" name="text-55"/>
          <p:cNvSpPr txBox="1"/>
          <p:nvPr/>
        </p:nvSpPr>
        <p:spPr>
          <a:xfrm>
            <a:off x="822960" y="2240280"/>
            <a:ext cx="4800600" cy="868680"/>
          </a:xfrm>
          <a:prstGeom prst="rect">
            <a:avLst/>
          </a:prstGeom>
          <a:noFill/>
          <a:ln/>
        </p:spPr>
        <p:txBody>
          <a:bodyPr wrap="square" lIns="0" tIns="0" rIns="0" bIns="0" rtlCol="0" anchor="t"/>
          <a:lstStyle/>
          <a:p>
            <a:pPr indent="0" marL="0">
              <a:buNone/>
            </a:pPr>
            <a:r>
              <a:rPr lang="en-US" sz="1600" dirty="0">
                <a:solidFill>
                  <a:schemeClr val="tx1"/>
                </a:solidFill>
              </a:rPr>
              <a:t>EN-HI was the most similar pair, yet the result was lopsided: Hindi +0.04 to +0.16, English −0.03 to +0.02</a:t>
            </a:r>
            <a:endParaRPr lang="en-US" sz="1600" dirty="0"/>
          </a:p>
        </p:txBody>
      </p:sp>
      <p:sp>
        <p:nvSpPr>
          <p:cNvPr id="6" name="card-56"/>
          <p:cNvSpPr/>
          <p:nvPr/>
        </p:nvSpPr>
        <p:spPr>
          <a:xfrm>
            <a:off x="6291072" y="1417320"/>
            <a:ext cx="5349240" cy="1737360"/>
          </a:xfrm>
          <a:prstGeom prst="roundRect">
            <a:avLst>
              <a:gd name="adj" fmla="val 6316"/>
            </a:avLst>
          </a:prstGeom>
          <a:solidFill>
            <a:schemeClr val="bg2"/>
          </a:solidFill>
          <a:ln w="12700">
            <a:solidFill>
              <a:schemeClr val="bg2"/>
            </a:solidFill>
            <a:prstDash val="solid"/>
          </a:ln>
        </p:spPr>
      </p:sp>
      <p:sp>
        <p:nvSpPr>
          <p:cNvPr id="7" name="text-57"/>
          <p:cNvSpPr txBox="1"/>
          <p:nvPr/>
        </p:nvSpPr>
        <p:spPr>
          <a:xfrm>
            <a:off x="6565392" y="1600200"/>
            <a:ext cx="48006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rank 4 vs 32</a:t>
            </a:r>
            <a:endParaRPr lang="en-US" sz="2800" dirty="0"/>
          </a:p>
        </p:txBody>
      </p:sp>
      <p:sp>
        <p:nvSpPr>
          <p:cNvPr id="8" name="text-58"/>
          <p:cNvSpPr txBox="1"/>
          <p:nvPr/>
        </p:nvSpPr>
        <p:spPr>
          <a:xfrm>
            <a:off x="6565392" y="2240280"/>
            <a:ext cx="4800600" cy="868680"/>
          </a:xfrm>
          <a:prstGeom prst="rect">
            <a:avLst/>
          </a:prstGeom>
          <a:noFill/>
          <a:ln/>
        </p:spPr>
        <p:txBody>
          <a:bodyPr wrap="square" lIns="0" tIns="0" rIns="0" bIns="0" rtlCol="0" anchor="t"/>
          <a:lstStyle/>
          <a:p>
            <a:pPr indent="0" marL="0">
              <a:buNone/>
            </a:pPr>
            <a:r>
              <a:rPr lang="en-US" sz="1600" dirty="0">
                <a:solidFill>
                  <a:schemeClr val="tx1"/>
                </a:solidFill>
              </a:rPr>
              <a:t>DE-FR similarity highest at rank 4 (0.134): no net gain. Lowest at rank 32 (0.067): +0.135 combined</a:t>
            </a:r>
            <a:endParaRPr lang="en-US" sz="1600" dirty="0"/>
          </a:p>
        </p:txBody>
      </p:sp>
      <p:sp>
        <p:nvSpPr>
          <p:cNvPr id="9" name="card-59"/>
          <p:cNvSpPr/>
          <p:nvPr/>
        </p:nvSpPr>
        <p:spPr>
          <a:xfrm>
            <a:off x="548640" y="3429000"/>
            <a:ext cx="5349240" cy="1737360"/>
          </a:xfrm>
          <a:prstGeom prst="roundRect">
            <a:avLst>
              <a:gd name="adj" fmla="val 6316"/>
            </a:avLst>
          </a:prstGeom>
          <a:solidFill>
            <a:schemeClr val="bg2"/>
          </a:solidFill>
          <a:ln w="12700">
            <a:solidFill>
              <a:schemeClr val="bg2"/>
            </a:solidFill>
            <a:prstDash val="solid"/>
          </a:ln>
        </p:spPr>
      </p:sp>
      <p:sp>
        <p:nvSpPr>
          <p:cNvPr id="10" name="text-60"/>
          <p:cNvSpPr txBox="1"/>
          <p:nvPr/>
        </p:nvSpPr>
        <p:spPr>
          <a:xfrm>
            <a:off x="822960" y="3611880"/>
            <a:ext cx="48006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 of 3 seeds</a:t>
            </a:r>
            <a:endParaRPr lang="en-US" sz="2800" dirty="0"/>
          </a:p>
        </p:txBody>
      </p:sp>
      <p:sp>
        <p:nvSpPr>
          <p:cNvPr id="11" name="text-61"/>
          <p:cNvSpPr txBox="1"/>
          <p:nvPr/>
        </p:nvSpPr>
        <p:spPr>
          <a:xfrm>
            <a:off x="822960" y="4251960"/>
            <a:ext cx="4800600" cy="868680"/>
          </a:xfrm>
          <a:prstGeom prst="rect">
            <a:avLst/>
          </a:prstGeom>
          <a:noFill/>
          <a:ln/>
        </p:spPr>
        <p:txBody>
          <a:bodyPr wrap="square" lIns="0" tIns="0" rIns="0" bIns="0" rtlCol="0" anchor="t"/>
          <a:lstStyle/>
          <a:p>
            <a:pPr indent="0" marL="0">
              <a:buNone/>
            </a:pPr>
            <a:r>
              <a:rPr lang="en-US" sz="1600" dirty="0">
                <a:solidFill>
                  <a:schemeClr val="tx1"/>
                </a:solidFill>
              </a:rPr>
              <a:t>DE-FR merged well as a pair, but EN + DE + FR hurt all three languages</a:t>
            </a:r>
            <a:endParaRPr lang="en-US" sz="1600" dirty="0"/>
          </a:p>
        </p:txBody>
      </p:sp>
      <p:sp>
        <p:nvSpPr>
          <p:cNvPr id="12" name="card-62"/>
          <p:cNvSpPr/>
          <p:nvPr/>
        </p:nvSpPr>
        <p:spPr>
          <a:xfrm>
            <a:off x="6291072" y="3429000"/>
            <a:ext cx="5349240" cy="1737360"/>
          </a:xfrm>
          <a:prstGeom prst="roundRect">
            <a:avLst>
              <a:gd name="adj" fmla="val 6316"/>
            </a:avLst>
          </a:prstGeom>
          <a:solidFill>
            <a:schemeClr val="bg2"/>
          </a:solidFill>
          <a:ln w="12700">
            <a:solidFill>
              <a:schemeClr val="bg2"/>
            </a:solidFill>
            <a:prstDash val="solid"/>
          </a:ln>
        </p:spPr>
      </p:sp>
      <p:sp>
        <p:nvSpPr>
          <p:cNvPr id="13" name="text-63"/>
          <p:cNvSpPr txBox="1"/>
          <p:nvPr/>
        </p:nvSpPr>
        <p:spPr>
          <a:xfrm>
            <a:off x="6565392" y="3611880"/>
            <a:ext cx="4800600" cy="5943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layers 17–21</a:t>
            </a:r>
            <a:endParaRPr lang="en-US" sz="2800" dirty="0"/>
          </a:p>
        </p:txBody>
      </p:sp>
      <p:sp>
        <p:nvSpPr>
          <p:cNvPr id="14" name="text-64"/>
          <p:cNvSpPr txBox="1"/>
          <p:nvPr/>
        </p:nvSpPr>
        <p:spPr>
          <a:xfrm>
            <a:off x="6565392" y="4251960"/>
            <a:ext cx="4800600" cy="868680"/>
          </a:xfrm>
          <a:prstGeom prst="rect">
            <a:avLst/>
          </a:prstGeom>
          <a:noFill/>
          <a:ln/>
        </p:spPr>
        <p:txBody>
          <a:bodyPr wrap="square" lIns="0" tIns="0" rIns="0" bIns="0" rtlCol="0" anchor="t"/>
          <a:lstStyle/>
          <a:p>
            <a:pPr indent="0" marL="0">
              <a:buNone/>
            </a:pPr>
            <a:r>
              <a:rPr lang="en-US" sz="1600" dirty="0">
                <a:solidFill>
                  <a:schemeClr val="tx1"/>
                </a:solidFill>
              </a:rPr>
              <a:t>Analysis 4: keeping French's weights there recovered French from 0.860 to 0.944 (seed 0)</a:t>
            </a:r>
            <a:endParaRPr lang="en-US" sz="1600" dirty="0"/>
          </a:p>
        </p:txBody>
      </p:sp>
      <p:sp>
        <p:nvSpPr>
          <p:cNvPr id="15" name="icon-bg-65"/>
          <p:cNvSpPr/>
          <p:nvPr/>
        </p:nvSpPr>
        <p:spPr>
          <a:xfrm>
            <a:off x="594360" y="5440680"/>
            <a:ext cx="685800" cy="685800"/>
          </a:xfrm>
          <a:prstGeom prst="ellipse">
            <a:avLst/>
          </a:prstGeom>
          <a:solidFill>
            <a:schemeClr val="bg2"/>
          </a:solidFill>
          <a:ln w="12700">
            <a:solidFill>
              <a:schemeClr val="bg2"/>
            </a:solidFill>
            <a:prstDash val="solid"/>
          </a:ln>
        </p:spPr>
      </p:sp>
      <p:pic>
        <p:nvPicPr>
          <p:cNvPr id="16" name="icon-open_book-66" descr="open book illustration">    </p:cNvPr>
          <p:cNvPicPr>
            <a:picLocks noChangeAspect="1"/>
          </p:cNvPicPr>
          <p:nvPr/>
        </p:nvPicPr>
        <p:blipFill>
          <a:blip r:embed="rId1"/>
          <a:stretch>
            <a:fillRect/>
          </a:stretch>
        </p:blipFill>
        <p:spPr>
          <a:xfrm>
            <a:off x="704088" y="5550408"/>
            <a:ext cx="466344" cy="466344"/>
          </a:xfrm>
          <a:prstGeom prst="rect">
            <a:avLst/>
          </a:prstGeom>
        </p:spPr>
      </p:pic>
      <p:sp>
        <p:nvSpPr>
          <p:cNvPr id="17" name="text-67"/>
          <p:cNvSpPr txBox="1"/>
          <p:nvPr/>
        </p:nvSpPr>
        <p:spPr>
          <a:xfrm>
            <a:off x="1463040" y="5486400"/>
            <a:ext cx="10088575" cy="594360"/>
          </a:xfrm>
          <a:prstGeom prst="rect">
            <a:avLst/>
          </a:prstGeom>
          <a:noFill/>
          <a:ln/>
        </p:spPr>
        <p:txBody>
          <a:bodyPr wrap="square" lIns="0" tIns="0" rIns="0" bIns="0" rtlCol="0" anchor="ctr"/>
          <a:lstStyle/>
          <a:p>
            <a:pPr indent="0" marL="0">
              <a:buNone/>
            </a:pPr>
            <a:r>
              <a:rPr lang="en-US" sz="1700" b="1" dirty="0">
                <a:solidFill>
                  <a:schemeClr val="tx1"/>
                </a:solidFill>
              </a:rPr>
              <a:t>Lesson so far: </a:t>
            </a:r>
            <a:pPr indent="0" marL="0">
              <a:buNone/>
            </a:pPr>
            <a:r>
              <a:rPr lang="en-US" sz="1700" dirty="0">
                <a:solidFill>
                  <a:schemeClr val="tx1"/>
                </a:solidFill>
              </a:rPr>
              <a:t>similarity is not the same as compatibility. But why do merges fail, and what is the fix?</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3 asked: WHO or HOW?</a:t>
            </a:r>
            <a:endParaRPr lang="en-US" sz="3200" dirty="0"/>
          </a:p>
        </p:txBody>
      </p:sp>
      <p:sp>
        <p:nvSpPr>
          <p:cNvPr id="3" name="text-68"/>
          <p:cNvSpPr txBox="1"/>
          <p:nvPr/>
        </p:nvSpPr>
        <p:spPr>
          <a:xfrm>
            <a:off x="548640" y="1188720"/>
            <a:ext cx="11094415" cy="685800"/>
          </a:xfrm>
          <a:prstGeom prst="rect">
            <a:avLst/>
          </a:prstGeom>
          <a:noFill/>
          <a:ln/>
        </p:spPr>
        <p:txBody>
          <a:bodyPr wrap="square" lIns="0" tIns="0" rIns="0" bIns="0" rtlCol="0" anchor="t"/>
          <a:lstStyle/>
          <a:p>
            <a:pPr indent="0" marL="0">
              <a:buNone/>
            </a:pPr>
            <a:r>
              <a:rPr lang="en-US" sz="1700" dirty="0">
                <a:solidFill>
                  <a:schemeClr val="tx1"/>
                </a:solidFill>
              </a:rPr>
              <a:t>Your Insight 3: a failure can come from grouping the wrong tasks (who) or from the averaging rule (how). We tested both, changing one at a time.</a:t>
            </a:r>
            <a:endParaRPr lang="en-US" sz="1700" dirty="0"/>
          </a:p>
        </p:txBody>
      </p:sp>
      <p:sp>
        <p:nvSpPr>
          <p:cNvPr id="4" name="card-69"/>
          <p:cNvSpPr/>
          <p:nvPr/>
        </p:nvSpPr>
        <p:spPr>
          <a:xfrm>
            <a:off x="548640" y="2057400"/>
            <a:ext cx="5349240" cy="3749040"/>
          </a:xfrm>
          <a:prstGeom prst="roundRect">
            <a:avLst>
              <a:gd name="adj" fmla="val 2927"/>
            </a:avLst>
          </a:prstGeom>
          <a:solidFill>
            <a:schemeClr val="bg2"/>
          </a:solidFill>
          <a:ln w="12700">
            <a:solidFill>
              <a:schemeClr val="bg2"/>
            </a:solidFill>
            <a:prstDash val="solid"/>
          </a:ln>
        </p:spPr>
      </p:sp>
      <p:sp>
        <p:nvSpPr>
          <p:cNvPr id="5" name="icon-bg-70"/>
          <p:cNvSpPr/>
          <p:nvPr/>
        </p:nvSpPr>
        <p:spPr>
          <a:xfrm>
            <a:off x="822960" y="2331720"/>
            <a:ext cx="1097280" cy="1097280"/>
          </a:xfrm>
          <a:prstGeom prst="ellipse">
            <a:avLst/>
          </a:prstGeom>
          <a:solidFill>
            <a:schemeClr val="bg1"/>
          </a:solidFill>
          <a:ln w="12700">
            <a:solidFill>
              <a:schemeClr val="bg1"/>
            </a:solidFill>
            <a:prstDash val="solid"/>
          </a:ln>
        </p:spPr>
      </p:sp>
      <p:pic>
        <p:nvPicPr>
          <p:cNvPr id="6" name="icon-compass-71" descr="compass illustration">    </p:cNvPr>
          <p:cNvPicPr>
            <a:picLocks noChangeAspect="1"/>
          </p:cNvPicPr>
          <p:nvPr/>
        </p:nvPicPr>
        <p:blipFill>
          <a:blip r:embed="rId1"/>
          <a:stretch>
            <a:fillRect/>
          </a:stretch>
        </p:blipFill>
        <p:spPr>
          <a:xfrm>
            <a:off x="998525" y="2507285"/>
            <a:ext cx="746150" cy="746150"/>
          </a:xfrm>
          <a:prstGeom prst="rect">
            <a:avLst/>
          </a:prstGeom>
        </p:spPr>
      </p:pic>
      <p:sp>
        <p:nvSpPr>
          <p:cNvPr id="7" name="text-72"/>
          <p:cNvSpPr txBox="1"/>
          <p:nvPr/>
        </p:nvSpPr>
        <p:spPr>
          <a:xfrm>
            <a:off x="2103120" y="2468880"/>
            <a:ext cx="3611880" cy="8229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WHO gets merged</a:t>
            </a:r>
            <a:endParaRPr lang="en-US" sz="2600" dirty="0"/>
          </a:p>
        </p:txBody>
      </p:sp>
      <p:sp>
        <p:nvSpPr>
          <p:cNvPr id="8" name="text-73"/>
          <p:cNvSpPr txBox="1"/>
          <p:nvPr/>
        </p:nvSpPr>
        <p:spPr>
          <a:xfrm>
            <a:off x="914400" y="3703320"/>
            <a:ext cx="4617720" cy="1920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Better similarity scores</a:t>
            </a:r>
            <a:endParaRPr lang="en-US" sz="1800" dirty="0"/>
          </a:p>
          <a:p>
            <a:pPr marL="342900" indent="-342900">
              <a:spcAft>
                <a:spcPts val="1000"/>
              </a:spcAft>
              <a:buSzPct val="100000"/>
              <a:buChar char="•"/>
            </a:pPr>
            <a:r>
              <a:rPr lang="en-US" sz="1800" dirty="0">
                <a:solidFill>
                  <a:schemeClr val="tx1"/>
                </a:solidFill>
              </a:rPr>
              <a:t>A global partner rule: the best pair overall, not just for the newcomer</a:t>
            </a:r>
            <a:endParaRPr lang="en-US" sz="1800" dirty="0"/>
          </a:p>
          <a:p>
            <a:pPr marL="342900" indent="-342900">
              <a:spcAft>
                <a:spcPts val="1000"/>
              </a:spcAft>
              <a:buSzPct val="100000"/>
              <a:buChar char="•"/>
            </a:pPr>
            <a:r>
              <a:rPr lang="en-US" sz="1800" dirty="0">
                <a:solidFill>
                  <a:schemeClr val="tx1"/>
                </a:solidFill>
              </a:rPr>
              <a:t>Even an oracle that uses labelled validation data</a:t>
            </a:r>
            <a:endParaRPr lang="en-US" sz="1800" dirty="0"/>
          </a:p>
        </p:txBody>
      </p:sp>
      <p:sp>
        <p:nvSpPr>
          <p:cNvPr id="9" name="card-74"/>
          <p:cNvSpPr/>
          <p:nvPr/>
        </p:nvSpPr>
        <p:spPr>
          <a:xfrm>
            <a:off x="6291072" y="2057400"/>
            <a:ext cx="5349240" cy="3749040"/>
          </a:xfrm>
          <a:prstGeom prst="roundRect">
            <a:avLst>
              <a:gd name="adj" fmla="val 2927"/>
            </a:avLst>
          </a:prstGeom>
          <a:solidFill>
            <a:schemeClr val="bg2"/>
          </a:solidFill>
          <a:ln w="12700">
            <a:solidFill>
              <a:schemeClr val="bg2"/>
            </a:solidFill>
            <a:prstDash val="solid"/>
          </a:ln>
        </p:spPr>
      </p:sp>
      <p:sp>
        <p:nvSpPr>
          <p:cNvPr id="10" name="icon-bg-75"/>
          <p:cNvSpPr/>
          <p:nvPr/>
        </p:nvSpPr>
        <p:spPr>
          <a:xfrm>
            <a:off x="6565392" y="2331720"/>
            <a:ext cx="1097280" cy="1097280"/>
          </a:xfrm>
          <a:prstGeom prst="ellipse">
            <a:avLst/>
          </a:prstGeom>
          <a:solidFill>
            <a:schemeClr val="bg1"/>
          </a:solidFill>
          <a:ln w="12700">
            <a:solidFill>
              <a:schemeClr val="bg1"/>
            </a:solidFill>
            <a:prstDash val="solid"/>
          </a:ln>
        </p:spPr>
      </p:sp>
      <p:pic>
        <p:nvPicPr>
          <p:cNvPr id="11" name="icon-books-76" descr="books illustration">    </p:cNvPr>
          <p:cNvPicPr>
            <a:picLocks noChangeAspect="1"/>
          </p:cNvPicPr>
          <p:nvPr/>
        </p:nvPicPr>
        <p:blipFill>
          <a:blip r:embed="rId2"/>
          <a:stretch>
            <a:fillRect/>
          </a:stretch>
        </p:blipFill>
        <p:spPr>
          <a:xfrm>
            <a:off x="6740957" y="2507285"/>
            <a:ext cx="746150" cy="746150"/>
          </a:xfrm>
          <a:prstGeom prst="rect">
            <a:avLst/>
          </a:prstGeom>
        </p:spPr>
      </p:pic>
      <p:sp>
        <p:nvSpPr>
          <p:cNvPr id="12" name="text-77"/>
          <p:cNvSpPr txBox="1"/>
          <p:nvPr/>
        </p:nvSpPr>
        <p:spPr>
          <a:xfrm>
            <a:off x="7845552" y="2468880"/>
            <a:ext cx="3611880" cy="8229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HOW the slot is built</a:t>
            </a:r>
            <a:endParaRPr lang="en-US" sz="2600" dirty="0"/>
          </a:p>
        </p:txBody>
      </p:sp>
      <p:sp>
        <p:nvSpPr>
          <p:cNvPr id="13" name="text-78"/>
          <p:cNvSpPr txBox="1"/>
          <p:nvPr/>
        </p:nvSpPr>
        <p:spPr>
          <a:xfrm>
            <a:off x="6656832" y="3703320"/>
            <a:ext cx="4617720" cy="1920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Keep K-Merge's partner choice</a:t>
            </a:r>
            <a:endParaRPr lang="en-US" sz="1800" dirty="0"/>
          </a:p>
          <a:p>
            <a:pPr marL="342900" indent="-342900">
              <a:spcAft>
                <a:spcPts val="1000"/>
              </a:spcAft>
              <a:buSzPct val="100000"/>
              <a:buChar char="•"/>
            </a:pPr>
            <a:r>
              <a:rPr lang="en-US" sz="1800" dirty="0">
                <a:solidFill>
                  <a:schemeClr val="tx1"/>
                </a:solidFill>
              </a:rPr>
              <a:t>Smarter merge (RegMean-style)</a:t>
            </a:r>
            <a:endParaRPr lang="en-US" sz="1800" dirty="0"/>
          </a:p>
          <a:p>
            <a:pPr marL="342900" indent="-342900">
              <a:spcAft>
                <a:spcPts val="1000"/>
              </a:spcAft>
              <a:buSzPct val="100000"/>
              <a:buChar char="•"/>
            </a:pPr>
            <a:r>
              <a:rPr lang="en-US" sz="1800" dirty="0">
                <a:solidFill>
                  <a:schemeClr val="tx1"/>
                </a:solidFill>
              </a:rPr>
              <a:t>Or do not merge at all: share the slot</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What we built: three test beds</a:t>
            </a:r>
            <a:endParaRPr lang="en-US" sz="3200" dirty="0"/>
          </a:p>
        </p:txBody>
      </p:sp>
      <p:sp>
        <p:nvSpPr>
          <p:cNvPr id="3" name="card-79"/>
          <p:cNvSpPr/>
          <p:nvPr/>
        </p:nvSpPr>
        <p:spPr>
          <a:xfrm>
            <a:off x="548640" y="1371600"/>
            <a:ext cx="3520440" cy="4069080"/>
          </a:xfrm>
          <a:prstGeom prst="roundRect">
            <a:avLst>
              <a:gd name="adj" fmla="val 3117"/>
            </a:avLst>
          </a:prstGeom>
          <a:solidFill>
            <a:schemeClr val="bg2"/>
          </a:solidFill>
          <a:ln w="12700">
            <a:solidFill>
              <a:schemeClr val="bg2"/>
            </a:solidFill>
            <a:prstDash val="solid"/>
          </a:ln>
        </p:spPr>
      </p:sp>
      <p:sp>
        <p:nvSpPr>
          <p:cNvPr id="4" name="icon-bg-80"/>
          <p:cNvSpPr/>
          <p:nvPr/>
        </p:nvSpPr>
        <p:spPr>
          <a:xfrm>
            <a:off x="1760220" y="1554480"/>
            <a:ext cx="1097280" cy="1097280"/>
          </a:xfrm>
          <a:prstGeom prst="ellipse">
            <a:avLst/>
          </a:prstGeom>
          <a:solidFill>
            <a:schemeClr val="bg1"/>
          </a:solidFill>
          <a:ln w="12700">
            <a:solidFill>
              <a:schemeClr val="bg1"/>
            </a:solidFill>
            <a:prstDash val="solid"/>
          </a:ln>
        </p:spPr>
      </p:sp>
      <p:pic>
        <p:nvPicPr>
          <p:cNvPr id="5" name="icon-test_tube-81" descr="test tube illustration">    </p:cNvPr>
          <p:cNvPicPr>
            <a:picLocks noChangeAspect="1"/>
          </p:cNvPicPr>
          <p:nvPr/>
        </p:nvPicPr>
        <p:blipFill>
          <a:blip r:embed="rId1"/>
          <a:stretch>
            <a:fillRect/>
          </a:stretch>
        </p:blipFill>
        <p:spPr>
          <a:xfrm>
            <a:off x="1935785" y="1730045"/>
            <a:ext cx="746150" cy="746150"/>
          </a:xfrm>
          <a:prstGeom prst="rect">
            <a:avLst/>
          </a:prstGeom>
        </p:spPr>
      </p:pic>
      <p:sp>
        <p:nvSpPr>
          <p:cNvPr id="6" name="text-82"/>
          <p:cNvSpPr txBox="1"/>
          <p:nvPr/>
        </p:nvSpPr>
        <p:spPr>
          <a:xfrm>
            <a:off x="777240" y="2743200"/>
            <a:ext cx="3063240" cy="502920"/>
          </a:xfrm>
          <a:prstGeom prst="rect">
            <a:avLst/>
          </a:prstGeom>
          <a:noFill/>
          <a:ln/>
        </p:spPr>
        <p:txBody>
          <a:bodyPr wrap="square" lIns="0" tIns="0" rIns="0" bIns="0" rtlCol="0" anchor="t"/>
          <a:lstStyle/>
          <a:p>
            <a:pPr algn="ctr" indent="0" marL="0">
              <a:buNone/>
            </a:pPr>
            <a:r>
              <a:rPr lang="en-US" sz="2100" b="1" dirty="0">
                <a:solidFill>
                  <a:schemeClr val="tx1"/>
                </a:solidFill>
                <a:latin typeface="Cambria" pitchFamily="34" charset="0"/>
                <a:ea typeface="Cambria" pitchFamily="34" charset="-122"/>
                <a:cs typeface="Cambria" pitchFamily="34" charset="-120"/>
              </a:rPr>
              <a:t>Merge lab (synthetic)</a:t>
            </a:r>
            <a:endParaRPr lang="en-US" sz="2100" dirty="0"/>
          </a:p>
        </p:txBody>
      </p:sp>
      <p:sp>
        <p:nvSpPr>
          <p:cNvPr id="7" name="text-83"/>
          <p:cNvSpPr txBox="1"/>
          <p:nvPr/>
        </p:nvSpPr>
        <p:spPr>
          <a:xfrm>
            <a:off x="822960" y="3337560"/>
            <a:ext cx="3063240" cy="201168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1"/>
                </a:solidFill>
              </a:rPr>
              <a:t>Grammar correction (templated errors): EN, DE, FR, HI</a:t>
            </a:r>
            <a:endParaRPr lang="en-US" sz="1450" dirty="0"/>
          </a:p>
          <a:p>
            <a:pPr marL="342900" indent="-342900">
              <a:spcAft>
                <a:spcPts val="500"/>
              </a:spcAft>
              <a:buSzPct val="100000"/>
              <a:buChar char="•"/>
            </a:pPr>
            <a:r>
              <a:rPr lang="en-US" sz="1450" dirty="0">
                <a:solidFill>
                  <a:schemeClr val="tx1"/>
                </a:solidFill>
              </a:rPr>
              <a:t>Qwen2.5-0.5B and 1.5B-Instruct</a:t>
            </a:r>
            <a:endParaRPr lang="en-US" sz="1450" dirty="0"/>
          </a:p>
          <a:p>
            <a:pPr marL="342900" indent="-342900">
              <a:spcAft>
                <a:spcPts val="500"/>
              </a:spcAft>
              <a:buSzPct val="100000"/>
              <a:buChar char="•"/>
            </a:pPr>
            <a:r>
              <a:rPr lang="en-US" sz="1450" dirty="0">
                <a:solidFill>
                  <a:schemeClr val="tx1"/>
                </a:solidFill>
              </a:rPr>
              <a:t>25 methods, 3 seeds</a:t>
            </a:r>
            <a:endParaRPr lang="en-US" sz="1450" dirty="0"/>
          </a:p>
          <a:p>
            <a:pPr marL="342900" indent="-342900">
              <a:spcAft>
                <a:spcPts val="500"/>
              </a:spcAft>
              <a:buSzPct val="100000"/>
              <a:buChar char="•"/>
            </a:pPr>
            <a:r>
              <a:rPr lang="en-US" sz="1450" dirty="0">
                <a:solidFill>
                  <a:schemeClr val="tx1"/>
                </a:solidFill>
              </a:rPr>
              <a:t>Every pair, every set, all 24 arrival orders</a:t>
            </a:r>
            <a:endParaRPr lang="en-US" sz="1450" dirty="0"/>
          </a:p>
        </p:txBody>
      </p:sp>
      <p:sp>
        <p:nvSpPr>
          <p:cNvPr id="8" name="card-84"/>
          <p:cNvSpPr/>
          <p:nvPr/>
        </p:nvSpPr>
        <p:spPr>
          <a:xfrm>
            <a:off x="4334256" y="1371600"/>
            <a:ext cx="3520440" cy="4069080"/>
          </a:xfrm>
          <a:prstGeom prst="roundRect">
            <a:avLst>
              <a:gd name="adj" fmla="val 3117"/>
            </a:avLst>
          </a:prstGeom>
          <a:solidFill>
            <a:schemeClr val="bg2"/>
          </a:solidFill>
          <a:ln w="12700">
            <a:solidFill>
              <a:schemeClr val="bg2"/>
            </a:solidFill>
            <a:prstDash val="solid"/>
          </a:ln>
        </p:spPr>
      </p:sp>
      <p:sp>
        <p:nvSpPr>
          <p:cNvPr id="9" name="icon-bg-85"/>
          <p:cNvSpPr/>
          <p:nvPr/>
        </p:nvSpPr>
        <p:spPr>
          <a:xfrm>
            <a:off x="5545836" y="1554480"/>
            <a:ext cx="1097280" cy="1097280"/>
          </a:xfrm>
          <a:prstGeom prst="ellipse">
            <a:avLst/>
          </a:prstGeom>
          <a:solidFill>
            <a:schemeClr val="bg1"/>
          </a:solidFill>
          <a:ln w="12700">
            <a:solidFill>
              <a:schemeClr val="bg1"/>
            </a:solidFill>
            <a:prstDash val="solid"/>
          </a:ln>
        </p:spPr>
      </p:sp>
      <p:pic>
        <p:nvPicPr>
          <p:cNvPr id="10" name="icon-globe_with_meridians-86" descr="globe with meridians illustration">    </p:cNvPr>
          <p:cNvPicPr>
            <a:picLocks noChangeAspect="1"/>
          </p:cNvPicPr>
          <p:nvPr/>
        </p:nvPicPr>
        <p:blipFill>
          <a:blip r:embed="rId2"/>
          <a:stretch>
            <a:fillRect/>
          </a:stretch>
        </p:blipFill>
        <p:spPr>
          <a:xfrm>
            <a:off x="5721401" y="1730045"/>
            <a:ext cx="746150" cy="746150"/>
          </a:xfrm>
          <a:prstGeom prst="rect">
            <a:avLst/>
          </a:prstGeom>
        </p:spPr>
      </p:pic>
      <p:sp>
        <p:nvSpPr>
          <p:cNvPr id="11" name="text-87"/>
          <p:cNvSpPr txBox="1"/>
          <p:nvPr/>
        </p:nvSpPr>
        <p:spPr>
          <a:xfrm>
            <a:off x="4562856" y="2743200"/>
            <a:ext cx="3063240" cy="502920"/>
          </a:xfrm>
          <a:prstGeom prst="rect">
            <a:avLst/>
          </a:prstGeom>
          <a:noFill/>
          <a:ln/>
        </p:spPr>
        <p:txBody>
          <a:bodyPr wrap="square" lIns="0" tIns="0" rIns="0" bIns="0" rtlCol="0" anchor="t"/>
          <a:lstStyle/>
          <a:p>
            <a:pPr algn="ctr" indent="0" marL="0">
              <a:buNone/>
            </a:pPr>
            <a:r>
              <a:rPr lang="en-US" sz="2100" b="1" dirty="0">
                <a:solidFill>
                  <a:schemeClr val="tx1"/>
                </a:solidFill>
                <a:latin typeface="Cambria" pitchFamily="34" charset="0"/>
                <a:ea typeface="Cambria" pitchFamily="34" charset="-122"/>
                <a:cs typeface="Cambria" pitchFamily="34" charset="-120"/>
              </a:rPr>
              <a:t>Real benchmark</a:t>
            </a:r>
            <a:endParaRPr lang="en-US" sz="2100" dirty="0"/>
          </a:p>
        </p:txBody>
      </p:sp>
      <p:sp>
        <p:nvSpPr>
          <p:cNvPr id="12" name="text-88"/>
          <p:cNvSpPr txBox="1"/>
          <p:nvPr/>
        </p:nvSpPr>
        <p:spPr>
          <a:xfrm>
            <a:off x="4608576" y="3337560"/>
            <a:ext cx="3063240" cy="201168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1"/>
                </a:solidFill>
              </a:rPr>
              <a:t>12 real tasks: grammar, summaries, QA</a:t>
            </a:r>
            <a:endParaRPr lang="en-US" sz="1450" dirty="0"/>
          </a:p>
          <a:p>
            <a:pPr marL="342900" indent="-342900">
              <a:spcAft>
                <a:spcPts val="500"/>
              </a:spcAft>
              <a:buSzPct val="100000"/>
              <a:buChar char="•"/>
            </a:pPr>
            <a:r>
              <a:rPr lang="en-US" sz="1450" dirty="0">
                <a:solidFill>
                  <a:schemeClr val="tx1"/>
                </a:solidFill>
              </a:rPr>
              <a:t>EN, DE, ES, IT (summaries and QA translated)</a:t>
            </a:r>
            <a:endParaRPr lang="en-US" sz="1450" dirty="0"/>
          </a:p>
          <a:p>
            <a:pPr marL="342900" indent="-342900">
              <a:spcAft>
                <a:spcPts val="500"/>
              </a:spcAft>
              <a:buSzPct val="100000"/>
              <a:buChar char="•"/>
            </a:pPr>
            <a:r>
              <a:rPr lang="en-US" sz="1450" dirty="0">
                <a:solidFill>
                  <a:schemeClr val="tx1"/>
                </a:solidFill>
              </a:rPr>
              <a:t>Qwen2.5-1.5B-Instruct, LoRA rank 32 (as in K-Merge)</a:t>
            </a:r>
            <a:endParaRPr lang="en-US" sz="1450" dirty="0"/>
          </a:p>
          <a:p>
            <a:pPr marL="342900" indent="-342900">
              <a:spcAft>
                <a:spcPts val="500"/>
              </a:spcAft>
              <a:buSzPct val="100000"/>
              <a:buChar char="•"/>
            </a:pPr>
            <a:r>
              <a:rPr lang="en-US" sz="1450" dirty="0">
                <a:solidFill>
                  <a:schemeClr val="tx1"/>
                </a:solidFill>
              </a:rPr>
              <a:t>11 methods, 2 seeds, K = 2 and 4</a:t>
            </a:r>
            <a:endParaRPr lang="en-US" sz="1450" dirty="0"/>
          </a:p>
        </p:txBody>
      </p:sp>
      <p:sp>
        <p:nvSpPr>
          <p:cNvPr id="13" name="card-89"/>
          <p:cNvSpPr/>
          <p:nvPr/>
        </p:nvSpPr>
        <p:spPr>
          <a:xfrm>
            <a:off x="8119872" y="1371600"/>
            <a:ext cx="3520440" cy="4069080"/>
          </a:xfrm>
          <a:prstGeom prst="roundRect">
            <a:avLst>
              <a:gd name="adj" fmla="val 3117"/>
            </a:avLst>
          </a:prstGeom>
          <a:solidFill>
            <a:schemeClr val="bg2"/>
          </a:solidFill>
          <a:ln w="12700">
            <a:solidFill>
              <a:schemeClr val="bg2"/>
            </a:solidFill>
            <a:prstDash val="solid"/>
          </a:ln>
        </p:spPr>
      </p:sp>
      <p:sp>
        <p:nvSpPr>
          <p:cNvPr id="14" name="icon-bg-90"/>
          <p:cNvSpPr/>
          <p:nvPr/>
        </p:nvSpPr>
        <p:spPr>
          <a:xfrm>
            <a:off x="9331452" y="1554480"/>
            <a:ext cx="1097280" cy="1097280"/>
          </a:xfrm>
          <a:prstGeom prst="ellipse">
            <a:avLst/>
          </a:prstGeom>
          <a:solidFill>
            <a:schemeClr val="bg1"/>
          </a:solidFill>
          <a:ln w="12700">
            <a:solidFill>
              <a:schemeClr val="bg1"/>
            </a:solidFill>
            <a:prstDash val="solid"/>
          </a:ln>
        </p:spPr>
      </p:sp>
      <p:pic>
        <p:nvPicPr>
          <p:cNvPr id="15" name="icon-high_voltage-91" descr="high voltage illustration">    </p:cNvPr>
          <p:cNvPicPr>
            <a:picLocks noChangeAspect="1"/>
          </p:cNvPicPr>
          <p:nvPr/>
        </p:nvPicPr>
        <p:blipFill>
          <a:blip r:embed="rId3"/>
          <a:stretch>
            <a:fillRect/>
          </a:stretch>
        </p:blipFill>
        <p:spPr>
          <a:xfrm>
            <a:off x="9507017" y="1730045"/>
            <a:ext cx="746150" cy="746150"/>
          </a:xfrm>
          <a:prstGeom prst="rect">
            <a:avLst/>
          </a:prstGeom>
        </p:spPr>
      </p:pic>
      <p:sp>
        <p:nvSpPr>
          <p:cNvPr id="16" name="text-92"/>
          <p:cNvSpPr txBox="1"/>
          <p:nvPr/>
        </p:nvSpPr>
        <p:spPr>
          <a:xfrm>
            <a:off x="8348472" y="2743200"/>
            <a:ext cx="3063240" cy="502920"/>
          </a:xfrm>
          <a:prstGeom prst="rect">
            <a:avLst/>
          </a:prstGeom>
          <a:noFill/>
          <a:ln/>
        </p:spPr>
        <p:txBody>
          <a:bodyPr wrap="square" lIns="0" tIns="0" rIns="0" bIns="0" rtlCol="0" anchor="t"/>
          <a:lstStyle/>
          <a:p>
            <a:pPr algn="ctr" indent="0" marL="0">
              <a:buNone/>
            </a:pPr>
            <a:r>
              <a:rPr lang="en-US" sz="2100" b="1" dirty="0">
                <a:solidFill>
                  <a:schemeClr val="tx1"/>
                </a:solidFill>
                <a:latin typeface="Cambria" pitchFamily="34" charset="0"/>
                <a:ea typeface="Cambria" pitchFamily="34" charset="-122"/>
                <a:cs typeface="Cambria" pitchFamily="34" charset="-120"/>
              </a:rPr>
              <a:t>Stress test</a:t>
            </a:r>
            <a:endParaRPr lang="en-US" sz="2100" dirty="0"/>
          </a:p>
        </p:txBody>
      </p:sp>
      <p:sp>
        <p:nvSpPr>
          <p:cNvPr id="17" name="text-93"/>
          <p:cNvSpPr txBox="1"/>
          <p:nvPr/>
        </p:nvSpPr>
        <p:spPr>
          <a:xfrm>
            <a:off x="8394192" y="3337560"/>
            <a:ext cx="3063240" cy="201168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1"/>
                </a:solidFill>
              </a:rPr>
              <a:t>All 12 real tasks in ONE slot</a:t>
            </a:r>
            <a:endParaRPr lang="en-US" sz="1450" dirty="0"/>
          </a:p>
          <a:p>
            <a:pPr marL="342900" indent="-342900">
              <a:spcAft>
                <a:spcPts val="500"/>
              </a:spcAft>
              <a:buSzPct val="100000"/>
              <a:buChar char="•"/>
            </a:pPr>
            <a:r>
              <a:rPr lang="en-US" sz="1450" dirty="0">
                <a:solidFill>
                  <a:schemeClr val="tx1"/>
                </a:solidFill>
              </a:rPr>
              <a:t>Slot of 16, 8 or 4 directions</a:t>
            </a:r>
            <a:endParaRPr lang="en-US" sz="1450" dirty="0"/>
          </a:p>
          <a:p>
            <a:pPr marL="342900" indent="-342900">
              <a:spcAft>
                <a:spcPts val="500"/>
              </a:spcAft>
              <a:buSzPct val="100000"/>
              <a:buChar char="•"/>
            </a:pPr>
            <a:r>
              <a:rPr lang="en-US" sz="1450" dirty="0">
                <a:solidFill>
                  <a:schemeClr val="tx1"/>
                </a:solidFill>
              </a:rPr>
              <a:t>How does each method cope with crowding?</a:t>
            </a:r>
            <a:endParaRPr lang="en-US" sz="1450" dirty="0"/>
          </a:p>
          <a:p>
            <a:pPr marL="342900" indent="-342900">
              <a:spcAft>
                <a:spcPts val="500"/>
              </a:spcAft>
              <a:buSzPct val="100000"/>
              <a:buChar char="•"/>
            </a:pPr>
            <a:r>
              <a:rPr lang="en-US" sz="1450" dirty="0">
                <a:solidFill>
                  <a:schemeClr val="tx1"/>
                </a:solidFill>
              </a:rPr>
              <a:t>1 seed so far</a:t>
            </a:r>
            <a:endParaRPr lang="en-US" sz="1450" dirty="0"/>
          </a:p>
        </p:txBody>
      </p:sp>
      <p:sp>
        <p:nvSpPr>
          <p:cNvPr id="18" name="text-94"/>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500" b="1" dirty="0">
                <a:solidFill>
                  <a:schemeClr val="tx1"/>
                </a:solidFill>
              </a:rPr>
              <a:t>Built from the papers' equations </a:t>
            </a:r>
            <a:pPr indent="0" marL="0">
              <a:buNone/>
            </a:pPr>
            <a:r>
              <a:rPr lang="en-US" sz="1500" dirty="0">
                <a:solidFill>
                  <a:schemeClr val="tx1"/>
                </a:solidFill>
              </a:rPr>
              <a:t>(K-Merge's code is not public). All runs on Kaggle's free T4 GPU; every prediction and score was saved.</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Why averaging hurts</a:t>
            </a:r>
            <a:endParaRPr lang="en-US" sz="3200" dirty="0"/>
          </a:p>
        </p:txBody>
      </p:sp>
      <p:sp>
        <p:nvSpPr>
          <p:cNvPr id="3" name="card-95"/>
          <p:cNvSpPr/>
          <p:nvPr/>
        </p:nvSpPr>
        <p:spPr>
          <a:xfrm>
            <a:off x="548640" y="1371600"/>
            <a:ext cx="3383280" cy="4343400"/>
          </a:xfrm>
          <a:prstGeom prst="roundRect">
            <a:avLst>
              <a:gd name="adj" fmla="val 3243"/>
            </a:avLst>
          </a:prstGeom>
          <a:solidFill>
            <a:schemeClr val="bg2"/>
          </a:solidFill>
          <a:ln w="12700">
            <a:solidFill>
              <a:schemeClr val="bg2"/>
            </a:solidFill>
            <a:prstDash val="solid"/>
          </a:ln>
        </p:spPr>
      </p:sp>
      <p:sp>
        <p:nvSpPr>
          <p:cNvPr id="4" name="icon-bg-96"/>
          <p:cNvSpPr/>
          <p:nvPr/>
        </p:nvSpPr>
        <p:spPr>
          <a:xfrm>
            <a:off x="1417320" y="1600200"/>
            <a:ext cx="1645920" cy="1645920"/>
          </a:xfrm>
          <a:prstGeom prst="ellipse">
            <a:avLst/>
          </a:prstGeom>
          <a:solidFill>
            <a:schemeClr val="bg1"/>
          </a:solidFill>
          <a:ln w="12700">
            <a:solidFill>
              <a:schemeClr val="bg1"/>
            </a:solidFill>
            <a:prstDash val="solid"/>
          </a:ln>
        </p:spPr>
      </p:sp>
      <p:pic>
        <p:nvPicPr>
          <p:cNvPr id="5" name="icon-artist_palette-97" descr="artist palette illustration">    </p:cNvPr>
          <p:cNvPicPr>
            <a:picLocks noChangeAspect="1"/>
          </p:cNvPicPr>
          <p:nvPr/>
        </p:nvPicPr>
        <p:blipFill>
          <a:blip r:embed="rId1"/>
          <a:stretch>
            <a:fillRect/>
          </a:stretch>
        </p:blipFill>
        <p:spPr>
          <a:xfrm>
            <a:off x="1680667" y="1863547"/>
            <a:ext cx="1119226" cy="1119226"/>
          </a:xfrm>
          <a:prstGeom prst="rect">
            <a:avLst/>
          </a:prstGeom>
        </p:spPr>
      </p:pic>
      <p:sp>
        <p:nvSpPr>
          <p:cNvPr id="6" name="text-98"/>
          <p:cNvSpPr txBox="1"/>
          <p:nvPr/>
        </p:nvSpPr>
        <p:spPr>
          <a:xfrm>
            <a:off x="822960" y="3429000"/>
            <a:ext cx="2834640" cy="21031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Like mixing paint</a:t>
            </a:r>
            <a:endParaRPr lang="en-US" sz="1600" dirty="0"/>
          </a:p>
          <a:p>
            <a:pPr indent="0" marL="0">
              <a:spcAft>
                <a:spcPts val="600"/>
              </a:spcAft>
              <a:buNone/>
            </a:pPr>
            <a:r>
              <a:rPr lang="en-US" sz="1600" dirty="0">
                <a:solidFill>
                  <a:schemeClr val="tx1"/>
                </a:solidFill>
              </a:rPr>
              <a:t>Blue + yellow gives green. You cannot get the blue back out. Averaging two adapters works the same way.</a:t>
            </a:r>
            <a:endParaRPr lang="en-US" sz="1600" dirty="0"/>
          </a:p>
        </p:txBody>
      </p:sp>
      <p:sp>
        <p:nvSpPr>
          <p:cNvPr id="7" name="why-99"/>
          <p:cNvSpPr/>
          <p:nvPr/>
        </p:nvSpPr>
        <p:spPr>
          <a:xfrm>
            <a:off x="4206240" y="1371600"/>
            <a:ext cx="7434072" cy="1298448"/>
          </a:xfrm>
          <a:prstGeom prst="roundRect">
            <a:avLst>
              <a:gd name="adj" fmla="val 7042"/>
            </a:avLst>
          </a:prstGeom>
          <a:solidFill>
            <a:schemeClr val="bg1"/>
          </a:solidFill>
          <a:ln w="19050">
            <a:solidFill>
              <a:schemeClr val="accent2"/>
            </a:solidFill>
            <a:prstDash val="solid"/>
          </a:ln>
        </p:spPr>
      </p:sp>
      <p:sp>
        <p:nvSpPr>
          <p:cNvPr id="8" name="text-100"/>
          <p:cNvSpPr txBox="1"/>
          <p:nvPr/>
        </p:nvSpPr>
        <p:spPr>
          <a:xfrm>
            <a:off x="4434840" y="1371600"/>
            <a:ext cx="2011680" cy="1298448"/>
          </a:xfrm>
          <a:prstGeom prst="rect">
            <a:avLst/>
          </a:prstGeom>
          <a:noFill/>
          <a:ln/>
        </p:spPr>
        <p:txBody>
          <a:bodyPr wrap="square" lIns="0" tIns="0" rIns="0" bIns="0" rtlCol="0" anchor="ctr"/>
          <a:lstStyle/>
          <a:p>
            <a:pPr indent="0" marL="0">
              <a:buNone/>
            </a:pPr>
            <a:r>
              <a:rPr lang="en-US" sz="2100" b="1" dirty="0">
                <a:solidFill>
                  <a:schemeClr val="accent2"/>
                </a:solidFill>
                <a:latin typeface="Cambria" pitchFamily="34" charset="0"/>
                <a:ea typeface="Cambria" pitchFamily="34" charset="-122"/>
                <a:cs typeface="Cambria" pitchFamily="34" charset="-120"/>
              </a:rPr>
              <a:t>Dilution</a:t>
            </a:r>
            <a:endParaRPr lang="en-US" sz="2100" dirty="0"/>
          </a:p>
        </p:txBody>
      </p:sp>
      <p:sp>
        <p:nvSpPr>
          <p:cNvPr id="9" name="text-101"/>
          <p:cNvSpPr txBox="1"/>
          <p:nvPr/>
        </p:nvSpPr>
        <p:spPr>
          <a:xfrm>
            <a:off x="6446520" y="1371600"/>
            <a:ext cx="5029200" cy="1298448"/>
          </a:xfrm>
          <a:prstGeom prst="rect">
            <a:avLst/>
          </a:prstGeom>
          <a:noFill/>
          <a:ln/>
        </p:spPr>
        <p:txBody>
          <a:bodyPr wrap="square" lIns="0" tIns="0" rIns="0" bIns="0" rtlCol="0" anchor="ctr"/>
          <a:lstStyle/>
          <a:p>
            <a:pPr indent="0" marL="0">
              <a:buNone/>
            </a:pPr>
            <a:r>
              <a:rPr lang="en-US" sz="1600" dirty="0">
                <a:solidFill>
                  <a:schemeClr val="tx1"/>
                </a:solidFill>
              </a:rPr>
              <a:t>Averaging n adapters leaves each task only about 1/n of its own update. The model gets timid and leaves errors unfixed.</a:t>
            </a:r>
            <a:endParaRPr lang="en-US" sz="1600" dirty="0"/>
          </a:p>
        </p:txBody>
      </p:sp>
      <p:sp>
        <p:nvSpPr>
          <p:cNvPr id="10" name="why-102"/>
          <p:cNvSpPr/>
          <p:nvPr/>
        </p:nvSpPr>
        <p:spPr>
          <a:xfrm>
            <a:off x="4206240" y="2852928"/>
            <a:ext cx="7434072" cy="1298448"/>
          </a:xfrm>
          <a:prstGeom prst="roundRect">
            <a:avLst>
              <a:gd name="adj" fmla="val 7042"/>
            </a:avLst>
          </a:prstGeom>
          <a:solidFill>
            <a:schemeClr val="bg1"/>
          </a:solidFill>
          <a:ln w="19050">
            <a:solidFill>
              <a:schemeClr val="accent3"/>
            </a:solidFill>
            <a:prstDash val="solid"/>
          </a:ln>
        </p:spPr>
      </p:sp>
      <p:sp>
        <p:nvSpPr>
          <p:cNvPr id="11" name="text-103"/>
          <p:cNvSpPr txBox="1"/>
          <p:nvPr/>
        </p:nvSpPr>
        <p:spPr>
          <a:xfrm>
            <a:off x="4434840" y="2852928"/>
            <a:ext cx="2011680" cy="1298448"/>
          </a:xfrm>
          <a:prstGeom prst="rect">
            <a:avLst/>
          </a:prstGeom>
          <a:noFill/>
          <a:ln/>
        </p:spPr>
        <p:txBody>
          <a:bodyPr wrap="square" lIns="0" tIns="0" rIns="0" bIns="0" rtlCol="0" anchor="ctr"/>
          <a:lstStyle/>
          <a:p>
            <a:pPr indent="0" marL="0">
              <a:buNone/>
            </a:pPr>
            <a:r>
              <a:rPr lang="en-US" sz="2100" b="1" dirty="0">
                <a:solidFill>
                  <a:schemeClr val="accent3"/>
                </a:solidFill>
                <a:latin typeface="Cambria" pitchFamily="34" charset="0"/>
                <a:ea typeface="Cambria" pitchFamily="34" charset="-122"/>
                <a:cs typeface="Cambria" pitchFamily="34" charset="-120"/>
              </a:rPr>
              <a:t>Interference</a:t>
            </a:r>
            <a:endParaRPr lang="en-US" sz="2100" dirty="0"/>
          </a:p>
        </p:txBody>
      </p:sp>
      <p:sp>
        <p:nvSpPr>
          <p:cNvPr id="12" name="text-104"/>
          <p:cNvSpPr txBox="1"/>
          <p:nvPr/>
        </p:nvSpPr>
        <p:spPr>
          <a:xfrm>
            <a:off x="6446520" y="2852928"/>
            <a:ext cx="5029200" cy="1298448"/>
          </a:xfrm>
          <a:prstGeom prst="rect">
            <a:avLst/>
          </a:prstGeom>
          <a:noFill/>
          <a:ln/>
        </p:spPr>
        <p:txBody>
          <a:bodyPr wrap="square" lIns="0" tIns="0" rIns="0" bIns="0" rtlCol="0" anchor="ctr"/>
          <a:lstStyle/>
          <a:p>
            <a:pPr indent="0" marL="0">
              <a:buNone/>
            </a:pPr>
            <a:r>
              <a:rPr lang="en-US" sz="1600" dirty="0">
                <a:solidFill>
                  <a:schemeClr val="tx1"/>
                </a:solidFill>
              </a:rPr>
              <a:t>The other tasks' updates leak in as noise: wrong edits, changed meaning.</a:t>
            </a:r>
            <a:endParaRPr lang="en-US" sz="1600" dirty="0"/>
          </a:p>
        </p:txBody>
      </p:sp>
      <p:sp>
        <p:nvSpPr>
          <p:cNvPr id="13" name="why-105"/>
          <p:cNvSpPr/>
          <p:nvPr/>
        </p:nvSpPr>
        <p:spPr>
          <a:xfrm>
            <a:off x="4206240" y="4334256"/>
            <a:ext cx="7434072" cy="1298448"/>
          </a:xfrm>
          <a:prstGeom prst="roundRect">
            <a:avLst>
              <a:gd name="adj" fmla="val 7042"/>
            </a:avLst>
          </a:prstGeom>
          <a:solidFill>
            <a:schemeClr val="bg1"/>
          </a:solidFill>
          <a:ln w="19050">
            <a:solidFill>
              <a:schemeClr val="accent6"/>
            </a:solidFill>
            <a:prstDash val="solid"/>
          </a:ln>
        </p:spPr>
      </p:sp>
      <p:sp>
        <p:nvSpPr>
          <p:cNvPr id="14" name="text-106"/>
          <p:cNvSpPr txBox="1"/>
          <p:nvPr/>
        </p:nvSpPr>
        <p:spPr>
          <a:xfrm>
            <a:off x="4434840" y="4334256"/>
            <a:ext cx="2011680" cy="1298448"/>
          </a:xfrm>
          <a:prstGeom prst="rect">
            <a:avLst/>
          </a:prstGeom>
          <a:noFill/>
          <a:ln/>
        </p:spPr>
        <p:txBody>
          <a:bodyPr wrap="square" lIns="0" tIns="0" rIns="0" bIns="0" rtlCol="0" anchor="ctr"/>
          <a:lstStyle/>
          <a:p>
            <a:pPr indent="0" marL="0">
              <a:buNone/>
            </a:pPr>
            <a:r>
              <a:rPr lang="en-US" sz="2100" b="1" dirty="0">
                <a:solidFill>
                  <a:schemeClr val="accent6"/>
                </a:solidFill>
                <a:latin typeface="Cambria" pitchFamily="34" charset="0"/>
                <a:ea typeface="Cambria" pitchFamily="34" charset="-122"/>
                <a:cs typeface="Cambria" pitchFamily="34" charset="-120"/>
              </a:rPr>
              <a:t>Cross terms</a:t>
            </a:r>
            <a:endParaRPr lang="en-US" sz="2100" dirty="0"/>
          </a:p>
        </p:txBody>
      </p:sp>
      <p:sp>
        <p:nvSpPr>
          <p:cNvPr id="15" name="text-107"/>
          <p:cNvSpPr txBox="1"/>
          <p:nvPr/>
        </p:nvSpPr>
        <p:spPr>
          <a:xfrm>
            <a:off x="6446520" y="4334256"/>
            <a:ext cx="5029200" cy="1298448"/>
          </a:xfrm>
          <a:prstGeom prst="rect">
            <a:avLst/>
          </a:prstGeom>
          <a:noFill/>
          <a:ln/>
        </p:spPr>
        <p:txBody>
          <a:bodyPr wrap="square" lIns="0" tIns="0" rIns="0" bIns="0" rtlCol="0" anchor="ctr"/>
          <a:lstStyle/>
          <a:p>
            <a:pPr indent="0" marL="0">
              <a:buNone/>
            </a:pPr>
            <a:r>
              <a:rPr lang="en-US" sz="1600" dirty="0">
                <a:solidFill>
                  <a:schemeClr val="tx1"/>
                </a:solidFill>
              </a:rPr>
              <a:t>K-Merge averages A and B separately, so the product mixes English's B with French's A (and vice versa): changes no task ever learned.</a:t>
            </a:r>
            <a:endParaRPr lang="en-US" sz="1600" dirty="0"/>
          </a:p>
        </p:txBody>
      </p:sp>
      <p:sp>
        <p:nvSpPr>
          <p:cNvPr id="16" name="text-108"/>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Measured (synthetic pairs, 0.5B): K-Merge left 10.4% of outputs unchanged, sharing 1.6%. Plain averaging of the full updates beat K-Merge's A/B averaging: 94.1% vs 92.4%.</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The fix we test: share the slot, don't blend it</a:t>
            </a:r>
            <a:endParaRPr lang="en-US" sz="3200" dirty="0"/>
          </a:p>
        </p:txBody>
      </p:sp>
      <p:sp>
        <p:nvSpPr>
          <p:cNvPr id="3" name="text-109"/>
          <p:cNvSpPr txBox="1"/>
          <p:nvPr/>
        </p:nvSpPr>
        <p:spPr>
          <a:xfrm>
            <a:off x="548640" y="1143000"/>
            <a:ext cx="11094415" cy="868680"/>
          </a:xfrm>
          <a:prstGeom prst="rect">
            <a:avLst/>
          </a:prstGeom>
          <a:noFill/>
          <a:ln/>
        </p:spPr>
        <p:txBody>
          <a:bodyPr wrap="square" lIns="0" tIns="0" rIns="0" bIns="0" rtlCol="0" anchor="t"/>
          <a:lstStyle/>
          <a:p>
            <a:pPr indent="0" marL="0">
              <a:buNone/>
            </a:pPr>
            <a:r>
              <a:rPr lang="en-US" sz="1600" b="1" dirty="0">
                <a:solidFill>
                  <a:schemeClr val="tx1"/>
                </a:solidFill>
              </a:rPr>
              <a:t>A rank-R slot holds R directions (think: R shelves).</a:t>
            </a:r>
            <a:endParaRPr lang="en-US" sz="1600" dirty="0"/>
          </a:p>
          <a:p>
            <a:pPr indent="0" marL="0">
              <a:buNone/>
            </a:pPr>
            <a:r>
              <a:rPr lang="en-US" sz="1600" dirty="0">
                <a:solidFill>
                  <a:schemeClr val="tx1"/>
                </a:solidFill>
              </a:rPr>
              <a:t>Split uses exactly one LoRA's storage; K-Share adds a small core per task (2–8% extra in our runs).</a:t>
            </a:r>
            <a:endParaRPr lang="en-US" sz="1600" dirty="0"/>
          </a:p>
          <a:p>
            <a:pPr indent="0" marL="0">
              <a:buNone/>
            </a:pPr>
            <a:r>
              <a:rPr lang="en-US" sz="1600" dirty="0">
                <a:solidFill>
                  <a:schemeClr val="tx1"/>
                </a:solidFill>
              </a:rPr>
              <a:t>As in K-Merge, the task is known at inference, so each task reads only its own part.</a:t>
            </a:r>
            <a:endParaRPr lang="en-US" sz="1600" dirty="0"/>
          </a:p>
        </p:txBody>
      </p:sp>
      <p:sp>
        <p:nvSpPr>
          <p:cNvPr id="4" name="card-110"/>
          <p:cNvSpPr/>
          <p:nvPr/>
        </p:nvSpPr>
        <p:spPr>
          <a:xfrm>
            <a:off x="548640" y="2103120"/>
            <a:ext cx="5349240" cy="3246120"/>
          </a:xfrm>
          <a:prstGeom prst="roundRect">
            <a:avLst>
              <a:gd name="adj" fmla="val 3380"/>
            </a:avLst>
          </a:prstGeom>
          <a:solidFill>
            <a:schemeClr val="bg2"/>
          </a:solidFill>
          <a:ln w="12700">
            <a:solidFill>
              <a:schemeClr val="bg2"/>
            </a:solidFill>
            <a:prstDash val="solid"/>
          </a:ln>
        </p:spPr>
      </p:sp>
      <p:sp>
        <p:nvSpPr>
          <p:cNvPr id="5" name="text-111"/>
          <p:cNvSpPr txBox="1"/>
          <p:nvPr/>
        </p:nvSpPr>
        <p:spPr>
          <a:xfrm>
            <a:off x="822960" y="2286000"/>
            <a:ext cx="4800600" cy="45720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Split: each task gets its own shelves</a:t>
            </a:r>
            <a:endParaRPr lang="en-US" sz="1800" dirty="0"/>
          </a:p>
        </p:txBody>
      </p:sp>
      <p:sp>
        <p:nvSpPr>
          <p:cNvPr id="6" name="shelf-112"/>
          <p:cNvSpPr/>
          <p:nvPr/>
        </p:nvSpPr>
        <p:spPr>
          <a:xfrm>
            <a:off x="960120" y="2971800"/>
            <a:ext cx="493776" cy="914400"/>
          </a:xfrm>
          <a:prstGeom prst="rect">
            <a:avLst/>
          </a:prstGeom>
          <a:solidFill>
            <a:schemeClr val="accent4"/>
          </a:solidFill>
          <a:ln w="12700">
            <a:solidFill>
              <a:schemeClr val="bg1"/>
            </a:solidFill>
            <a:prstDash val="solid"/>
          </a:ln>
        </p:spPr>
      </p:sp>
      <p:sp>
        <p:nvSpPr>
          <p:cNvPr id="7" name="shelf-113"/>
          <p:cNvSpPr/>
          <p:nvPr/>
        </p:nvSpPr>
        <p:spPr>
          <a:xfrm>
            <a:off x="1527048" y="2971800"/>
            <a:ext cx="493776" cy="914400"/>
          </a:xfrm>
          <a:prstGeom prst="rect">
            <a:avLst/>
          </a:prstGeom>
          <a:solidFill>
            <a:schemeClr val="accent4"/>
          </a:solidFill>
          <a:ln w="12700">
            <a:solidFill>
              <a:schemeClr val="bg1"/>
            </a:solidFill>
            <a:prstDash val="solid"/>
          </a:ln>
        </p:spPr>
      </p:sp>
      <p:sp>
        <p:nvSpPr>
          <p:cNvPr id="8" name="shelf-114"/>
          <p:cNvSpPr/>
          <p:nvPr/>
        </p:nvSpPr>
        <p:spPr>
          <a:xfrm>
            <a:off x="2093976" y="2971800"/>
            <a:ext cx="493776" cy="914400"/>
          </a:xfrm>
          <a:prstGeom prst="rect">
            <a:avLst/>
          </a:prstGeom>
          <a:solidFill>
            <a:schemeClr val="accent4"/>
          </a:solidFill>
          <a:ln w="12700">
            <a:solidFill>
              <a:schemeClr val="bg1"/>
            </a:solidFill>
            <a:prstDash val="solid"/>
          </a:ln>
        </p:spPr>
      </p:sp>
      <p:sp>
        <p:nvSpPr>
          <p:cNvPr id="9" name="shelf-115"/>
          <p:cNvSpPr/>
          <p:nvPr/>
        </p:nvSpPr>
        <p:spPr>
          <a:xfrm>
            <a:off x="2660904" y="2971800"/>
            <a:ext cx="493776" cy="914400"/>
          </a:xfrm>
          <a:prstGeom prst="rect">
            <a:avLst/>
          </a:prstGeom>
          <a:solidFill>
            <a:schemeClr val="accent4"/>
          </a:solidFill>
          <a:ln w="12700">
            <a:solidFill>
              <a:schemeClr val="bg1"/>
            </a:solidFill>
            <a:prstDash val="solid"/>
          </a:ln>
        </p:spPr>
      </p:sp>
      <p:sp>
        <p:nvSpPr>
          <p:cNvPr id="10" name="shelf-116"/>
          <p:cNvSpPr/>
          <p:nvPr/>
        </p:nvSpPr>
        <p:spPr>
          <a:xfrm>
            <a:off x="3227832" y="2971800"/>
            <a:ext cx="493776" cy="914400"/>
          </a:xfrm>
          <a:prstGeom prst="rect">
            <a:avLst/>
          </a:prstGeom>
          <a:solidFill>
            <a:schemeClr val="accent3"/>
          </a:solidFill>
          <a:ln w="12700">
            <a:solidFill>
              <a:schemeClr val="bg1"/>
            </a:solidFill>
            <a:prstDash val="solid"/>
          </a:ln>
        </p:spPr>
      </p:sp>
      <p:sp>
        <p:nvSpPr>
          <p:cNvPr id="11" name="shelf-117"/>
          <p:cNvSpPr/>
          <p:nvPr/>
        </p:nvSpPr>
        <p:spPr>
          <a:xfrm>
            <a:off x="3794760" y="2971800"/>
            <a:ext cx="493776" cy="914400"/>
          </a:xfrm>
          <a:prstGeom prst="rect">
            <a:avLst/>
          </a:prstGeom>
          <a:solidFill>
            <a:schemeClr val="accent3"/>
          </a:solidFill>
          <a:ln w="12700">
            <a:solidFill>
              <a:schemeClr val="bg1"/>
            </a:solidFill>
            <a:prstDash val="solid"/>
          </a:ln>
        </p:spPr>
      </p:sp>
      <p:sp>
        <p:nvSpPr>
          <p:cNvPr id="12" name="shelf-118"/>
          <p:cNvSpPr/>
          <p:nvPr/>
        </p:nvSpPr>
        <p:spPr>
          <a:xfrm>
            <a:off x="4361688" y="2971800"/>
            <a:ext cx="493776" cy="914400"/>
          </a:xfrm>
          <a:prstGeom prst="rect">
            <a:avLst/>
          </a:prstGeom>
          <a:solidFill>
            <a:schemeClr val="accent3"/>
          </a:solidFill>
          <a:ln w="12700">
            <a:solidFill>
              <a:schemeClr val="bg1"/>
            </a:solidFill>
            <a:prstDash val="solid"/>
          </a:ln>
        </p:spPr>
      </p:sp>
      <p:sp>
        <p:nvSpPr>
          <p:cNvPr id="13" name="shelf-119"/>
          <p:cNvSpPr/>
          <p:nvPr/>
        </p:nvSpPr>
        <p:spPr>
          <a:xfrm>
            <a:off x="4928616" y="2971800"/>
            <a:ext cx="493776" cy="914400"/>
          </a:xfrm>
          <a:prstGeom prst="rect">
            <a:avLst/>
          </a:prstGeom>
          <a:solidFill>
            <a:schemeClr val="accent3"/>
          </a:solidFill>
          <a:ln w="12700">
            <a:solidFill>
              <a:schemeClr val="bg1"/>
            </a:solidFill>
            <a:prstDash val="solid"/>
          </a:ln>
        </p:spPr>
      </p:sp>
      <p:sp>
        <p:nvSpPr>
          <p:cNvPr id="14" name="text-120"/>
          <p:cNvSpPr txBox="1"/>
          <p:nvPr/>
        </p:nvSpPr>
        <p:spPr>
          <a:xfrm>
            <a:off x="914400" y="3977640"/>
            <a:ext cx="2286000" cy="320040"/>
          </a:xfrm>
          <a:prstGeom prst="rect">
            <a:avLst/>
          </a:prstGeom>
          <a:noFill/>
          <a:ln/>
        </p:spPr>
        <p:txBody>
          <a:bodyPr wrap="square" lIns="0" tIns="0" rIns="0" bIns="0" rtlCol="0" anchor="t"/>
          <a:lstStyle/>
          <a:p>
            <a:pPr algn="ctr" indent="0" marL="0">
              <a:buNone/>
            </a:pPr>
            <a:r>
              <a:rPr lang="en-US" sz="1200" b="1" dirty="0">
                <a:solidFill>
                  <a:schemeClr val="accent4"/>
                </a:solidFill>
              </a:rPr>
              <a:t>Task A's top 4 directions</a:t>
            </a:r>
            <a:endParaRPr lang="en-US" sz="1200" dirty="0"/>
          </a:p>
        </p:txBody>
      </p:sp>
      <p:sp>
        <p:nvSpPr>
          <p:cNvPr id="15" name="text-121"/>
          <p:cNvSpPr txBox="1"/>
          <p:nvPr/>
        </p:nvSpPr>
        <p:spPr>
          <a:xfrm>
            <a:off x="3182112" y="3977640"/>
            <a:ext cx="2286000" cy="320040"/>
          </a:xfrm>
          <a:prstGeom prst="rect">
            <a:avLst/>
          </a:prstGeom>
          <a:noFill/>
          <a:ln/>
        </p:spPr>
        <p:txBody>
          <a:bodyPr wrap="square" lIns="0" tIns="0" rIns="0" bIns="0" rtlCol="0" anchor="t"/>
          <a:lstStyle/>
          <a:p>
            <a:pPr algn="ctr" indent="0" marL="0">
              <a:buNone/>
            </a:pPr>
            <a:r>
              <a:rPr lang="en-US" sz="1200" b="1" dirty="0">
                <a:solidFill>
                  <a:srgbClr val="E9A23B"/>
                </a:solidFill>
              </a:rPr>
              <a:t>Task B's top 4 directions</a:t>
            </a:r>
            <a:endParaRPr lang="en-US" sz="1200" dirty="0"/>
          </a:p>
        </p:txBody>
      </p:sp>
      <p:sp>
        <p:nvSpPr>
          <p:cNvPr id="16" name="text-122"/>
          <p:cNvSpPr txBox="1"/>
          <p:nvPr/>
        </p:nvSpPr>
        <p:spPr>
          <a:xfrm>
            <a:off x="822960" y="4434840"/>
            <a:ext cx="4800600" cy="822960"/>
          </a:xfrm>
          <a:prstGeom prst="rect">
            <a:avLst/>
          </a:prstGeom>
          <a:noFill/>
          <a:ln/>
        </p:spPr>
        <p:txBody>
          <a:bodyPr wrap="square" lIns="0" tIns="0" rIns="0" bIns="0" rtlCol="0" anchor="t"/>
          <a:lstStyle/>
          <a:p>
            <a:pPr indent="0" marL="0">
              <a:buNone/>
            </a:pPr>
            <a:r>
              <a:rPr lang="en-US" sz="1500" dirty="0">
                <a:solidFill>
                  <a:schemeClr val="tx1"/>
                </a:solidFill>
              </a:rPr>
              <a:t>Nothing is mixed. But with more tasks than shelves, some tasks get none.</a:t>
            </a:r>
            <a:endParaRPr lang="en-US" sz="1500" dirty="0"/>
          </a:p>
        </p:txBody>
      </p:sp>
      <p:sp>
        <p:nvSpPr>
          <p:cNvPr id="17" name="card-123"/>
          <p:cNvSpPr/>
          <p:nvPr/>
        </p:nvSpPr>
        <p:spPr>
          <a:xfrm>
            <a:off x="6291072" y="2103120"/>
            <a:ext cx="5349240" cy="3246120"/>
          </a:xfrm>
          <a:prstGeom prst="roundRect">
            <a:avLst>
              <a:gd name="adj" fmla="val 3380"/>
            </a:avLst>
          </a:prstGeom>
          <a:solidFill>
            <a:schemeClr val="bg2"/>
          </a:solidFill>
          <a:ln w="12700">
            <a:solidFill>
              <a:schemeClr val="bg2"/>
            </a:solidFill>
            <a:prstDash val="solid"/>
          </a:ln>
        </p:spPr>
      </p:sp>
      <p:sp>
        <p:nvSpPr>
          <p:cNvPr id="18" name="text-124"/>
          <p:cNvSpPr txBox="1"/>
          <p:nvPr/>
        </p:nvSpPr>
        <p:spPr>
          <a:xfrm>
            <a:off x="6565392" y="2286000"/>
            <a:ext cx="480060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K-Share: shared shelves + a key per task</a:t>
            </a:r>
            <a:endParaRPr lang="en-US" sz="1800" dirty="0"/>
          </a:p>
        </p:txBody>
      </p:sp>
      <p:sp>
        <p:nvSpPr>
          <p:cNvPr id="19" name="shared-125"/>
          <p:cNvSpPr/>
          <p:nvPr/>
        </p:nvSpPr>
        <p:spPr>
          <a:xfrm>
            <a:off x="6702552" y="2971800"/>
            <a:ext cx="329184" cy="914400"/>
          </a:xfrm>
          <a:prstGeom prst="rect">
            <a:avLst/>
          </a:prstGeom>
          <a:solidFill>
            <a:schemeClr val="accent1"/>
          </a:solidFill>
          <a:ln w="12700">
            <a:solidFill>
              <a:schemeClr val="bg1"/>
            </a:solidFill>
            <a:prstDash val="solid"/>
          </a:ln>
        </p:spPr>
      </p:sp>
      <p:sp>
        <p:nvSpPr>
          <p:cNvPr id="20" name="shared-126"/>
          <p:cNvSpPr/>
          <p:nvPr/>
        </p:nvSpPr>
        <p:spPr>
          <a:xfrm>
            <a:off x="7086600" y="2971800"/>
            <a:ext cx="329184" cy="914400"/>
          </a:xfrm>
          <a:prstGeom prst="rect">
            <a:avLst/>
          </a:prstGeom>
          <a:solidFill>
            <a:schemeClr val="accent1"/>
          </a:solidFill>
          <a:ln w="12700">
            <a:solidFill>
              <a:schemeClr val="bg1"/>
            </a:solidFill>
            <a:prstDash val="solid"/>
          </a:ln>
        </p:spPr>
      </p:sp>
      <p:sp>
        <p:nvSpPr>
          <p:cNvPr id="21" name="shared-127"/>
          <p:cNvSpPr/>
          <p:nvPr/>
        </p:nvSpPr>
        <p:spPr>
          <a:xfrm>
            <a:off x="7470648" y="2971800"/>
            <a:ext cx="329184" cy="914400"/>
          </a:xfrm>
          <a:prstGeom prst="rect">
            <a:avLst/>
          </a:prstGeom>
          <a:solidFill>
            <a:schemeClr val="accent1"/>
          </a:solidFill>
          <a:ln w="12700">
            <a:solidFill>
              <a:schemeClr val="bg1"/>
            </a:solidFill>
            <a:prstDash val="solid"/>
          </a:ln>
        </p:spPr>
      </p:sp>
      <p:sp>
        <p:nvSpPr>
          <p:cNvPr id="22" name="shared-128"/>
          <p:cNvSpPr/>
          <p:nvPr/>
        </p:nvSpPr>
        <p:spPr>
          <a:xfrm>
            <a:off x="7854696" y="2971800"/>
            <a:ext cx="329184" cy="914400"/>
          </a:xfrm>
          <a:prstGeom prst="rect">
            <a:avLst/>
          </a:prstGeom>
          <a:solidFill>
            <a:schemeClr val="accent1"/>
          </a:solidFill>
          <a:ln w="12700">
            <a:solidFill>
              <a:schemeClr val="bg1"/>
            </a:solidFill>
            <a:prstDash val="solid"/>
          </a:ln>
        </p:spPr>
      </p:sp>
      <p:sp>
        <p:nvSpPr>
          <p:cNvPr id="23" name="shared-129"/>
          <p:cNvSpPr/>
          <p:nvPr/>
        </p:nvSpPr>
        <p:spPr>
          <a:xfrm>
            <a:off x="8238744" y="2971800"/>
            <a:ext cx="329184" cy="914400"/>
          </a:xfrm>
          <a:prstGeom prst="rect">
            <a:avLst/>
          </a:prstGeom>
          <a:solidFill>
            <a:schemeClr val="accent1"/>
          </a:solidFill>
          <a:ln w="12700">
            <a:solidFill>
              <a:schemeClr val="bg1"/>
            </a:solidFill>
            <a:prstDash val="solid"/>
          </a:ln>
        </p:spPr>
      </p:sp>
      <p:sp>
        <p:nvSpPr>
          <p:cNvPr id="24" name="shared-130"/>
          <p:cNvSpPr/>
          <p:nvPr/>
        </p:nvSpPr>
        <p:spPr>
          <a:xfrm>
            <a:off x="8622792" y="2971800"/>
            <a:ext cx="329184" cy="914400"/>
          </a:xfrm>
          <a:prstGeom prst="rect">
            <a:avLst/>
          </a:prstGeom>
          <a:solidFill>
            <a:schemeClr val="accent1"/>
          </a:solidFill>
          <a:ln w="12700">
            <a:solidFill>
              <a:schemeClr val="bg1"/>
            </a:solidFill>
            <a:prstDash val="solid"/>
          </a:ln>
        </p:spPr>
      </p:sp>
      <p:sp>
        <p:nvSpPr>
          <p:cNvPr id="25" name="shared-131"/>
          <p:cNvSpPr/>
          <p:nvPr/>
        </p:nvSpPr>
        <p:spPr>
          <a:xfrm>
            <a:off x="9006840" y="2971800"/>
            <a:ext cx="329184" cy="914400"/>
          </a:xfrm>
          <a:prstGeom prst="rect">
            <a:avLst/>
          </a:prstGeom>
          <a:solidFill>
            <a:schemeClr val="accent1"/>
          </a:solidFill>
          <a:ln w="12700">
            <a:solidFill>
              <a:schemeClr val="bg1"/>
            </a:solidFill>
            <a:prstDash val="solid"/>
          </a:ln>
        </p:spPr>
      </p:sp>
      <p:sp>
        <p:nvSpPr>
          <p:cNvPr id="26" name="shared-132"/>
          <p:cNvSpPr/>
          <p:nvPr/>
        </p:nvSpPr>
        <p:spPr>
          <a:xfrm>
            <a:off x="9390888" y="2971800"/>
            <a:ext cx="329184" cy="914400"/>
          </a:xfrm>
          <a:prstGeom prst="rect">
            <a:avLst/>
          </a:prstGeom>
          <a:solidFill>
            <a:schemeClr val="accent1"/>
          </a:solidFill>
          <a:ln w="12700">
            <a:solidFill>
              <a:schemeClr val="bg1"/>
            </a:solidFill>
            <a:prstDash val="solid"/>
          </a:ln>
        </p:spPr>
      </p:sp>
      <p:pic>
        <p:nvPicPr>
          <p:cNvPr id="27" name="key-a" descr="key illustration">    </p:cNvPr>
          <p:cNvPicPr>
            <a:picLocks noChangeAspect="1"/>
          </p:cNvPicPr>
          <p:nvPr/>
        </p:nvPicPr>
        <p:blipFill>
          <a:blip r:embed="rId1"/>
          <a:stretch>
            <a:fillRect/>
          </a:stretch>
        </p:blipFill>
        <p:spPr>
          <a:xfrm>
            <a:off x="9994392" y="2880360"/>
            <a:ext cx="548640" cy="548640"/>
          </a:xfrm>
          <a:prstGeom prst="rect">
            <a:avLst/>
          </a:prstGeom>
        </p:spPr>
      </p:pic>
      <p:pic>
        <p:nvPicPr>
          <p:cNvPr id="28" name="key-b" descr="key illustration">    </p:cNvPr>
          <p:cNvPicPr>
            <a:picLocks noChangeAspect="1"/>
          </p:cNvPicPr>
          <p:nvPr/>
        </p:nvPicPr>
        <p:blipFill>
          <a:blip r:embed="rId2"/>
          <a:stretch>
            <a:fillRect/>
          </a:stretch>
        </p:blipFill>
        <p:spPr>
          <a:xfrm>
            <a:off x="10634472" y="3337560"/>
            <a:ext cx="548640" cy="548640"/>
          </a:xfrm>
          <a:prstGeom prst="rect">
            <a:avLst/>
          </a:prstGeom>
        </p:spPr>
      </p:pic>
      <p:sp>
        <p:nvSpPr>
          <p:cNvPr id="29" name="text-133"/>
          <p:cNvSpPr txBox="1"/>
          <p:nvPr/>
        </p:nvSpPr>
        <p:spPr>
          <a:xfrm>
            <a:off x="9857232" y="3474720"/>
            <a:ext cx="822960" cy="274320"/>
          </a:xfrm>
          <a:prstGeom prst="rect">
            <a:avLst/>
          </a:prstGeom>
          <a:noFill/>
          <a:ln/>
        </p:spPr>
        <p:txBody>
          <a:bodyPr wrap="square" lIns="0" tIns="0" rIns="0" bIns="0" rtlCol="0" anchor="t"/>
          <a:lstStyle/>
          <a:p>
            <a:pPr algn="ctr" indent="0" marL="0">
              <a:buNone/>
            </a:pPr>
            <a:r>
              <a:rPr lang="en-US" sz="1200" dirty="0">
                <a:solidFill>
                  <a:srgbClr val="6B7785"/>
                </a:solidFill>
              </a:rPr>
              <a:t>core A</a:t>
            </a:r>
            <a:endParaRPr lang="en-US" sz="1200" dirty="0"/>
          </a:p>
        </p:txBody>
      </p:sp>
      <p:sp>
        <p:nvSpPr>
          <p:cNvPr id="30" name="text-134"/>
          <p:cNvSpPr txBox="1"/>
          <p:nvPr/>
        </p:nvSpPr>
        <p:spPr>
          <a:xfrm>
            <a:off x="10497312" y="3931920"/>
            <a:ext cx="822960" cy="274320"/>
          </a:xfrm>
          <a:prstGeom prst="rect">
            <a:avLst/>
          </a:prstGeom>
          <a:noFill/>
          <a:ln/>
        </p:spPr>
        <p:txBody>
          <a:bodyPr wrap="square" lIns="0" tIns="0" rIns="0" bIns="0" rtlCol="0" anchor="t"/>
          <a:lstStyle/>
          <a:p>
            <a:pPr algn="ctr" indent="0" marL="0">
              <a:buNone/>
            </a:pPr>
            <a:r>
              <a:rPr lang="en-US" sz="1200" dirty="0">
                <a:solidFill>
                  <a:srgbClr val="6B7785"/>
                </a:solidFill>
              </a:rPr>
              <a:t>core B</a:t>
            </a:r>
            <a:endParaRPr lang="en-US" sz="1200" dirty="0"/>
          </a:p>
        </p:txBody>
      </p:sp>
      <p:sp>
        <p:nvSpPr>
          <p:cNvPr id="31" name="text-135"/>
          <p:cNvSpPr txBox="1"/>
          <p:nvPr/>
        </p:nvSpPr>
        <p:spPr>
          <a:xfrm>
            <a:off x="6565392" y="4434840"/>
            <a:ext cx="4800600" cy="822960"/>
          </a:xfrm>
          <a:prstGeom prst="rect">
            <a:avLst/>
          </a:prstGeom>
          <a:noFill/>
          <a:ln/>
        </p:spPr>
        <p:txBody>
          <a:bodyPr wrap="square" lIns="0" tIns="0" rIns="0" bIns="0" rtlCol="0" anchor="t"/>
          <a:lstStyle/>
          <a:p>
            <a:pPr indent="0" marL="0">
              <a:buNone/>
            </a:pPr>
            <a:r>
              <a:rPr lang="en-US" sz="1500" dirty="0">
                <a:solidFill>
                  <a:schemeClr val="tx1"/>
                </a:solidFill>
              </a:rPr>
              <a:t>One set of directions serves all tasks; each task keeps a tiny R×R core. Every task keeps something, even in a crowded slot.</a:t>
            </a:r>
            <a:endParaRPr lang="en-US" sz="1500" dirty="0"/>
          </a:p>
        </p:txBody>
      </p:sp>
      <p:sp>
        <p:nvSpPr>
          <p:cNvPr id="32" name="text-136"/>
          <p:cNvSpPr txBox="1"/>
          <p:nvPr/>
        </p:nvSpPr>
        <p:spPr>
          <a:xfrm>
            <a:off x="548640" y="553212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Prior work: split is close to TSV-C (CVPR 2025); K-Share is close to JD-Full in Compress then Serve (ICML 2025). New, to our knowledge: testing them inside K-Merge's continual setting.</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Test 1: WHO vs HOW</a:t>
            </a:r>
            <a:endParaRPr lang="en-US" sz="3200" dirty="0"/>
          </a:p>
        </p:txBody>
      </p:sp>
      <p:graphicFrame>
        <p:nvGraphicFramePr>
          <p:cNvPr id="3" name="Chart 0" descr=""/>
          <p:cNvGraphicFramePr/>
          <p:nvPr/>
        </p:nvGraphicFramePr>
        <p:xfrm>
          <a:off x="548640" y="123444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4" name="card-137"/>
          <p:cNvSpPr/>
          <p:nvPr/>
        </p:nvSpPr>
        <p:spPr>
          <a:xfrm>
            <a:off x="8458200" y="1325880"/>
            <a:ext cx="3182112" cy="1874520"/>
          </a:xfrm>
          <a:prstGeom prst="roundRect">
            <a:avLst>
              <a:gd name="adj" fmla="val 5854"/>
            </a:avLst>
          </a:prstGeom>
          <a:solidFill>
            <a:schemeClr val="bg2"/>
          </a:solidFill>
          <a:ln w="12700">
            <a:solidFill>
              <a:schemeClr val="bg2"/>
            </a:solidFill>
            <a:prstDash val="solid"/>
          </a:ln>
        </p:spPr>
      </p:sp>
      <p:sp>
        <p:nvSpPr>
          <p:cNvPr id="5" name="text-138"/>
          <p:cNvSpPr txBox="1"/>
          <p:nvPr/>
        </p:nvSpPr>
        <p:spPr>
          <a:xfrm>
            <a:off x="8686800" y="1417320"/>
            <a:ext cx="2724912" cy="169164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+4.5</a:t>
            </a:r>
            <a:endParaRPr lang="en-US" sz="1500" dirty="0"/>
          </a:p>
          <a:p>
            <a:pPr indent="0" marL="0">
              <a:buNone/>
            </a:pPr>
            <a:r>
              <a:rPr lang="en-US" sz="1500" dirty="0">
                <a:solidFill>
                  <a:schemeClr val="tx1"/>
                </a:solidFill>
              </a:rPr>
              <a:t>best gain from choosing a better partner</a:t>
            </a:r>
            <a:endParaRPr lang="en-US" sz="1500" dirty="0"/>
          </a:p>
        </p:txBody>
      </p:sp>
      <p:sp>
        <p:nvSpPr>
          <p:cNvPr id="6" name="card-139"/>
          <p:cNvSpPr/>
          <p:nvPr/>
        </p:nvSpPr>
        <p:spPr>
          <a:xfrm>
            <a:off x="8458200" y="3383280"/>
            <a:ext cx="3182112" cy="1874520"/>
          </a:xfrm>
          <a:prstGeom prst="roundRect">
            <a:avLst>
              <a:gd name="adj" fmla="val 5854"/>
            </a:avLst>
          </a:prstGeom>
          <a:solidFill>
            <a:schemeClr val="bg2"/>
          </a:solidFill>
          <a:ln w="12700">
            <a:solidFill>
              <a:schemeClr val="bg2"/>
            </a:solidFill>
            <a:prstDash val="solid"/>
          </a:ln>
        </p:spPr>
      </p:sp>
      <p:sp>
        <p:nvSpPr>
          <p:cNvPr id="7" name="text-140"/>
          <p:cNvSpPr txBox="1"/>
          <p:nvPr/>
        </p:nvSpPr>
        <p:spPr>
          <a:xfrm>
            <a:off x="8686800" y="3474720"/>
            <a:ext cx="2724912" cy="16916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+17.6</a:t>
            </a:r>
            <a:endParaRPr lang="en-US" sz="1500" dirty="0"/>
          </a:p>
          <a:p>
            <a:pPr indent="0" marL="0">
              <a:buNone/>
            </a:pPr>
            <a:r>
              <a:rPr lang="en-US" sz="1500" dirty="0">
                <a:solidFill>
                  <a:schemeClr val="tx1"/>
                </a:solidFill>
              </a:rPr>
              <a:t>gain from sharing the slot, same partner</a:t>
            </a:r>
            <a:endParaRPr lang="en-US" sz="1500" dirty="0"/>
          </a:p>
        </p:txBody>
      </p:sp>
      <p:sp>
        <p:nvSpPr>
          <p:cNvPr id="8" name="text-141"/>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4 languages into K = 2 slots, all 24 arrival orders x 3 seeds, Qwen2.5-0.5B. On 1.5B: K-Merge 96.1, global partner 95.7, oracle 97.2, smarter merge 98.1, sharing 99.4.</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Why not a better similarity score?</a:t>
            </a:r>
            <a:endParaRPr lang="en-US" sz="3200" dirty="0"/>
          </a:p>
        </p:txBody>
      </p:sp>
      <p:sp>
        <p:nvSpPr>
          <p:cNvPr id="3" name="card-142"/>
          <p:cNvSpPr/>
          <p:nvPr/>
        </p:nvSpPr>
        <p:spPr>
          <a:xfrm>
            <a:off x="548640" y="1371600"/>
            <a:ext cx="5349240" cy="1691640"/>
          </a:xfrm>
          <a:prstGeom prst="roundRect">
            <a:avLst>
              <a:gd name="adj" fmla="val 6486"/>
            </a:avLst>
          </a:prstGeom>
          <a:solidFill>
            <a:schemeClr val="bg2"/>
          </a:solidFill>
          <a:ln w="12700">
            <a:solidFill>
              <a:schemeClr val="bg2"/>
            </a:solidFill>
            <a:prstDash val="solid"/>
          </a:ln>
        </p:spPr>
      </p:sp>
      <p:sp>
        <p:nvSpPr>
          <p:cNvPr id="4" name="text-143"/>
          <p:cNvSpPr txBox="1"/>
          <p:nvPr/>
        </p:nvSpPr>
        <p:spPr>
          <a:xfrm>
            <a:off x="822960" y="1536192"/>
            <a:ext cx="480060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+0.44  →  −0.34</a:t>
            </a:r>
            <a:endParaRPr lang="en-US" sz="3000" dirty="0"/>
          </a:p>
        </p:txBody>
      </p:sp>
      <p:sp>
        <p:nvSpPr>
          <p:cNvPr id="5" name="text-144"/>
          <p:cNvSpPr txBox="1"/>
          <p:nvPr/>
        </p:nvSpPr>
        <p:spPr>
          <a:xfrm>
            <a:off x="822960" y="2176272"/>
            <a:ext cx="4800600" cy="822960"/>
          </a:xfrm>
          <a:prstGeom prst="rect">
            <a:avLst/>
          </a:prstGeom>
          <a:noFill/>
          <a:ln/>
        </p:spPr>
        <p:txBody>
          <a:bodyPr wrap="square" lIns="0" tIns="0" rIns="0" bIns="0" rtlCol="0" anchor="t"/>
          <a:lstStyle/>
          <a:p>
            <a:pPr indent="0" marL="0">
              <a:buNone/>
            </a:pPr>
            <a:r>
              <a:rPr lang="en-US" sz="1500" dirty="0">
                <a:solidFill>
                  <a:schemeClr val="tx1"/>
                </a:solidFill>
              </a:rPr>
              <a:t>On 0.5B, more similar pairs were damaged less (ρ = +0.44); on 1.5B, more (ρ = −0.34)</a:t>
            </a:r>
            <a:endParaRPr lang="en-US" sz="1500" dirty="0"/>
          </a:p>
        </p:txBody>
      </p:sp>
      <p:sp>
        <p:nvSpPr>
          <p:cNvPr id="6" name="card-145"/>
          <p:cNvSpPr/>
          <p:nvPr/>
        </p:nvSpPr>
        <p:spPr>
          <a:xfrm>
            <a:off x="6291072" y="1371600"/>
            <a:ext cx="5349240" cy="1691640"/>
          </a:xfrm>
          <a:prstGeom prst="roundRect">
            <a:avLst>
              <a:gd name="adj" fmla="val 6486"/>
            </a:avLst>
          </a:prstGeom>
          <a:solidFill>
            <a:schemeClr val="bg2"/>
          </a:solidFill>
          <a:ln w="12700">
            <a:solidFill>
              <a:schemeClr val="bg2"/>
            </a:solidFill>
            <a:prstDash val="solid"/>
          </a:ln>
        </p:spPr>
      </p:sp>
      <p:sp>
        <p:nvSpPr>
          <p:cNvPr id="7" name="text-146"/>
          <p:cNvSpPr txBox="1"/>
          <p:nvPr/>
        </p:nvSpPr>
        <p:spPr>
          <a:xfrm>
            <a:off x="6565392" y="1536192"/>
            <a:ext cx="480060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11 of 12</a:t>
            </a:r>
            <a:endParaRPr lang="en-US" sz="3000" dirty="0"/>
          </a:p>
        </p:txBody>
      </p:sp>
      <p:sp>
        <p:nvSpPr>
          <p:cNvPr id="8" name="text-147"/>
          <p:cNvSpPr txBox="1"/>
          <p:nvPr/>
        </p:nvSpPr>
        <p:spPr>
          <a:xfrm>
            <a:off x="6565392" y="2176272"/>
            <a:ext cx="4800600" cy="822960"/>
          </a:xfrm>
          <a:prstGeom prst="rect">
            <a:avLst/>
          </a:prstGeom>
          <a:noFill/>
          <a:ln/>
        </p:spPr>
        <p:txBody>
          <a:bodyPr wrap="square" lIns="0" tIns="0" rIns="0" bIns="0" rtlCol="0" anchor="t"/>
          <a:lstStyle/>
          <a:p>
            <a:pPr indent="0" marL="0">
              <a:buNone/>
            </a:pPr>
            <a:r>
              <a:rPr lang="en-US" sz="1500" dirty="0">
                <a:solidFill>
                  <a:schemeClr val="tx1"/>
                </a:solidFill>
              </a:rPr>
              <a:t>Real tasks the cosine rule packed into ONE slot (K = 2, clustered order, both seeds). There K-Merge kept 89–90%, sharing about 99%</a:t>
            </a:r>
            <a:endParaRPr lang="en-US" sz="1500" dirty="0"/>
          </a:p>
        </p:txBody>
      </p:sp>
      <p:sp>
        <p:nvSpPr>
          <p:cNvPr id="9" name="card-148"/>
          <p:cNvSpPr/>
          <p:nvPr/>
        </p:nvSpPr>
        <p:spPr>
          <a:xfrm>
            <a:off x="548640" y="3319272"/>
            <a:ext cx="5349240" cy="1691640"/>
          </a:xfrm>
          <a:prstGeom prst="roundRect">
            <a:avLst>
              <a:gd name="adj" fmla="val 6486"/>
            </a:avLst>
          </a:prstGeom>
          <a:solidFill>
            <a:schemeClr val="bg2"/>
          </a:solidFill>
          <a:ln w="12700">
            <a:solidFill>
              <a:schemeClr val="bg2"/>
            </a:solidFill>
            <a:prstDash val="solid"/>
          </a:ln>
        </p:spPr>
      </p:sp>
      <p:sp>
        <p:nvSpPr>
          <p:cNvPr id="10" name="text-149"/>
          <p:cNvSpPr txBox="1"/>
          <p:nvPr/>
        </p:nvSpPr>
        <p:spPr>
          <a:xfrm>
            <a:off x="822960" y="3483864"/>
            <a:ext cx="480060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 3.7 points</a:t>
            </a:r>
            <a:endParaRPr lang="en-US" sz="3000" dirty="0"/>
          </a:p>
        </p:txBody>
      </p:sp>
      <p:sp>
        <p:nvSpPr>
          <p:cNvPr id="11" name="text-150"/>
          <p:cNvSpPr txBox="1"/>
          <p:nvPr/>
        </p:nvSpPr>
        <p:spPr>
          <a:xfrm>
            <a:off x="822960" y="4123944"/>
            <a:ext cx="4800600" cy="822960"/>
          </a:xfrm>
          <a:prstGeom prst="rect">
            <a:avLst/>
          </a:prstGeom>
          <a:noFill/>
          <a:ln/>
        </p:spPr>
        <p:txBody>
          <a:bodyPr wrap="square" lIns="0" tIns="0" rIns="0" bIns="0" rtlCol="0" anchor="t"/>
          <a:lstStyle/>
          <a:p>
            <a:pPr indent="0" marL="0">
              <a:buNone/>
            </a:pPr>
            <a:r>
              <a:rPr lang="en-US" sz="1500" dirty="0">
                <a:solidFill>
                  <a:schemeClr val="tx1"/>
                </a:solidFill>
              </a:rPr>
              <a:t>The most an oracle partner choice with labelled data added to the weakest language</a:t>
            </a:r>
            <a:endParaRPr lang="en-US" sz="1500" dirty="0"/>
          </a:p>
        </p:txBody>
      </p:sp>
      <p:sp>
        <p:nvSpPr>
          <p:cNvPr id="12" name="card-151"/>
          <p:cNvSpPr/>
          <p:nvPr/>
        </p:nvSpPr>
        <p:spPr>
          <a:xfrm>
            <a:off x="6291072" y="3319272"/>
            <a:ext cx="5349240" cy="1691640"/>
          </a:xfrm>
          <a:prstGeom prst="roundRect">
            <a:avLst>
              <a:gd name="adj" fmla="val 6486"/>
            </a:avLst>
          </a:prstGeom>
          <a:solidFill>
            <a:schemeClr val="bg2"/>
          </a:solidFill>
          <a:ln w="12700">
            <a:solidFill>
              <a:schemeClr val="bg2"/>
            </a:solidFill>
            <a:prstDash val="solid"/>
          </a:ln>
        </p:spPr>
      </p:sp>
      <p:sp>
        <p:nvSpPr>
          <p:cNvPr id="13" name="text-152"/>
          <p:cNvSpPr txBox="1"/>
          <p:nvPr/>
        </p:nvSpPr>
        <p:spPr>
          <a:xfrm>
            <a:off x="6565392" y="3483864"/>
            <a:ext cx="480060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4.8%  ·  53.3%</a:t>
            </a:r>
            <a:endParaRPr lang="en-US" sz="3000" dirty="0"/>
          </a:p>
        </p:txBody>
      </p:sp>
      <p:sp>
        <p:nvSpPr>
          <p:cNvPr id="14" name="text-153"/>
          <p:cNvSpPr txBox="1"/>
          <p:nvPr/>
        </p:nvSpPr>
        <p:spPr>
          <a:xfrm>
            <a:off x="6565392" y="4123944"/>
            <a:ext cx="4800600" cy="822960"/>
          </a:xfrm>
          <a:prstGeom prst="rect">
            <a:avLst/>
          </a:prstGeom>
          <a:noFill/>
          <a:ln/>
        </p:spPr>
        <p:txBody>
          <a:bodyPr wrap="square" lIns="0" tIns="0" rIns="0" bIns="0" rtlCol="0" anchor="t"/>
          <a:lstStyle/>
          <a:p>
            <a:pPr indent="0" marL="0">
              <a:buNone/>
            </a:pPr>
            <a:r>
              <a:rPr lang="en-US" sz="1500" dirty="0">
                <a:solidFill>
                  <a:schemeClr val="tx1"/>
                </a:solidFill>
              </a:rPr>
              <a:t>Kept by a merge that used only LoRA weights as its statistics (0.5B · 1.5B): LoRA's A matrices mostly reflect their random start</a:t>
            </a:r>
            <a:endParaRPr lang="en-US" sz="1500" dirty="0"/>
          </a:p>
        </p:txBody>
      </p:sp>
      <p:sp>
        <p:nvSpPr>
          <p:cNvPr id="15" name="icon-bg-154"/>
          <p:cNvSpPr/>
          <p:nvPr/>
        </p:nvSpPr>
        <p:spPr>
          <a:xfrm>
            <a:off x="594360" y="5321808"/>
            <a:ext cx="731520" cy="731520"/>
          </a:xfrm>
          <a:prstGeom prst="ellipse">
            <a:avLst/>
          </a:prstGeom>
          <a:solidFill>
            <a:schemeClr val="bg2"/>
          </a:solidFill>
          <a:ln w="12700">
            <a:solidFill>
              <a:schemeClr val="bg2"/>
            </a:solidFill>
            <a:prstDash val="solid"/>
          </a:ln>
        </p:spPr>
      </p:sp>
      <p:pic>
        <p:nvPicPr>
          <p:cNvPr id="16" name="icon-crystal_ball-155" descr="crystal ball illustration">    </p:cNvPr>
          <p:cNvPicPr>
            <a:picLocks noChangeAspect="1"/>
          </p:cNvPicPr>
          <p:nvPr/>
        </p:nvPicPr>
        <p:blipFill>
          <a:blip r:embed="rId1"/>
          <a:stretch>
            <a:fillRect/>
          </a:stretch>
        </p:blipFill>
        <p:spPr>
          <a:xfrm>
            <a:off x="711403" y="5438851"/>
            <a:ext cx="497434" cy="497434"/>
          </a:xfrm>
          <a:prstGeom prst="rect">
            <a:avLst/>
          </a:prstGeom>
        </p:spPr>
      </p:pic>
      <p:sp>
        <p:nvSpPr>
          <p:cNvPr id="17" name="text-156"/>
          <p:cNvSpPr txBox="1"/>
          <p:nvPr/>
        </p:nvSpPr>
        <p:spPr>
          <a:xfrm>
            <a:off x="1508760" y="5349240"/>
            <a:ext cx="10088575" cy="685800"/>
          </a:xfrm>
          <a:prstGeom prst="rect">
            <a:avLst/>
          </a:prstGeom>
          <a:noFill/>
          <a:ln/>
        </p:spPr>
        <p:txBody>
          <a:bodyPr wrap="square" lIns="0" tIns="0" rIns="0" bIns="0" rtlCol="0" anchor="ctr"/>
          <a:lstStyle/>
          <a:p>
            <a:pPr indent="0" marL="0">
              <a:buNone/>
            </a:pPr>
            <a:r>
              <a:rPr lang="en-US" sz="1600" b="1" dirty="0">
                <a:solidFill>
                  <a:schemeClr val="tx1"/>
                </a:solidFill>
              </a:rPr>
              <a:t>Similarity only picks partners. Averaging does the damage. </a:t>
            </a:r>
            <a:pPr indent="0" marL="0">
              <a:buNone/>
            </a:pPr>
            <a:r>
              <a:rPr lang="en-US" sz="1600" dirty="0">
                <a:solidFill>
                  <a:schemeClr val="tx1"/>
                </a:solidFill>
              </a:rPr>
              <a:t>We do not claim cosine is useless in general; here it was neither stable nor the lever that mattered.</a:t>
            </a:r>
            <a:endParaRPr lang="en-US" sz="16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Test 2: 12 real tasks, same slots</a:t>
            </a:r>
            <a:endParaRPr lang="en-US" sz="3200" dirty="0"/>
          </a:p>
        </p:txBody>
      </p:sp>
      <p:graphicFrame>
        <p:nvGraphicFramePr>
          <p:cNvPr id="3" name="Chart 0" descr=""/>
          <p:cNvGraphicFramePr/>
          <p:nvPr/>
        </p:nvGraphicFramePr>
        <p:xfrm>
          <a:off x="548640" y="114300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53912" y="114300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5" name="card-157"/>
          <p:cNvSpPr/>
          <p:nvPr/>
        </p:nvSpPr>
        <p:spPr>
          <a:xfrm>
            <a:off x="548640" y="5074920"/>
            <a:ext cx="11094415" cy="713232"/>
          </a:xfrm>
          <a:prstGeom prst="roundRect">
            <a:avLst>
              <a:gd name="adj" fmla="val 15385"/>
            </a:avLst>
          </a:prstGeom>
          <a:solidFill>
            <a:schemeClr val="bg2"/>
          </a:solidFill>
          <a:ln w="12700">
            <a:solidFill>
              <a:schemeClr val="bg2"/>
            </a:solidFill>
            <a:prstDash val="solid"/>
          </a:ln>
        </p:spPr>
      </p:sp>
      <p:sp>
        <p:nvSpPr>
          <p:cNvPr id="6" name="text-158"/>
          <p:cNvSpPr txBox="1"/>
          <p:nvPr/>
        </p:nvSpPr>
        <p:spPr>
          <a:xfrm>
            <a:off x="822960" y="5074920"/>
            <a:ext cx="10545775" cy="713232"/>
          </a:xfrm>
          <a:prstGeom prst="rect">
            <a:avLst/>
          </a:prstGeom>
          <a:noFill/>
          <a:ln/>
        </p:spPr>
        <p:txBody>
          <a:bodyPr wrap="square" lIns="0" tIns="0" rIns="0" bIns="0" rtlCol="0" anchor="ctr"/>
          <a:lstStyle/>
          <a:p>
            <a:pPr indent="0" marL="0">
              <a:buNone/>
            </a:pPr>
            <a:r>
              <a:rPr lang="en-US" sz="1500" b="1" dirty="0">
                <a:solidFill>
                  <a:schemeClr val="tx1"/>
                </a:solidFill>
              </a:rPr>
              <a:t>Split vs K-Merge: </a:t>
            </a:r>
            <a:pPr indent="0" marL="0">
              <a:buNone/>
            </a:pPr>
            <a:r>
              <a:rPr lang="en-US" sz="1500" dirty="0">
                <a:solidFill>
                  <a:schemeClr val="tx1"/>
                </a:solidFill>
              </a:rPr>
              <a:t>+8.1 on average, +28.9 on the weakest task.   </a:t>
            </a:r>
            <a:pPr indent="0" marL="0">
              <a:buNone/>
            </a:pPr>
            <a:r>
              <a:rPr lang="en-US" sz="1500" b="1" dirty="0">
                <a:solidFill>
                  <a:schemeClr val="tx1"/>
                </a:solidFill>
              </a:rPr>
              <a:t>Split vs RegMean (best merge): </a:t>
            </a:r>
            <a:pPr indent="0" marL="0">
              <a:buNone/>
            </a:pPr>
            <a:r>
              <a:rPr lang="en-US" sz="1500" dirty="0">
                <a:solidFill>
                  <a:schemeClr val="tx1"/>
                </a:solidFill>
              </a:rPr>
              <a:t>+3.3 and +16.0.   All p &lt; 0.001 (paired bootstrap, Holm). K = 4 shows the same.</a:t>
            </a:r>
            <a:endParaRPr lang="en-US" sz="1500" dirty="0"/>
          </a:p>
        </p:txBody>
      </p:sp>
      <p:sp>
        <p:nvSpPr>
          <p:cNvPr id="7" name="text-159"/>
          <p:cNvSpPr txBox="1"/>
          <p:nvPr/>
        </p:nvSpPr>
        <p:spPr>
          <a:xfrm>
            <a:off x="548640" y="5870448"/>
            <a:ext cx="11094415" cy="438912"/>
          </a:xfrm>
          <a:prstGeom prst="rect">
            <a:avLst/>
          </a:prstGeom>
          <a:noFill/>
          <a:ln/>
        </p:spPr>
        <p:txBody>
          <a:bodyPr wrap="square" lIns="0" tIns="0" rIns="0" bIns="0" rtlCol="0" anchor="t"/>
          <a:lstStyle/>
          <a:p>
            <a:pPr indent="0" marL="0">
              <a:buNone/>
            </a:pPr>
            <a:r>
              <a:rPr lang="en-US" sz="1200" i="1" dirty="0">
                <a:solidFill>
                  <a:schemeClr val="tx1"/>
                </a:solidFill>
              </a:rPr>
              <a:t>RegMean, TIES, DARE: standard merging methods. Scores: edit F0.5 (grammar), ROUGE-L (summaries), token F1 (QA). K = 2 slots; Qwen2.5-1.5B-Instruct; 2 seeds x 2 arrival orders; every method uses K-Merge's own slot grouping.</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How much of the learning survives</a:t>
            </a:r>
            <a:endParaRPr lang="en-US" sz="3200" dirty="0"/>
          </a:p>
        </p:txBody>
      </p:sp>
      <p:graphicFrame>
        <p:nvGraphicFramePr>
          <p:cNvPr id="3" name="Chart 0" descr=""/>
          <p:cNvGraphicFramePr/>
          <p:nvPr/>
        </p:nvGraphicFramePr>
        <p:xfrm>
          <a:off x="548640" y="123444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4" name="card-160"/>
          <p:cNvSpPr/>
          <p:nvPr/>
        </p:nvSpPr>
        <p:spPr>
          <a:xfrm>
            <a:off x="7818120" y="1325880"/>
            <a:ext cx="3822192" cy="2148840"/>
          </a:xfrm>
          <a:prstGeom prst="roundRect">
            <a:avLst>
              <a:gd name="adj" fmla="val 5106"/>
            </a:avLst>
          </a:prstGeom>
          <a:solidFill>
            <a:schemeClr val="bg2"/>
          </a:solidFill>
          <a:ln w="12700">
            <a:solidFill>
              <a:schemeClr val="bg2"/>
            </a:solidFill>
            <a:prstDash val="solid"/>
          </a:ln>
        </p:spPr>
      </p:sp>
      <p:sp>
        <p:nvSpPr>
          <p:cNvPr id="5" name="text-161"/>
          <p:cNvSpPr txBox="1"/>
          <p:nvPr/>
        </p:nvSpPr>
        <p:spPr>
          <a:xfrm>
            <a:off x="8046720" y="1463040"/>
            <a:ext cx="3429000" cy="1920240"/>
          </a:xfrm>
          <a:prstGeom prst="rect">
            <a:avLst/>
          </a:prstGeom>
          <a:noFill/>
          <a:ln/>
        </p:spPr>
        <p:txBody>
          <a:bodyPr wrap="square" lIns="0" tIns="0" rIns="0" bIns="0" rtlCol="0" anchor="ctr"/>
          <a:lstStyle/>
          <a:p>
            <a:pPr indent="0" marL="0">
              <a:buNone/>
            </a:pPr>
            <a:r>
              <a:rPr lang="en-US" sz="1700" b="1" dirty="0">
                <a:solidFill>
                  <a:schemeClr val="tx1"/>
                </a:solidFill>
              </a:rPr>
              <a:t>Grammar correction</a:t>
            </a:r>
            <a:endParaRPr lang="en-US" sz="1700" dirty="0"/>
          </a:p>
          <a:p>
            <a:pPr indent="0" marL="0">
              <a:buNone/>
            </a:pPr>
            <a:r>
              <a:rPr lang="en-US" sz="3600" b="1" dirty="0">
                <a:solidFill>
                  <a:schemeClr val="accent2"/>
                </a:solidFill>
                <a:latin typeface="Cambria" pitchFamily="34" charset="0"/>
                <a:ea typeface="Cambria" pitchFamily="34" charset="-122"/>
                <a:cs typeface="Cambria" pitchFamily="34" charset="-120"/>
              </a:rPr>
              <a:t>36%</a:t>
            </a:r>
            <a:pPr indent="0" marL="0">
              <a:buNone/>
            </a:pPr>
            <a:r>
              <a:rPr lang="en-US" sz="1400" dirty="0">
                <a:solidFill>
                  <a:schemeClr val="tx1"/>
                </a:solidFill>
              </a:rPr>
              <a:t>  K-Merge</a:t>
            </a:r>
            <a:endParaRPr lang="en-US" sz="1700" dirty="0"/>
          </a:p>
          <a:p>
            <a:pPr indent="0" marL="0">
              <a:buNone/>
            </a:pPr>
            <a:r>
              <a:rPr lang="en-US" sz="3600" b="1" dirty="0">
                <a:solidFill>
                  <a:schemeClr val="accent1"/>
                </a:solidFill>
                <a:latin typeface="Cambria" pitchFamily="34" charset="0"/>
                <a:ea typeface="Cambria" pitchFamily="34" charset="-122"/>
                <a:cs typeface="Cambria" pitchFamily="34" charset="-120"/>
              </a:rPr>
              <a:t>93–94%</a:t>
            </a:r>
            <a:pPr indent="0" marL="0">
              <a:buNone/>
            </a:pPr>
            <a:r>
              <a:rPr lang="en-US" sz="1400" dirty="0">
                <a:solidFill>
                  <a:schemeClr val="tx1"/>
                </a:solidFill>
              </a:rPr>
              <a:t>  sharing</a:t>
            </a:r>
            <a:endParaRPr lang="en-US" sz="1700" dirty="0"/>
          </a:p>
        </p:txBody>
      </p:sp>
      <p:sp>
        <p:nvSpPr>
          <p:cNvPr id="6" name="card-162"/>
          <p:cNvSpPr/>
          <p:nvPr/>
        </p:nvSpPr>
        <p:spPr>
          <a:xfrm>
            <a:off x="7818120" y="3657600"/>
            <a:ext cx="3822192" cy="2103120"/>
          </a:xfrm>
          <a:prstGeom prst="roundRect">
            <a:avLst>
              <a:gd name="adj" fmla="val 5217"/>
            </a:avLst>
          </a:prstGeom>
          <a:solidFill>
            <a:schemeClr val="bg1"/>
          </a:solidFill>
          <a:ln w="12700">
            <a:solidFill>
              <a:schemeClr val="accent5"/>
            </a:solidFill>
            <a:prstDash val="solid"/>
          </a:ln>
        </p:spPr>
      </p:sp>
      <p:sp>
        <p:nvSpPr>
          <p:cNvPr id="7" name="text-163"/>
          <p:cNvSpPr txBox="1"/>
          <p:nvPr/>
        </p:nvSpPr>
        <p:spPr>
          <a:xfrm>
            <a:off x="8046720" y="3767328"/>
            <a:ext cx="3429000" cy="1874520"/>
          </a:xfrm>
          <a:prstGeom prst="rect">
            <a:avLst/>
          </a:prstGeom>
          <a:noFill/>
          <a:ln/>
        </p:spPr>
        <p:txBody>
          <a:bodyPr wrap="square" lIns="0" tIns="0" rIns="0" bIns="0" rtlCol="0" anchor="t"/>
          <a:lstStyle/>
          <a:p>
            <a:pPr indent="0" marL="0">
              <a:buNone/>
            </a:pPr>
            <a:r>
              <a:rPr lang="en-US" sz="1500" b="1" dirty="0">
                <a:solidFill>
                  <a:schemeClr val="tx1"/>
                </a:solidFill>
              </a:rPr>
              <a:t>Why this measure? </a:t>
            </a:r>
            <a:pPr indent="0" marL="0">
              <a:buNone/>
            </a:pPr>
            <a:r>
              <a:rPr lang="en-US" sz="1500" dirty="0">
                <a:solidFill>
                  <a:schemeClr val="tx1"/>
                </a:solidFill>
              </a:rPr>
              <a:t>The base model alone already reaches 79% of the adapters' scores, so "% of own adapter" flatters every method. Counting only the gain shows the real gap.</a:t>
            </a:r>
            <a:endParaRPr lang="en-US" sz="1500" dirty="0"/>
          </a:p>
        </p:txBody>
      </p:sp>
      <p:sp>
        <p:nvSpPr>
          <p:cNvPr id="8" name="text-164"/>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Gain kept = (score after building the slot − base model) / (own adapter − base model), averaged over tasks, seeds and orders. Computed afterwards from the saved scores.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Same sentence, different method</a:t>
            </a:r>
            <a:endParaRPr lang="en-US" sz="3200" dirty="0"/>
          </a:p>
        </p:txBody>
      </p:sp>
      <p:graphicFrame>
        <p:nvGraphicFramePr>
          <p:cNvPr id="15" name="examples"/>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685800"/>
                <a:gridCol w="3520440"/>
                <a:gridCol w="3566160"/>
                <a:gridCol w="3319272"/>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Lang</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Learner sentence</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K-Merge output</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K-Share output</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r>
              <a:tr h="86868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EN</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 soon and I'll be </a:t>
                      </a:r>
                      <a:pPr indent="0" marL="0">
                        <a:buNone/>
                      </a:pPr>
                      <a:r>
                        <a:rPr lang="en-US" sz="1300" b="1" dirty="0">
                          <a:solidFill>
                            <a:schemeClr val="accent2"/>
                          </a:solidFill>
                          <a:latin typeface="Calibri" pitchFamily="34" charset="0"/>
                          <a:ea typeface="Calibri" pitchFamily="34" charset="-122"/>
                          <a:cs typeface="Calibri" pitchFamily="34" charset="-120"/>
                        </a:rPr>
                        <a:t>capable of talking</a:t>
                      </a:r>
                      <a:pPr indent="0" marL="0">
                        <a:buNone/>
                      </a:pPr>
                      <a:r>
                        <a:rPr lang="en-US" sz="1300" dirty="0">
                          <a:solidFill>
                            <a:srgbClr val="1B263B"/>
                          </a:solidFill>
                          <a:latin typeface="Calibri" pitchFamily="34" charset="0"/>
                          <a:ea typeface="Calibri" pitchFamily="34" charset="-122"/>
                          <a:cs typeface="Calibri" pitchFamily="34" charset="-120"/>
                        </a:rPr>
                        <a:t> to you about this experience.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 soon, and I'll be </a:t>
                      </a:r>
                      <a:pPr indent="0" marL="0">
                        <a:buNone/>
                      </a:pPr>
                      <a:r>
                        <a:rPr lang="en-US" sz="1300" b="1" dirty="0">
                          <a:solidFill>
                            <a:schemeClr val="accent2"/>
                          </a:solidFill>
                          <a:latin typeface="Calibri" pitchFamily="34" charset="0"/>
                          <a:ea typeface="Calibri" pitchFamily="34" charset="-122"/>
                          <a:cs typeface="Calibri" pitchFamily="34" charset="-120"/>
                        </a:rPr>
                        <a:t>capable of talking</a:t>
                      </a:r>
                      <a:pPr indent="0" marL="0">
                        <a:buNone/>
                      </a:pPr>
                      <a:r>
                        <a:rPr lang="en-US" sz="1300" dirty="0">
                          <a:solidFill>
                            <a:srgbClr val="1B263B"/>
                          </a:solidFill>
                          <a:latin typeface="Calibri" pitchFamily="34" charset="0"/>
                          <a:ea typeface="Calibri" pitchFamily="34" charset="-122"/>
                          <a:cs typeface="Calibri" pitchFamily="34" charset="-120"/>
                        </a:rPr>
                        <a:t> to you about this experience.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 soon and I'll be </a:t>
                      </a:r>
                      <a:pPr indent="0" marL="0">
                        <a:buNone/>
                      </a:pPr>
                      <a:r>
                        <a:rPr lang="en-US" sz="1300" b="1" dirty="0">
                          <a:solidFill>
                            <a:schemeClr val="accent1"/>
                          </a:solidFill>
                          <a:latin typeface="Calibri" pitchFamily="34" charset="0"/>
                          <a:ea typeface="Calibri" pitchFamily="34" charset="-122"/>
                          <a:cs typeface="Calibri" pitchFamily="34" charset="-120"/>
                        </a:rPr>
                        <a:t>able to talk</a:t>
                      </a:r>
                      <a:pPr indent="0" marL="0">
                        <a:buNone/>
                      </a:pPr>
                      <a:r>
                        <a:rPr lang="en-US" sz="1300" dirty="0">
                          <a:solidFill>
                            <a:srgbClr val="1B263B"/>
                          </a:solidFill>
                          <a:latin typeface="Calibri" pitchFamily="34" charset="0"/>
                          <a:ea typeface="Calibri" pitchFamily="34" charset="-122"/>
                          <a:cs typeface="Calibri" pitchFamily="34" charset="-120"/>
                        </a:rPr>
                        <a:t> to you about this experience.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DE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Wie oft hat die heutige Jugend </a:t>
                      </a:r>
                      <a:pPr indent="0" marL="0">
                        <a:buNone/>
                      </a:pPr>
                      <a:r>
                        <a:rPr lang="en-US" sz="1300" b="1" dirty="0">
                          <a:solidFill>
                            <a:schemeClr val="accent2"/>
                          </a:solidFill>
                          <a:latin typeface="Calibri" pitchFamily="34" charset="0"/>
                          <a:ea typeface="Calibri" pitchFamily="34" charset="-122"/>
                          <a:cs typeface="Calibri" pitchFamily="34" charset="-120"/>
                        </a:rPr>
                        <a:t>diese Satz</a:t>
                      </a:r>
                      <a:pPr indent="0" marL="0">
                        <a:buNone/>
                      </a:pPr>
                      <a:r>
                        <a:rPr lang="en-US" sz="1300" dirty="0">
                          <a:solidFill>
                            <a:srgbClr val="1B263B"/>
                          </a:solidFill>
                          <a:latin typeface="Calibri" pitchFamily="34" charset="0"/>
                          <a:ea typeface="Calibri" pitchFamily="34" charset="-122"/>
                          <a:cs typeface="Calibri" pitchFamily="34" charset="-120"/>
                        </a:rPr>
                        <a:t> gehört?</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Wie oft hat die heutige Jugend </a:t>
                      </a:r>
                      <a:pPr indent="0" marL="0">
                        <a:buNone/>
                      </a:pPr>
                      <a:r>
                        <a:rPr lang="en-US" sz="1300" b="1" dirty="0">
                          <a:solidFill>
                            <a:schemeClr val="accent2"/>
                          </a:solidFill>
                          <a:latin typeface="Calibri" pitchFamily="34" charset="0"/>
                          <a:ea typeface="Calibri" pitchFamily="34" charset="-122"/>
                          <a:cs typeface="Calibri" pitchFamily="34" charset="-120"/>
                        </a:rPr>
                        <a:t>diese Satz</a:t>
                      </a:r>
                      <a:pPr indent="0" marL="0">
                        <a:buNone/>
                      </a:pPr>
                      <a:r>
                        <a:rPr lang="en-US" sz="1300" dirty="0">
                          <a:solidFill>
                            <a:srgbClr val="1B263B"/>
                          </a:solidFill>
                          <a:latin typeface="Calibri" pitchFamily="34" charset="0"/>
                          <a:ea typeface="Calibri" pitchFamily="34" charset="-122"/>
                          <a:cs typeface="Calibri" pitchFamily="34" charset="-120"/>
                        </a:rPr>
                        <a:t> gehört?  (unchanged)</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Wie oft hat die heutige Jugend </a:t>
                      </a:r>
                      <a:pPr indent="0" marL="0">
                        <a:buNone/>
                      </a:pPr>
                      <a:r>
                        <a:rPr lang="en-US" sz="1300" b="1" dirty="0">
                          <a:solidFill>
                            <a:schemeClr val="accent1"/>
                          </a:solidFill>
                          <a:latin typeface="Calibri" pitchFamily="34" charset="0"/>
                          <a:ea typeface="Calibri" pitchFamily="34" charset="-122"/>
                          <a:cs typeface="Calibri" pitchFamily="34" charset="-120"/>
                        </a:rPr>
                        <a:t>diesen Satz</a:t>
                      </a:r>
                      <a:pPr indent="0" marL="0">
                        <a:buNone/>
                      </a:pPr>
                      <a:r>
                        <a:rPr lang="en-US" sz="1300" dirty="0">
                          <a:solidFill>
                            <a:srgbClr val="1B263B"/>
                          </a:solidFill>
                          <a:latin typeface="Calibri" pitchFamily="34" charset="0"/>
                          <a:ea typeface="Calibri" pitchFamily="34" charset="-122"/>
                          <a:cs typeface="Calibri" pitchFamily="34" charset="-120"/>
                        </a:rPr>
                        <a:t> gehört?</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ES</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El </a:t>
                      </a:r>
                      <a:pPr indent="0" marL="0">
                        <a:buNone/>
                      </a:pPr>
                      <a:r>
                        <a:rPr lang="en-US" sz="1300" b="1" dirty="0">
                          <a:solidFill>
                            <a:schemeClr val="accent2"/>
                          </a:solidFill>
                          <a:latin typeface="Calibri" pitchFamily="34" charset="0"/>
                          <a:ea typeface="Calibri" pitchFamily="34" charset="-122"/>
                          <a:cs typeface="Calibri" pitchFamily="34" charset="-120"/>
                        </a:rPr>
                        <a:t>dia</a:t>
                      </a:r>
                      <a:pPr indent="0" marL="0">
                        <a:buNone/>
                      </a:pPr>
                      <a:r>
                        <a:rPr lang="en-US" sz="1300" dirty="0">
                          <a:solidFill>
                            <a:srgbClr val="1B263B"/>
                          </a:solidFill>
                          <a:latin typeface="Calibri" pitchFamily="34" charset="0"/>
                          <a:ea typeface="Calibri" pitchFamily="34" charset="-122"/>
                          <a:cs typeface="Calibri" pitchFamily="34" charset="-120"/>
                        </a:rPr>
                        <a:t> era muy terrible y yo estaba muy triste.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El día era muy </a:t>
                      </a:r>
                      <a:pPr indent="0" marL="0">
                        <a:buNone/>
                      </a:pPr>
                      <a:r>
                        <a:rPr lang="en-US" sz="1300" b="1" dirty="0">
                          <a:solidFill>
                            <a:schemeClr val="accent2"/>
                          </a:solidFill>
                          <a:latin typeface="Calibri" pitchFamily="34" charset="0"/>
                          <a:ea typeface="Calibri" pitchFamily="34" charset="-122"/>
                          <a:cs typeface="Calibri" pitchFamily="34" charset="-120"/>
                        </a:rPr>
                        <a:t>triste</a:t>
                      </a:r>
                      <a:pPr indent="0" marL="0">
                        <a:buNone/>
                      </a:pPr>
                      <a:r>
                        <a:rPr lang="en-US" sz="1300" dirty="0">
                          <a:solidFill>
                            <a:srgbClr val="1B263B"/>
                          </a:solidFill>
                          <a:latin typeface="Calibri" pitchFamily="34" charset="0"/>
                          <a:ea typeface="Calibri" pitchFamily="34" charset="-122"/>
                          <a:cs typeface="Calibri" pitchFamily="34" charset="-120"/>
                        </a:rPr>
                        <a:t> y yo estaba muy triste.  (meaning changed)</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El </a:t>
                      </a:r>
                      <a:pPr indent="0" marL="0">
                        <a:buNone/>
                      </a:pPr>
                      <a:r>
                        <a:rPr lang="en-US" sz="1300" b="1" dirty="0">
                          <a:solidFill>
                            <a:schemeClr val="accent1"/>
                          </a:solidFill>
                          <a:latin typeface="Calibri" pitchFamily="34" charset="0"/>
                          <a:ea typeface="Calibri" pitchFamily="34" charset="-122"/>
                          <a:cs typeface="Calibri" pitchFamily="34" charset="-120"/>
                        </a:rPr>
                        <a:t>día</a:t>
                      </a:r>
                      <a:pPr indent="0" marL="0">
                        <a:buNone/>
                      </a:pPr>
                      <a:r>
                        <a:rPr lang="en-US" sz="1300" dirty="0">
                          <a:solidFill>
                            <a:srgbClr val="1B263B"/>
                          </a:solidFill>
                          <a:latin typeface="Calibri" pitchFamily="34" charset="0"/>
                          <a:ea typeface="Calibri" pitchFamily="34" charset="-122"/>
                          <a:cs typeface="Calibri" pitchFamily="34" charset="-120"/>
                        </a:rPr>
                        <a:t> era muy terrible y yo estaba muy triste.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IT</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Mi piace </a:t>
                      </a:r>
                      <a:pPr indent="0" marL="0">
                        <a:buNone/>
                      </a:pPr>
                      <a:r>
                        <a:rPr lang="en-US" sz="1300" b="1" dirty="0">
                          <a:solidFill>
                            <a:schemeClr val="accent2"/>
                          </a:solidFill>
                          <a:latin typeface="Calibri" pitchFamily="34" charset="0"/>
                          <a:ea typeface="Calibri" pitchFamily="34" charset="-122"/>
                          <a:cs typeface="Calibri" pitchFamily="34" charset="-120"/>
                        </a:rPr>
                        <a:t>di</a:t>
                      </a:r>
                      <a:pPr indent="0" marL="0">
                        <a:buNone/>
                      </a:pPr>
                      <a:r>
                        <a:rPr lang="en-US" sz="1300" dirty="0">
                          <a:solidFill>
                            <a:srgbClr val="1B263B"/>
                          </a:solidFill>
                          <a:latin typeface="Calibri" pitchFamily="34" charset="0"/>
                          <a:ea typeface="Calibri" pitchFamily="34" charset="-122"/>
                          <a:cs typeface="Calibri" pitchFamily="34" charset="-120"/>
                        </a:rPr>
                        <a:t> rivedervi e </a:t>
                      </a:r>
                      <a:pPr indent="0" marL="0">
                        <a:buNone/>
                      </a:pPr>
                      <a:r>
                        <a:rPr lang="en-US" sz="1300" b="1" dirty="0">
                          <a:solidFill>
                            <a:schemeClr val="accent2"/>
                          </a:solidFill>
                          <a:latin typeface="Calibri" pitchFamily="34" charset="0"/>
                          <a:ea typeface="Calibri" pitchFamily="34" charset="-122"/>
                          <a:cs typeface="Calibri" pitchFamily="34" charset="-120"/>
                        </a:rPr>
                        <a:t>di</a:t>
                      </a:r>
                      <a:pPr indent="0" marL="0">
                        <a:buNone/>
                      </a:pPr>
                      <a:r>
                        <a:rPr lang="en-US" sz="1300" dirty="0">
                          <a:solidFill>
                            <a:srgbClr val="1B263B"/>
                          </a:solidFill>
                          <a:latin typeface="Calibri" pitchFamily="34" charset="0"/>
                          <a:ea typeface="Calibri" pitchFamily="34" charset="-122"/>
                          <a:cs typeface="Calibri" pitchFamily="34" charset="-120"/>
                        </a:rPr>
                        <a:t> festeggiare insieme.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Mi piace </a:t>
                      </a:r>
                      <a:pPr indent="0" marL="0">
                        <a:buNone/>
                      </a:pPr>
                      <a:r>
                        <a:rPr lang="en-US" sz="1300" b="1" dirty="0">
                          <a:solidFill>
                            <a:schemeClr val="accent2"/>
                          </a:solidFill>
                          <a:latin typeface="Calibri" pitchFamily="34" charset="0"/>
                          <a:ea typeface="Calibri" pitchFamily="34" charset="-122"/>
                          <a:cs typeface="Calibri" pitchFamily="34" charset="-120"/>
                        </a:rPr>
                        <a:t>di</a:t>
                      </a:r>
                      <a:pPr indent="0" marL="0">
                        <a:buNone/>
                      </a:pPr>
                      <a:r>
                        <a:rPr lang="en-US" sz="1300" dirty="0">
                          <a:solidFill>
                            <a:srgbClr val="1B263B"/>
                          </a:solidFill>
                          <a:latin typeface="Calibri" pitchFamily="34" charset="0"/>
                          <a:ea typeface="Calibri" pitchFamily="34" charset="-122"/>
                          <a:cs typeface="Calibri" pitchFamily="34" charset="-120"/>
                        </a:rPr>
                        <a:t> rivedervi e </a:t>
                      </a:r>
                      <a:pPr indent="0" marL="0">
                        <a:buNone/>
                      </a:pPr>
                      <a:r>
                        <a:rPr lang="en-US" sz="1300" b="1" dirty="0">
                          <a:solidFill>
                            <a:schemeClr val="accent2"/>
                          </a:solidFill>
                          <a:latin typeface="Calibri" pitchFamily="34" charset="0"/>
                          <a:ea typeface="Calibri" pitchFamily="34" charset="-122"/>
                          <a:cs typeface="Calibri" pitchFamily="34" charset="-120"/>
                        </a:rPr>
                        <a:t>di</a:t>
                      </a:r>
                      <a:pPr indent="0" marL="0">
                        <a:buNone/>
                      </a:pPr>
                      <a:r>
                        <a:rPr lang="en-US" sz="1300" dirty="0">
                          <a:solidFill>
                            <a:srgbClr val="1B263B"/>
                          </a:solidFill>
                          <a:latin typeface="Calibri" pitchFamily="34" charset="0"/>
                          <a:ea typeface="Calibri" pitchFamily="34" charset="-122"/>
                          <a:cs typeface="Calibri" pitchFamily="34" charset="-120"/>
                        </a:rPr>
                        <a:t> festeggiare insieme.  (unchanged)</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Mi piace </a:t>
                      </a:r>
                      <a:pPr indent="0" marL="0">
                        <a:buNone/>
                      </a:pPr>
                      <a:r>
                        <a:rPr lang="en-US" sz="1300" b="1" dirty="0">
                          <a:solidFill>
                            <a:schemeClr val="accent1"/>
                          </a:solidFill>
                          <a:latin typeface="Calibri" pitchFamily="34" charset="0"/>
                          <a:ea typeface="Calibri" pitchFamily="34" charset="-122"/>
                          <a:cs typeface="Calibri" pitchFamily="34" charset="-120"/>
                        </a:rPr>
                        <a:t>rivedervi</a:t>
                      </a:r>
                      <a:pPr indent="0" marL="0">
                        <a:buNone/>
                      </a:pPr>
                      <a:r>
                        <a:rPr lang="en-US" sz="1300" dirty="0">
                          <a:solidFill>
                            <a:srgbClr val="1B263B"/>
                          </a:solidFill>
                          <a:latin typeface="Calibri" pitchFamily="34" charset="0"/>
                          <a:ea typeface="Calibri" pitchFamily="34" charset="-122"/>
                          <a:cs typeface="Calibri" pitchFamily="34" charset="-120"/>
                        </a:rPr>
                        <a:t> e </a:t>
                      </a:r>
                      <a:pPr indent="0" marL="0">
                        <a:buNone/>
                      </a:pPr>
                      <a:r>
                        <a:rPr lang="en-US" sz="1300" b="1" dirty="0">
                          <a:solidFill>
                            <a:schemeClr val="accent1"/>
                          </a:solidFill>
                          <a:latin typeface="Calibri" pitchFamily="34" charset="0"/>
                          <a:ea typeface="Calibri" pitchFamily="34" charset="-122"/>
                          <a:cs typeface="Calibri" pitchFamily="34" charset="-120"/>
                        </a:rPr>
                        <a:t>festeggiare</a:t>
                      </a:r>
                      <a:pPr indent="0" marL="0">
                        <a:buNone/>
                      </a:pPr>
                      <a:r>
                        <a:rPr lang="en-US" sz="1300" dirty="0">
                          <a:solidFill>
                            <a:srgbClr val="1B263B"/>
                          </a:solidFill>
                          <a:latin typeface="Calibri" pitchFamily="34" charset="0"/>
                          <a:ea typeface="Calibri" pitchFamily="34" charset="-122"/>
                          <a:cs typeface="Calibri" pitchFamily="34" charset="-120"/>
                        </a:rPr>
                        <a:t> insieme.</a:t>
                      </a:r>
                      <a:endParaRPr lang="en-US" sz="13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card-165"/>
          <p:cNvSpPr/>
          <p:nvPr/>
        </p:nvSpPr>
        <p:spPr>
          <a:xfrm>
            <a:off x="548640" y="4937760"/>
            <a:ext cx="11094415" cy="822960"/>
          </a:xfrm>
          <a:prstGeom prst="roundRect">
            <a:avLst>
              <a:gd name="adj" fmla="val 13333"/>
            </a:avLst>
          </a:prstGeom>
          <a:solidFill>
            <a:schemeClr val="bg2"/>
          </a:solidFill>
          <a:ln w="12700">
            <a:solidFill>
              <a:schemeClr val="bg2"/>
            </a:solidFill>
            <a:prstDash val="solid"/>
          </a:ln>
        </p:spPr>
      </p:sp>
      <p:sp>
        <p:nvSpPr>
          <p:cNvPr id="5" name="text-166"/>
          <p:cNvSpPr txBox="1"/>
          <p:nvPr/>
        </p:nvSpPr>
        <p:spPr>
          <a:xfrm>
            <a:off x="822960" y="4937760"/>
            <a:ext cx="10545775" cy="822960"/>
          </a:xfrm>
          <a:prstGeom prst="rect">
            <a:avLst/>
          </a:prstGeom>
          <a:noFill/>
          <a:ln/>
        </p:spPr>
        <p:txBody>
          <a:bodyPr wrap="square" lIns="0" tIns="0" rIns="0" bIns="0" rtlCol="0" anchor="ctr"/>
          <a:lstStyle/>
          <a:p>
            <a:pPr indent="0" marL="0">
              <a:buNone/>
            </a:pPr>
            <a:r>
              <a:rPr lang="en-US" sz="1600" b="1" dirty="0">
                <a:solidFill>
                  <a:schemeClr val="tx1"/>
                </a:solidFill>
              </a:rPr>
              <a:t>Fully correct sentences (all 4 grammar tasks, K = 2):  </a:t>
            </a:r>
            <a:pPr indent="0" marL="0">
              <a:buNone/>
            </a:pPr>
            <a:r>
              <a:rPr lang="en-US" sz="1600" dirty="0">
                <a:solidFill>
                  <a:schemeClr val="tx1"/>
                </a:solidFill>
              </a:rPr>
              <a:t>own adapter 34.6%  ·  K-Share 33.9%  ·  RegMean 28.9%  ·  </a:t>
            </a:r>
            <a:pPr indent="0" marL="0">
              <a:buNone/>
            </a:pPr>
            <a:r>
              <a:rPr lang="en-US" sz="1600" b="1" dirty="0">
                <a:solidFill>
                  <a:schemeClr val="accent2"/>
                </a:solidFill>
              </a:rPr>
              <a:t>K-Merge 24.1%</a:t>
            </a:r>
            <a:endParaRPr lang="en-US" sz="1600" dirty="0"/>
          </a:p>
        </p:txBody>
      </p:sp>
      <p:sp>
        <p:nvSpPr>
          <p:cNvPr id="6" name="text-167"/>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Real learner sentences (W&amp;I+LOCNESS, Falko-MERLIN, COWS-L2H, MERLIN) from the run where 11 tasks share one slot (seed 0). Examples chosen to illustrate; the rates are the evidence.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Test 3: one slot, all 12 tasks</a:t>
            </a:r>
            <a:endParaRPr lang="en-US" sz="3200" dirty="0"/>
          </a:p>
        </p:txBody>
      </p:sp>
      <p:graphicFrame>
        <p:nvGraphicFramePr>
          <p:cNvPr id="3" name="Chart 0" descr=""/>
          <p:cNvGraphicFramePr/>
          <p:nvPr/>
        </p:nvGraphicFramePr>
        <p:xfrm>
          <a:off x="548640" y="123444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4" name="card-168"/>
          <p:cNvSpPr/>
          <p:nvPr/>
        </p:nvSpPr>
        <p:spPr>
          <a:xfrm>
            <a:off x="7863840" y="1280160"/>
            <a:ext cx="3776472" cy="1783080"/>
          </a:xfrm>
          <a:prstGeom prst="roundRect">
            <a:avLst>
              <a:gd name="adj" fmla="val 6154"/>
            </a:avLst>
          </a:prstGeom>
          <a:solidFill>
            <a:schemeClr val="bg2"/>
          </a:solidFill>
          <a:ln w="12700">
            <a:solidFill>
              <a:schemeClr val="bg2"/>
            </a:solidFill>
            <a:prstDash val="solid"/>
          </a:ln>
        </p:spPr>
      </p:sp>
      <p:sp>
        <p:nvSpPr>
          <p:cNvPr id="5" name="text-169"/>
          <p:cNvSpPr txBox="1"/>
          <p:nvPr/>
        </p:nvSpPr>
        <p:spPr>
          <a:xfrm>
            <a:off x="8092440" y="1371600"/>
            <a:ext cx="3319272" cy="1600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94.4%</a:t>
            </a:r>
            <a:endParaRPr lang="en-US" sz="1400" dirty="0"/>
          </a:p>
          <a:p>
            <a:pPr indent="0" marL="0">
              <a:buNone/>
            </a:pPr>
            <a:r>
              <a:rPr lang="en-US" sz="1400" dirty="0">
                <a:solidFill>
                  <a:schemeClr val="tx1"/>
                </a:solidFill>
              </a:rPr>
              <a:t>K-Share with only 4 directions. More room did less for the others: split 91.0% with 8; RegMean 92.0% and K-Merge 88.4% with 16.</a:t>
            </a:r>
            <a:endParaRPr lang="en-US" sz="1400" dirty="0"/>
          </a:p>
        </p:txBody>
      </p:sp>
      <p:sp>
        <p:nvSpPr>
          <p:cNvPr id="6" name="card-170"/>
          <p:cNvSpPr/>
          <p:nvPr/>
        </p:nvSpPr>
        <p:spPr>
          <a:xfrm>
            <a:off x="7863840" y="3200400"/>
            <a:ext cx="3776472" cy="1325880"/>
          </a:xfrm>
          <a:prstGeom prst="roundRect">
            <a:avLst>
              <a:gd name="adj" fmla="val 8276"/>
            </a:avLst>
          </a:prstGeom>
          <a:solidFill>
            <a:schemeClr val="bg2"/>
          </a:solidFill>
          <a:ln w="12700">
            <a:solidFill>
              <a:schemeClr val="bg2"/>
            </a:solidFill>
            <a:prstDash val="solid"/>
          </a:ln>
        </p:spPr>
      </p:sp>
      <p:sp>
        <p:nvSpPr>
          <p:cNvPr id="7" name="text-171"/>
          <p:cNvSpPr txBox="1"/>
          <p:nvPr/>
        </p:nvSpPr>
        <p:spPr>
          <a:xfrm>
            <a:off x="8092440" y="3291840"/>
            <a:ext cx="3319272" cy="11430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+7.3 points</a:t>
            </a:r>
            <a:endParaRPr lang="en-US" sz="1400" dirty="0"/>
          </a:p>
          <a:p>
            <a:pPr indent="0" marL="0">
              <a:buNone/>
            </a:pPr>
            <a:r>
              <a:rPr lang="en-US" sz="1400" dirty="0">
                <a:solidFill>
                  <a:schemeClr val="tx1"/>
                </a:solidFill>
              </a:rPr>
              <a:t>At 4 directions: K-Share 94.4%, split 87.1%.</a:t>
            </a:r>
            <a:endParaRPr lang="en-US" sz="1400" dirty="0"/>
          </a:p>
          <a:p>
            <a:pPr indent="0" marL="0">
              <a:buNone/>
            </a:pPr>
            <a:r>
              <a:rPr lang="en-US" sz="1400" dirty="0">
                <a:solidFill>
                  <a:schemeClr val="tx1"/>
                </a:solidFill>
              </a:rPr>
              <a:t>p &lt; 0.001. At 16 directions they tie.</a:t>
            </a:r>
            <a:endParaRPr lang="en-US" sz="1400" dirty="0"/>
          </a:p>
        </p:txBody>
      </p:sp>
      <p:sp>
        <p:nvSpPr>
          <p:cNvPr id="8" name="card-172"/>
          <p:cNvSpPr/>
          <p:nvPr/>
        </p:nvSpPr>
        <p:spPr>
          <a:xfrm>
            <a:off x="7863840" y="4663440"/>
            <a:ext cx="3776472" cy="1234440"/>
          </a:xfrm>
          <a:prstGeom prst="roundRect">
            <a:avLst>
              <a:gd name="adj" fmla="val 8889"/>
            </a:avLst>
          </a:prstGeom>
          <a:solidFill>
            <a:schemeClr val="bg2"/>
          </a:solidFill>
          <a:ln w="12700">
            <a:solidFill>
              <a:schemeClr val="bg2"/>
            </a:solidFill>
            <a:prstDash val="solid"/>
          </a:ln>
        </p:spPr>
      </p:sp>
      <p:sp>
        <p:nvSpPr>
          <p:cNvPr id="9" name="text-173"/>
          <p:cNvSpPr txBox="1"/>
          <p:nvPr/>
        </p:nvSpPr>
        <p:spPr>
          <a:xfrm>
            <a:off x="8092440" y="4754880"/>
            <a:ext cx="3319272" cy="10515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87.6% vs 64.8%</a:t>
            </a:r>
            <a:endParaRPr lang="en-US" sz="1400" dirty="0"/>
          </a:p>
          <a:p>
            <a:pPr indent="0" marL="0">
              <a:buNone/>
            </a:pPr>
            <a:r>
              <a:rPr lang="en-US" sz="1400" dirty="0">
                <a:solidFill>
                  <a:schemeClr val="tx1"/>
                </a:solidFill>
              </a:rPr>
              <a:t>Weakest task, 8 directions:</a:t>
            </a:r>
            <a:endParaRPr lang="en-US" sz="1400" dirty="0"/>
          </a:p>
          <a:p>
            <a:pPr indent="0" marL="0">
              <a:buNone/>
            </a:pPr>
            <a:r>
              <a:rPr lang="en-US" sz="1400" dirty="0">
                <a:solidFill>
                  <a:schemeClr val="tx1"/>
                </a:solidFill>
              </a:rPr>
              <a:t>K-Share vs K-Merge</a:t>
            </a:r>
            <a:endParaRPr lang="en-US" sz="1400" dirty="0"/>
          </a:p>
        </p:txBody>
      </p:sp>
      <p:sp>
        <p:nvSpPr>
          <p:cNvPr id="10" name="text-174"/>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Stress test: Qwen2.5-1.5B, seed 0 only (seeds 1–2 are next). K-Share's extra storage here: 2% at 4 directions, 3.9% at 8, 7.9% at 16.</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More tasks per slot: averaging falls apart</a:t>
            </a:r>
            <a:endParaRPr lang="en-US" sz="3200" dirty="0"/>
          </a:p>
        </p:txBody>
      </p:sp>
      <p:graphicFrame>
        <p:nvGraphicFramePr>
          <p:cNvPr id="3" name="Chart 0" descr=""/>
          <p:cNvGraphicFramePr/>
          <p:nvPr/>
        </p:nvGraphicFramePr>
        <p:xfrm>
          <a:off x="548640" y="123444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4" name="card-175"/>
          <p:cNvSpPr/>
          <p:nvPr/>
        </p:nvSpPr>
        <p:spPr>
          <a:xfrm>
            <a:off x="7863840" y="1280160"/>
            <a:ext cx="3776472" cy="1965960"/>
          </a:xfrm>
          <a:prstGeom prst="roundRect">
            <a:avLst>
              <a:gd name="adj" fmla="val 5581"/>
            </a:avLst>
          </a:prstGeom>
          <a:solidFill>
            <a:schemeClr val="bg2"/>
          </a:solidFill>
          <a:ln w="12700">
            <a:solidFill>
              <a:schemeClr val="bg2"/>
            </a:solidFill>
            <a:prstDash val="solid"/>
          </a:ln>
        </p:spPr>
      </p:sp>
      <p:sp>
        <p:nvSpPr>
          <p:cNvPr id="5" name="text-176"/>
          <p:cNvSpPr txBox="1"/>
          <p:nvPr/>
        </p:nvSpPr>
        <p:spPr>
          <a:xfrm>
            <a:off x="8092440" y="1371600"/>
            <a:ext cx="3319272" cy="1783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88.2 → 70.2</a:t>
            </a:r>
            <a:endParaRPr lang="en-US" sz="1500" dirty="0"/>
          </a:p>
          <a:p>
            <a:pPr indent="0" marL="0">
              <a:buNone/>
            </a:pPr>
            <a:r>
              <a:rPr lang="en-US" sz="1500" dirty="0">
                <a:solidFill>
                  <a:schemeClr val="tx1"/>
                </a:solidFill>
              </a:rPr>
              <a:t>K-Merge's weakest language as the slot grows from 2 to 4 tasks. Sharing stays at 97.5% or more.</a:t>
            </a:r>
            <a:endParaRPr lang="en-US" sz="1500" dirty="0"/>
          </a:p>
        </p:txBody>
      </p:sp>
      <p:sp>
        <p:nvSpPr>
          <p:cNvPr id="6" name="card-177"/>
          <p:cNvSpPr/>
          <p:nvPr/>
        </p:nvSpPr>
        <p:spPr>
          <a:xfrm>
            <a:off x="7863840" y="3383280"/>
            <a:ext cx="3776472" cy="1143000"/>
          </a:xfrm>
          <a:prstGeom prst="roundRect">
            <a:avLst>
              <a:gd name="adj" fmla="val 9600"/>
            </a:avLst>
          </a:prstGeom>
          <a:solidFill>
            <a:schemeClr val="bg2"/>
          </a:solidFill>
          <a:ln w="12700">
            <a:solidFill>
              <a:schemeClr val="bg2"/>
            </a:solidFill>
            <a:prstDash val="solid"/>
          </a:ln>
        </p:spPr>
      </p:sp>
      <p:sp>
        <p:nvSpPr>
          <p:cNvPr id="7" name="text-178"/>
          <p:cNvSpPr txBox="1"/>
          <p:nvPr/>
        </p:nvSpPr>
        <p:spPr>
          <a:xfrm>
            <a:off x="8092440" y="3429000"/>
            <a:ext cx="3319272" cy="1051560"/>
          </a:xfrm>
          <a:prstGeom prst="rect">
            <a:avLst/>
          </a:prstGeom>
          <a:noFill/>
          <a:ln/>
        </p:spPr>
        <p:txBody>
          <a:bodyPr wrap="square" lIns="0" tIns="0" rIns="0" bIns="0" rtlCol="0" anchor="ctr"/>
          <a:lstStyle/>
          <a:p>
            <a:pPr indent="0" marL="0">
              <a:buNone/>
            </a:pPr>
            <a:r>
              <a:rPr lang="en-US" sz="1500" b="1" dirty="0">
                <a:solidFill>
                  <a:schemeClr val="tx1"/>
                </a:solidFill>
              </a:rPr>
              <a:t>1.5B weakest language: </a:t>
            </a:r>
            <a:pPr indent="0" marL="0">
              <a:buNone/>
            </a:pPr>
            <a:r>
              <a:rPr lang="en-US" sz="1500" dirty="0">
                <a:solidFill>
                  <a:schemeClr val="tx1"/>
                </a:solidFill>
              </a:rPr>
              <a:t>K-Merge 91.6% vs K-Share 99.3% with 4 tasks in a slot.</a:t>
            </a:r>
            <a:endParaRPr lang="en-US" sz="1500" dirty="0"/>
          </a:p>
        </p:txBody>
      </p:sp>
      <p:sp>
        <p:nvSpPr>
          <p:cNvPr id="8" name="card-179"/>
          <p:cNvSpPr/>
          <p:nvPr/>
        </p:nvSpPr>
        <p:spPr>
          <a:xfrm>
            <a:off x="7863840" y="4663440"/>
            <a:ext cx="3776472" cy="1097280"/>
          </a:xfrm>
          <a:prstGeom prst="roundRect">
            <a:avLst>
              <a:gd name="adj" fmla="val 10000"/>
            </a:avLst>
          </a:prstGeom>
          <a:solidFill>
            <a:schemeClr val="bg1"/>
          </a:solidFill>
          <a:ln w="12700">
            <a:solidFill>
              <a:schemeClr val="accent5"/>
            </a:solidFill>
            <a:prstDash val="solid"/>
          </a:ln>
        </p:spPr>
      </p:sp>
      <p:sp>
        <p:nvSpPr>
          <p:cNvPr id="9" name="text-180"/>
          <p:cNvSpPr txBox="1"/>
          <p:nvPr/>
        </p:nvSpPr>
        <p:spPr>
          <a:xfrm>
            <a:off x="8092440" y="4709160"/>
            <a:ext cx="3319272" cy="1005840"/>
          </a:xfrm>
          <a:prstGeom prst="rect">
            <a:avLst/>
          </a:prstGeom>
          <a:noFill/>
          <a:ln/>
        </p:spPr>
        <p:txBody>
          <a:bodyPr wrap="square" lIns="0" tIns="0" rIns="0" bIns="0" rtlCol="0" anchor="ctr"/>
          <a:lstStyle/>
          <a:p>
            <a:pPr indent="0" marL="0">
              <a:buNone/>
            </a:pPr>
            <a:r>
              <a:rPr lang="en-US" sz="1500" b="1" dirty="0">
                <a:solidFill>
                  <a:schemeClr val="tx1"/>
                </a:solidFill>
              </a:rPr>
              <a:t>Your RQ2: </a:t>
            </a:r>
            <a:pPr indent="0" marL="0">
              <a:buNone/>
            </a:pPr>
            <a:r>
              <a:rPr lang="en-US" sz="1500" dirty="0">
                <a:solidFill>
                  <a:schemeClr val="tx1"/>
                </a:solidFill>
              </a:rPr>
              <a:t>pairs that merge well do not compose under averaging; under sharing they do.</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Lesson: layer-selective merging</a:t>
            </a:r>
            <a:endParaRPr lang="en-US" sz="3200" dirty="0"/>
          </a:p>
        </p:txBody>
      </p:sp>
      <p:graphicFrame>
        <p:nvGraphicFramePr>
          <p:cNvPr id="3" name="Chart 0" descr=""/>
          <p:cNvGraphicFramePr/>
          <p:nvPr/>
        </p:nvGraphicFramePr>
        <p:xfrm>
          <a:off x="548640" y="123444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4" name="card-181"/>
          <p:cNvSpPr/>
          <p:nvPr/>
        </p:nvSpPr>
        <p:spPr>
          <a:xfrm>
            <a:off x="7863840" y="1280160"/>
            <a:ext cx="3776472" cy="1325880"/>
          </a:xfrm>
          <a:prstGeom prst="roundRect">
            <a:avLst>
              <a:gd name="adj" fmla="val 8276"/>
            </a:avLst>
          </a:prstGeom>
          <a:solidFill>
            <a:schemeClr val="bg2"/>
          </a:solidFill>
          <a:ln w="12700">
            <a:solidFill>
              <a:schemeClr val="bg2"/>
            </a:solidFill>
            <a:prstDash val="solid"/>
          </a:ln>
        </p:spPr>
      </p:sp>
      <p:sp>
        <p:nvSpPr>
          <p:cNvPr id="5" name="text-182"/>
          <p:cNvSpPr txBox="1"/>
          <p:nvPr/>
        </p:nvSpPr>
        <p:spPr>
          <a:xfrm>
            <a:off x="8092440" y="1353312"/>
            <a:ext cx="3319272" cy="1188720"/>
          </a:xfrm>
          <a:prstGeom prst="rect">
            <a:avLst/>
          </a:prstGeom>
          <a:noFill/>
          <a:ln/>
        </p:spPr>
        <p:txBody>
          <a:bodyPr wrap="square" lIns="0" tIns="0" rIns="0" bIns="0" rtlCol="0" anchor="ctr"/>
          <a:lstStyle/>
          <a:p>
            <a:pPr indent="0" marL="0">
              <a:buNone/>
            </a:pPr>
            <a:r>
              <a:rPr lang="en-US" sz="1400" b="1" dirty="0">
                <a:solidFill>
                  <a:schemeClr val="tx1"/>
                </a:solidFill>
              </a:rPr>
              <a:t>Analysis 4 measured French only. </a:t>
            </a:r>
            <a:pPr indent="0" marL="0">
              <a:buNone/>
            </a:pPr>
            <a:r>
              <a:rPr lang="en-US" sz="1400" dirty="0">
                <a:solidFill>
                  <a:schemeClr val="tx1"/>
                </a:solidFill>
              </a:rPr>
              <a:t>Here we measured both languages: the protected one recovers, the other pays.</a:t>
            </a:r>
            <a:endParaRPr lang="en-US" sz="1400" dirty="0"/>
          </a:p>
        </p:txBody>
      </p:sp>
      <p:sp>
        <p:nvSpPr>
          <p:cNvPr id="6" name="card-183"/>
          <p:cNvSpPr/>
          <p:nvPr/>
        </p:nvSpPr>
        <p:spPr>
          <a:xfrm>
            <a:off x="7863840" y="2743200"/>
            <a:ext cx="3776472" cy="1325880"/>
          </a:xfrm>
          <a:prstGeom prst="roundRect">
            <a:avLst>
              <a:gd name="adj" fmla="val 8276"/>
            </a:avLst>
          </a:prstGeom>
          <a:solidFill>
            <a:schemeClr val="bg2"/>
          </a:solidFill>
          <a:ln w="12700">
            <a:solidFill>
              <a:schemeClr val="bg2"/>
            </a:solidFill>
            <a:prstDash val="solid"/>
          </a:ln>
        </p:spPr>
      </p:sp>
      <p:sp>
        <p:nvSpPr>
          <p:cNvPr id="7" name="text-184"/>
          <p:cNvSpPr txBox="1"/>
          <p:nvPr/>
        </p:nvSpPr>
        <p:spPr>
          <a:xfrm>
            <a:off x="8092440" y="2816352"/>
            <a:ext cx="3319272" cy="1188720"/>
          </a:xfrm>
          <a:prstGeom prst="rect">
            <a:avLst/>
          </a:prstGeom>
          <a:noFill/>
          <a:ln/>
        </p:spPr>
        <p:txBody>
          <a:bodyPr wrap="square" lIns="0" tIns="0" rIns="0" bIns="0" rtlCol="0" anchor="ctr"/>
          <a:lstStyle/>
          <a:p>
            <a:pPr indent="0" marL="0">
              <a:buNone/>
            </a:pPr>
            <a:r>
              <a:rPr lang="en-US" sz="1400" b="1" dirty="0">
                <a:solidFill>
                  <a:schemeClr val="tx1"/>
                </a:solidFill>
              </a:rPr>
              <a:t>The gap between the two languages grew: </a:t>
            </a:r>
            <a:pPr indent="0" marL="0">
              <a:buNone/>
            </a:pPr>
            <a:r>
              <a:rPr lang="en-US" sz="1400" dirty="0">
                <a:solidFill>
                  <a:schemeClr val="tx1"/>
                </a:solidFill>
              </a:rPr>
              <a:t>8.3 → 15.3 points (0.5B), 1.7 → 11.4 (1.5B). Worst pair, EN-HI (1.5B): 54%.</a:t>
            </a:r>
            <a:endParaRPr lang="en-US" sz="1400" dirty="0"/>
          </a:p>
        </p:txBody>
      </p:sp>
      <p:sp>
        <p:nvSpPr>
          <p:cNvPr id="8" name="card-185"/>
          <p:cNvSpPr/>
          <p:nvPr/>
        </p:nvSpPr>
        <p:spPr>
          <a:xfrm>
            <a:off x="7863840" y="4206240"/>
            <a:ext cx="3776472" cy="1325880"/>
          </a:xfrm>
          <a:prstGeom prst="roundRect">
            <a:avLst>
              <a:gd name="adj" fmla="val 8276"/>
            </a:avLst>
          </a:prstGeom>
          <a:solidFill>
            <a:schemeClr val="bg2"/>
          </a:solidFill>
          <a:ln w="12700">
            <a:solidFill>
              <a:schemeClr val="bg2"/>
            </a:solidFill>
            <a:prstDash val="solid"/>
          </a:ln>
        </p:spPr>
      </p:sp>
      <p:sp>
        <p:nvSpPr>
          <p:cNvPr id="9" name="text-186"/>
          <p:cNvSpPr txBox="1"/>
          <p:nvPr/>
        </p:nvSpPr>
        <p:spPr>
          <a:xfrm>
            <a:off x="8092440" y="4279392"/>
            <a:ext cx="3319272" cy="1188720"/>
          </a:xfrm>
          <a:prstGeom prst="rect">
            <a:avLst/>
          </a:prstGeom>
          <a:noFill/>
          <a:ln/>
        </p:spPr>
        <p:txBody>
          <a:bodyPr wrap="square" lIns="0" tIns="0" rIns="0" bIns="0" rtlCol="0" anchor="ctr"/>
          <a:lstStyle/>
          <a:p>
            <a:pPr indent="0" marL="0">
              <a:buNone/>
            </a:pPr>
            <a:r>
              <a:rPr lang="en-US" sz="1400" b="1" dirty="0">
                <a:solidFill>
                  <a:schemeClr val="tx1"/>
                </a:solidFill>
              </a:rPr>
              <a:t>Conflict layers move </a:t>
            </a:r>
            <a:pPr indent="0" marL="0">
              <a:buNone/>
            </a:pPr>
            <a:r>
              <a:rPr lang="en-US" sz="1400" dirty="0">
                <a:solidFill>
                  <a:schemeClr val="tx1"/>
                </a:solidFill>
              </a:rPr>
              <a:t>with model and pair (1.5B: layer 27 for DE-FR, layer 8 for EN-FR).</a:t>
            </a:r>
            <a:endParaRPr lang="en-US" sz="1400" dirty="0"/>
          </a:p>
        </p:txBody>
      </p:sp>
      <p:sp>
        <p:nvSpPr>
          <p:cNvPr id="10" name="text-187"/>
          <p:cNvSpPr txBox="1"/>
          <p:nvPr/>
        </p:nvSpPr>
        <p:spPr>
          <a:xfrm>
            <a:off x="7863840" y="5669280"/>
            <a:ext cx="3776472" cy="365760"/>
          </a:xfrm>
          <a:prstGeom prst="rect">
            <a:avLst/>
          </a:prstGeom>
          <a:noFill/>
          <a:ln/>
        </p:spPr>
        <p:txBody>
          <a:bodyPr wrap="square" lIns="0" tIns="0" rIns="0" bIns="0" rtlCol="0" anchor="t"/>
          <a:lstStyle/>
          <a:p>
            <a:pPr indent="0" marL="0">
              <a:buNone/>
            </a:pPr>
            <a:r>
              <a:rPr lang="en-US" sz="1500" b="1" dirty="0">
                <a:solidFill>
                  <a:schemeClr val="accent1"/>
                </a:solidFill>
              </a:rPr>
              <a:t>Use layer analysis as a probe (your RQ5), not as a merge rule.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How sure are we?</a:t>
            </a:r>
            <a:endParaRPr lang="en-US" sz="3200" dirty="0"/>
          </a:p>
        </p:txBody>
      </p:sp>
      <p:sp>
        <p:nvSpPr>
          <p:cNvPr id="3" name="card-188"/>
          <p:cNvSpPr/>
          <p:nvPr/>
        </p:nvSpPr>
        <p:spPr>
          <a:xfrm>
            <a:off x="548640" y="1280160"/>
            <a:ext cx="4206240" cy="4526280"/>
          </a:xfrm>
          <a:prstGeom prst="roundRect">
            <a:avLst>
              <a:gd name="adj" fmla="val 2609"/>
            </a:avLst>
          </a:prstGeom>
          <a:solidFill>
            <a:schemeClr val="bg2"/>
          </a:solidFill>
          <a:ln w="12700">
            <a:solidFill>
              <a:schemeClr val="bg2"/>
            </a:solidFill>
            <a:prstDash val="solid"/>
          </a:ln>
        </p:spPr>
      </p:sp>
      <p:sp>
        <p:nvSpPr>
          <p:cNvPr id="4" name="icon-bg-189"/>
          <p:cNvSpPr/>
          <p:nvPr/>
        </p:nvSpPr>
        <p:spPr>
          <a:xfrm>
            <a:off x="822960" y="1463040"/>
            <a:ext cx="1005840" cy="1005840"/>
          </a:xfrm>
          <a:prstGeom prst="ellipse">
            <a:avLst/>
          </a:prstGeom>
          <a:solidFill>
            <a:schemeClr val="bg1"/>
          </a:solidFill>
          <a:ln w="12700">
            <a:solidFill>
              <a:schemeClr val="bg1"/>
            </a:solidFill>
            <a:prstDash val="solid"/>
          </a:ln>
        </p:spPr>
      </p:sp>
      <p:pic>
        <p:nvPicPr>
          <p:cNvPr id="5" name="icon-microscope-190" descr="microscope illustration">    </p:cNvPr>
          <p:cNvPicPr>
            <a:picLocks noChangeAspect="1"/>
          </p:cNvPicPr>
          <p:nvPr/>
        </p:nvPicPr>
        <p:blipFill>
          <a:blip r:embed="rId1"/>
          <a:stretch>
            <a:fillRect/>
          </a:stretch>
        </p:blipFill>
        <p:spPr>
          <a:xfrm>
            <a:off x="983894" y="1623974"/>
            <a:ext cx="683971" cy="683971"/>
          </a:xfrm>
          <a:prstGeom prst="rect">
            <a:avLst/>
          </a:prstGeom>
        </p:spPr>
      </p:pic>
      <p:sp>
        <p:nvSpPr>
          <p:cNvPr id="6" name="text-191"/>
          <p:cNvSpPr txBox="1"/>
          <p:nvPr/>
        </p:nvSpPr>
        <p:spPr>
          <a:xfrm>
            <a:off x="2011680" y="1600200"/>
            <a:ext cx="2651760" cy="73152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Three safeguards</a:t>
            </a:r>
            <a:endParaRPr lang="en-US" sz="2100" dirty="0"/>
          </a:p>
        </p:txBody>
      </p:sp>
      <p:sp>
        <p:nvSpPr>
          <p:cNvPr id="7" name="text-192"/>
          <p:cNvSpPr txBox="1"/>
          <p:nvPr/>
        </p:nvSpPr>
        <p:spPr>
          <a:xfrm>
            <a:off x="822960" y="2606040"/>
            <a:ext cx="3657600" cy="306324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tx1"/>
                </a:solidFill>
              </a:rPr>
              <a:t>Paired bootstrap: </a:t>
            </a:r>
            <a:pPr indent="0" marL="0">
              <a:spcAft>
                <a:spcPts val="1000"/>
              </a:spcAft>
              <a:buNone/>
            </a:pPr>
            <a:r>
              <a:rPr lang="en-US" sz="1500" dirty="0">
                <a:solidFill>
                  <a:schemeClr val="tx1"/>
                </a:solidFill>
              </a:rPr>
              <a:t>re-score every method on resampled test examples, 2,000 times (real data) or 4,000 (synthetic); the 95% interval is the middle 95% of those re-scores.</a:t>
            </a:r>
            <a:endParaRPr lang="en-US" sz="1500" dirty="0"/>
          </a:p>
          <a:p>
            <a:pPr marL="342900" indent="-342900">
              <a:spcAft>
                <a:spcPts val="1000"/>
              </a:spcAft>
              <a:buSzPct val="100000"/>
              <a:buChar char="•"/>
            </a:pPr>
            <a:r>
              <a:rPr lang="en-US" sz="1500" b="1" dirty="0">
                <a:solidFill>
                  <a:schemeClr val="tx1"/>
                </a:solidFill>
              </a:rPr>
              <a:t>Holm correction: </a:t>
            </a:r>
            <a:pPr indent="0" marL="0">
              <a:spcAft>
                <a:spcPts val="1000"/>
              </a:spcAft>
              <a:buNone/>
            </a:pPr>
            <a:r>
              <a:rPr lang="en-US" sz="1500" dirty="0">
                <a:solidFill>
                  <a:schemeClr val="tx1"/>
                </a:solidFill>
              </a:rPr>
              <a:t>stricter p-values because we make many comparisons.</a:t>
            </a:r>
            <a:endParaRPr lang="en-US" sz="1500" dirty="0"/>
          </a:p>
          <a:p>
            <a:pPr marL="342900" indent="-342900">
              <a:spcAft>
                <a:spcPts val="1000"/>
              </a:spcAft>
              <a:buSzPct val="100000"/>
              <a:buChar char="•"/>
            </a:pPr>
            <a:r>
              <a:rPr lang="en-US" sz="1500" b="1" dirty="0">
                <a:solidFill>
                  <a:schemeClr val="tx1"/>
                </a:solidFill>
              </a:rPr>
              <a:t>Fair setup: </a:t>
            </a:r>
            <a:pPr indent="0" marL="0">
              <a:spcAft>
                <a:spcPts val="1000"/>
              </a:spcAft>
              <a:buNone/>
            </a:pPr>
            <a:r>
              <a:rPr lang="en-US" sz="1500" dirty="0">
                <a:solidFill>
                  <a:schemeClr val="tx1"/>
                </a:solidFill>
              </a:rPr>
              <a:t>same slots for every method; tuning only on validation data (synthetic lab); every prediction saved.</a:t>
            </a:r>
            <a:endParaRPr lang="en-US" sz="1500" dirty="0"/>
          </a:p>
        </p:txBody>
      </p:sp>
      <p:graphicFrame>
        <p:nvGraphicFramePr>
          <p:cNvPr id="19" name="proof-table"/>
          <p:cNvGraphicFramePr>
            <a:graphicFrameLocks noGrp="1"/>
          </p:cNvGraphicFramePr>
          <p:nvPr>
            <p:extLst>
              <p:ext uri="{D42A27DB-BD31-4B8C-83A1-F6EECF244321}">
                <p14:modId xmlns:p14="http://schemas.microsoft.com/office/powerpoint/2010/main" val="1579011935"/>
              </p:ext>
            </p:extLst>
          </p:nvPr>
        </p:nvGraphicFramePr>
        <p:xfrm>
          <a:off x="5074920" y="1280160"/>
          <a:ext cx="6565392" cy="914400"/>
        </p:xfrm>
        <a:graphic>
          <a:graphicData uri="http://schemas.openxmlformats.org/drawingml/2006/table">
            <a:tbl>
              <a:tblPr/>
              <a:tblGrid>
                <a:gridCol w="3200400"/>
                <a:gridCol w="2267712"/>
                <a:gridCol w="10972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Comparison</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Gain, points (95% CI)</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566928">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Split − K-Merge, average (real, K = 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+8.1  (+6.3 to +9.8)</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66928">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Split − K-Merge, weakest task</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+28.9  (+19.3 to +37.7)</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66928">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Split − RegMean, average (real, K = 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+3.3  (+1.8 to +4.6)</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66928">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K-Share − split, 4 directions (stress, 1 seed)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+7.3  (+5.2 to +9.2)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66928">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K-Share − split, real benchmark</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+0.0  (−0.4 to +0.5)</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1.0 (tie)</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9" name="text-193"/>
          <p:cNvSpPr txBox="1"/>
          <p:nvPr/>
        </p:nvSpPr>
        <p:spPr>
          <a:xfrm>
            <a:off x="5074920" y="4937760"/>
            <a:ext cx="6565392" cy="731520"/>
          </a:xfrm>
          <a:prstGeom prst="rect">
            <a:avLst/>
          </a:prstGeom>
          <a:noFill/>
          <a:ln/>
        </p:spPr>
        <p:txBody>
          <a:bodyPr wrap="square" lIns="0" tIns="0" rIns="0" bIns="0" rtlCol="0" anchor="t"/>
          <a:lstStyle/>
          <a:p>
            <a:pPr indent="0" marL="0">
              <a:buNone/>
            </a:pPr>
            <a:r>
              <a:rPr lang="en-US" sz="1400" dirty="0">
                <a:solidFill>
                  <a:schemeClr val="tx1"/>
                </a:solidFill>
              </a:rPr>
              <a:t>On synthetic pairs (0.5B) K-Share fixed 270 sentences that K-Merge got wrong and lost 21 (McNemar p &lt; 0.001).</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What is new, and what is not</a:t>
            </a:r>
            <a:endParaRPr lang="en-US" sz="3200" dirty="0"/>
          </a:p>
        </p:txBody>
      </p:sp>
      <p:sp>
        <p:nvSpPr>
          <p:cNvPr id="3" name="card-194"/>
          <p:cNvSpPr/>
          <p:nvPr/>
        </p:nvSpPr>
        <p:spPr>
          <a:xfrm>
            <a:off x="548640" y="1280160"/>
            <a:ext cx="5349240" cy="4206240"/>
          </a:xfrm>
          <a:prstGeom prst="roundRect">
            <a:avLst>
              <a:gd name="adj" fmla="val 2609"/>
            </a:avLst>
          </a:prstGeom>
          <a:solidFill>
            <a:schemeClr val="bg2"/>
          </a:solidFill>
          <a:ln w="12700">
            <a:solidFill>
              <a:schemeClr val="bg2"/>
            </a:solidFill>
            <a:prstDash val="solid"/>
          </a:ln>
        </p:spPr>
      </p:sp>
      <p:sp>
        <p:nvSpPr>
          <p:cNvPr id="4" name="icon-bg-195"/>
          <p:cNvSpPr/>
          <p:nvPr/>
        </p:nvSpPr>
        <p:spPr>
          <a:xfrm>
            <a:off x="822960" y="1463040"/>
            <a:ext cx="868680" cy="868680"/>
          </a:xfrm>
          <a:prstGeom prst="ellipse">
            <a:avLst/>
          </a:prstGeom>
          <a:solidFill>
            <a:schemeClr val="bg1"/>
          </a:solidFill>
          <a:ln w="12700">
            <a:solidFill>
              <a:schemeClr val="bg1"/>
            </a:solidFill>
            <a:prstDash val="solid"/>
          </a:ln>
        </p:spPr>
      </p:sp>
      <p:pic>
        <p:nvPicPr>
          <p:cNvPr id="5" name="icon-open_book-196" descr="open book illustration">    </p:cNvPr>
          <p:cNvPicPr>
            <a:picLocks noChangeAspect="1"/>
          </p:cNvPicPr>
          <p:nvPr/>
        </p:nvPicPr>
        <p:blipFill>
          <a:blip r:embed="rId1"/>
          <a:stretch>
            <a:fillRect/>
          </a:stretch>
        </p:blipFill>
        <p:spPr>
          <a:xfrm>
            <a:off x="961949" y="1602029"/>
            <a:ext cx="590702" cy="590702"/>
          </a:xfrm>
          <a:prstGeom prst="rect">
            <a:avLst/>
          </a:prstGeom>
        </p:spPr>
      </p:pic>
      <p:sp>
        <p:nvSpPr>
          <p:cNvPr id="6" name="text-197"/>
          <p:cNvSpPr txBox="1"/>
          <p:nvPr/>
        </p:nvSpPr>
        <p:spPr>
          <a:xfrm>
            <a:off x="1828800" y="1554480"/>
            <a:ext cx="3886200" cy="6858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Already known (we cite it)</a:t>
            </a:r>
            <a:endParaRPr lang="en-US" sz="2100" dirty="0"/>
          </a:p>
        </p:txBody>
      </p:sp>
      <p:sp>
        <p:nvSpPr>
          <p:cNvPr id="7" name="text-198"/>
          <p:cNvSpPr txBox="1"/>
          <p:nvPr/>
        </p:nvSpPr>
        <p:spPr>
          <a:xfrm>
            <a:off x="868680" y="2514600"/>
            <a:ext cx="470916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Split ≈ TSV-C (Gargiulo et al., CVPR 2025)</a:t>
            </a:r>
            <a:endParaRPr lang="en-US" sz="1600" dirty="0"/>
          </a:p>
          <a:p>
            <a:pPr marL="342900" indent="-342900">
              <a:spcAft>
                <a:spcPts val="1000"/>
              </a:spcAft>
              <a:buSzPct val="100000"/>
              <a:buChar char="•"/>
            </a:pPr>
            <a:r>
              <a:rPr lang="en-US" sz="1600" dirty="0">
                <a:solidFill>
                  <a:schemeClr val="tx1"/>
                </a:solidFill>
              </a:rPr>
              <a:t>K-Share ≈ JD-Full (Compress then Serve, ICML 2025)</a:t>
            </a:r>
            <a:endParaRPr lang="en-US" sz="1600" dirty="0"/>
          </a:p>
          <a:p>
            <a:pPr marL="342900" indent="-342900">
              <a:spcAft>
                <a:spcPts val="1000"/>
              </a:spcAft>
              <a:buSzPct val="100000"/>
              <a:buChar char="•"/>
            </a:pPr>
            <a:r>
              <a:rPr lang="en-US" sz="1600" dirty="0">
                <a:solidFill>
                  <a:schemeClr val="tx1"/>
                </a:solidFill>
              </a:rPr>
              <a:t>Our GRAM merge ≈ RegMean (ICLR 2023)</a:t>
            </a:r>
            <a:endParaRPr lang="en-US" sz="1600" dirty="0"/>
          </a:p>
          <a:p>
            <a:pPr marL="342900" indent="-342900">
              <a:spcAft>
                <a:spcPts val="1000"/>
              </a:spcAft>
              <a:buSzPct val="100000"/>
              <a:buChar char="•"/>
            </a:pPr>
            <a:r>
              <a:rPr lang="en-US" sz="1600" dirty="0">
                <a:solidFill>
                  <a:schemeClr val="tx1"/>
                </a:solidFill>
              </a:rPr>
              <a:t>Per-task pieces: TALL masks, EMR-Merging (2024)</a:t>
            </a:r>
            <a:endParaRPr lang="en-US" sz="1600" dirty="0"/>
          </a:p>
        </p:txBody>
      </p:sp>
      <p:sp>
        <p:nvSpPr>
          <p:cNvPr id="8" name="card-199"/>
          <p:cNvSpPr/>
          <p:nvPr/>
        </p:nvSpPr>
        <p:spPr>
          <a:xfrm>
            <a:off x="6291072" y="1280160"/>
            <a:ext cx="5349240" cy="4206240"/>
          </a:xfrm>
          <a:prstGeom prst="roundRect">
            <a:avLst>
              <a:gd name="adj" fmla="val 2609"/>
            </a:avLst>
          </a:prstGeom>
          <a:solidFill>
            <a:schemeClr val="tx1"/>
          </a:solidFill>
          <a:ln w="12700">
            <a:solidFill>
              <a:schemeClr val="tx1"/>
            </a:solidFill>
            <a:prstDash val="solid"/>
          </a:ln>
        </p:spPr>
      </p:sp>
      <p:sp>
        <p:nvSpPr>
          <p:cNvPr id="9" name="icon-bg-200"/>
          <p:cNvSpPr/>
          <p:nvPr/>
        </p:nvSpPr>
        <p:spPr>
          <a:xfrm>
            <a:off x="6565392" y="1463040"/>
            <a:ext cx="868680" cy="868680"/>
          </a:xfrm>
          <a:prstGeom prst="ellipse">
            <a:avLst/>
          </a:prstGeom>
          <a:solidFill>
            <a:schemeClr val="bg1"/>
          </a:solidFill>
          <a:ln w="12700">
            <a:solidFill>
              <a:schemeClr val="bg1"/>
            </a:solidFill>
            <a:prstDash val="solid"/>
          </a:ln>
        </p:spPr>
      </p:sp>
      <p:pic>
        <p:nvPicPr>
          <p:cNvPr id="10" name="icon-light_bulb-201" descr="light bulb illustration">    </p:cNvPr>
          <p:cNvPicPr>
            <a:picLocks noChangeAspect="1"/>
          </p:cNvPicPr>
          <p:nvPr/>
        </p:nvPicPr>
        <p:blipFill>
          <a:blip r:embed="rId2"/>
          <a:stretch>
            <a:fillRect/>
          </a:stretch>
        </p:blipFill>
        <p:spPr>
          <a:xfrm>
            <a:off x="6704381" y="1602029"/>
            <a:ext cx="590702" cy="590702"/>
          </a:xfrm>
          <a:prstGeom prst="rect">
            <a:avLst/>
          </a:prstGeom>
        </p:spPr>
      </p:pic>
      <p:sp>
        <p:nvSpPr>
          <p:cNvPr id="11" name="text-202"/>
          <p:cNvSpPr txBox="1"/>
          <p:nvPr/>
        </p:nvSpPr>
        <p:spPr>
          <a:xfrm>
            <a:off x="7571232" y="1554480"/>
            <a:ext cx="3886200" cy="685800"/>
          </a:xfrm>
          <a:prstGeom prst="rect">
            <a:avLst/>
          </a:prstGeom>
          <a:noFill/>
          <a:ln/>
        </p:spPr>
        <p:txBody>
          <a:bodyPr wrap="square" lIns="0" tIns="0" rIns="0" bIns="0" rtlCol="0" anchor="ctr"/>
          <a:lstStyle/>
          <a:p>
            <a:pPr indent="0" marL="0">
              <a:buNone/>
            </a:pPr>
            <a:r>
              <a:rPr lang="en-US" sz="2100" b="1" dirty="0">
                <a:solidFill>
                  <a:schemeClr val="bg1"/>
                </a:solidFill>
                <a:latin typeface="Cambria" pitchFamily="34" charset="0"/>
                <a:ea typeface="Cambria" pitchFamily="34" charset="-122"/>
                <a:cs typeface="Cambria" pitchFamily="34" charset="-120"/>
              </a:rPr>
              <a:t>New, to our knowledge</a:t>
            </a:r>
            <a:endParaRPr lang="en-US" sz="2100" dirty="0"/>
          </a:p>
        </p:txBody>
      </p:sp>
      <p:sp>
        <p:nvSpPr>
          <p:cNvPr id="12" name="text-203"/>
          <p:cNvSpPr txBox="1"/>
          <p:nvPr/>
        </p:nvSpPr>
        <p:spPr>
          <a:xfrm>
            <a:off x="6611112" y="2514600"/>
            <a:ext cx="4709160" cy="28346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bg1"/>
                </a:solidFill>
              </a:rPr>
              <a:t>Sharing beats every merge we tested in K-Merge's setting on real tasks; split at exactly equal storage</a:t>
            </a:r>
            <a:endParaRPr lang="en-US" sz="1500" dirty="0"/>
          </a:p>
          <a:p>
            <a:pPr marL="342900" indent="-342900">
              <a:spcAft>
                <a:spcPts val="700"/>
              </a:spcAft>
              <a:buSzPct val="100000"/>
              <a:buChar char="•"/>
            </a:pPr>
            <a:r>
              <a:rPr lang="en-US" sz="1500" dirty="0">
                <a:solidFill>
                  <a:schemeClr val="bg1"/>
                </a:solidFill>
              </a:rPr>
              <a:t>The WHO-vs-HOW test that separates partner choice from the slot rule</a:t>
            </a:r>
            <a:endParaRPr lang="en-US" sz="1500" dirty="0"/>
          </a:p>
          <a:p>
            <a:pPr marL="342900" indent="-342900">
              <a:spcAft>
                <a:spcPts val="700"/>
              </a:spcAft>
              <a:buSzPct val="100000"/>
              <a:buChar char="•"/>
            </a:pPr>
            <a:r>
              <a:rPr lang="en-US" sz="1500" dirty="0">
                <a:solidFill>
                  <a:schemeClr val="bg1"/>
                </a:solidFill>
              </a:rPr>
              <a:t>The crowding map: split collapses, K-Share holds (1 seed so far)</a:t>
            </a:r>
            <a:endParaRPr lang="en-US" sz="1500" dirty="0"/>
          </a:p>
          <a:p>
            <a:pPr marL="342900" indent="-342900">
              <a:spcAft>
                <a:spcPts val="700"/>
              </a:spcAft>
              <a:buSzPct val="100000"/>
              <a:buChar char="•"/>
            </a:pPr>
            <a:r>
              <a:rPr lang="en-US" sz="1500" dirty="0">
                <a:solidFill>
                  <a:schemeClr val="bg1"/>
                </a:solidFill>
              </a:rPr>
              <a:t>A diagnosis of why K-Merge fails: A/B averaging, lopsided slots, dilution + interference</a:t>
            </a:r>
            <a:endParaRPr lang="en-US" sz="1500" dirty="0"/>
          </a:p>
          <a:p>
            <a:pPr marL="342900" indent="-342900">
              <a:spcAft>
                <a:spcPts val="700"/>
              </a:spcAft>
              <a:buSzPct val="100000"/>
              <a:buChar char="•"/>
            </a:pPr>
            <a:r>
              <a:rPr lang="en-US" sz="1500" dirty="0">
                <a:solidFill>
                  <a:schemeClr val="bg1"/>
                </a:solidFill>
              </a:rPr>
              <a:t>Weight-only statistics failed in our LoRA merges (4.8% on 0.5B, 53.3% on 1.5B), consistent with Zhu et al. 2024</a:t>
            </a:r>
            <a:endParaRPr lang="en-US" sz="1500" dirty="0"/>
          </a:p>
        </p:txBody>
      </p:sp>
      <p:sp>
        <p:nvSpPr>
          <p:cNvPr id="13" name="text-204"/>
          <p:cNvSpPr txBox="1"/>
          <p:nvPr/>
        </p:nvSpPr>
        <p:spPr>
          <a:xfrm>
            <a:off x="548640" y="5577840"/>
            <a:ext cx="11094415" cy="685800"/>
          </a:xfrm>
          <a:prstGeom prst="rect">
            <a:avLst/>
          </a:prstGeom>
          <a:noFill/>
          <a:ln/>
        </p:spPr>
        <p:txBody>
          <a:bodyPr wrap="square" lIns="0" tIns="0" rIns="0" bIns="0" rtlCol="0" anchor="t"/>
          <a:lstStyle/>
          <a:p>
            <a:pPr indent="0" marL="0">
              <a:buNone/>
            </a:pPr>
            <a:r>
              <a:rPr lang="en-US" sz="1400" b="1" dirty="0">
                <a:solidFill>
                  <a:schemeClr val="tx1"/>
                </a:solidFill>
              </a:rPr>
              <a:t>Scope: </a:t>
            </a:r>
            <a:pPr indent="0" marL="0">
              <a:buNone/>
            </a:pPr>
            <a:r>
              <a:rPr lang="en-US" sz="1400" dirty="0">
                <a:solidFill>
                  <a:schemeClr val="tx1"/>
                </a:solidFill>
              </a:rPr>
              <a:t>real-data slots were rebuilt from the original adapters; strictly online sharing was tested only in the synthetic lab. </a:t>
            </a:r>
            <a:endParaRPr lang="en-US" sz="1400" dirty="0"/>
          </a:p>
          <a:p>
            <a:pPr indent="0" marL="0">
              <a:buNone/>
            </a:pPr>
            <a:r>
              <a:rPr lang="en-US" sz="1400" b="1" dirty="0">
                <a:solidFill>
                  <a:schemeClr val="tx1"/>
                </a:solidFill>
              </a:rPr>
              <a:t>Our own method candidates </a:t>
            </a:r>
            <a:pPr indent="0" marL="0">
              <a:buNone/>
            </a:pPr>
            <a:r>
              <a:rPr lang="en-US" sz="1400" dirty="0">
                <a:solidFill>
                  <a:schemeClr val="tx1"/>
                </a:solidFill>
              </a:rPr>
              <a:t>(K-Share+ with shared and private directions; K-Share-fair) are designed but not yet tested on GPU.</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Limits we must state</a:t>
            </a:r>
            <a:endParaRPr lang="en-US" sz="3200" dirty="0"/>
          </a:p>
        </p:txBody>
      </p:sp>
      <p:sp>
        <p:nvSpPr>
          <p:cNvPr id="3" name="card-205"/>
          <p:cNvSpPr/>
          <p:nvPr/>
        </p:nvSpPr>
        <p:spPr>
          <a:xfrm>
            <a:off x="548640" y="1325880"/>
            <a:ext cx="5349240" cy="896112"/>
          </a:xfrm>
          <a:prstGeom prst="roundRect">
            <a:avLst>
              <a:gd name="adj" fmla="val 12245"/>
            </a:avLst>
          </a:prstGeom>
          <a:solidFill>
            <a:schemeClr val="bg2"/>
          </a:solidFill>
          <a:ln w="12700">
            <a:solidFill>
              <a:schemeClr val="bg2"/>
            </a:solidFill>
            <a:prstDash val="solid"/>
          </a:ln>
        </p:spPr>
      </p:sp>
      <p:pic>
        <p:nvPicPr>
          <p:cNvPr id="4" name="warn-206" descr="warning illustration">    </p:cNvPr>
          <p:cNvPicPr>
            <a:picLocks noChangeAspect="1"/>
          </p:cNvPicPr>
          <p:nvPr/>
        </p:nvPicPr>
        <p:blipFill>
          <a:blip r:embed="rId1"/>
          <a:stretch>
            <a:fillRect/>
          </a:stretch>
        </p:blipFill>
        <p:spPr>
          <a:xfrm>
            <a:off x="731520" y="1522476"/>
            <a:ext cx="502920" cy="502920"/>
          </a:xfrm>
          <a:prstGeom prst="rect">
            <a:avLst/>
          </a:prstGeom>
        </p:spPr>
      </p:pic>
      <p:sp>
        <p:nvSpPr>
          <p:cNvPr id="5" name="text-207"/>
          <p:cNvSpPr txBox="1"/>
          <p:nvPr/>
        </p:nvSpPr>
        <p:spPr>
          <a:xfrm>
            <a:off x="1417320" y="1325880"/>
            <a:ext cx="4297680" cy="896112"/>
          </a:xfrm>
          <a:prstGeom prst="rect">
            <a:avLst/>
          </a:prstGeom>
          <a:noFill/>
          <a:ln/>
        </p:spPr>
        <p:txBody>
          <a:bodyPr wrap="square" lIns="0" tIns="0" rIns="0" bIns="0" rtlCol="0" anchor="ctr"/>
          <a:lstStyle/>
          <a:p>
            <a:pPr indent="0" marL="0">
              <a:buNone/>
            </a:pPr>
            <a:r>
              <a:rPr lang="en-US" sz="1500" dirty="0">
                <a:solidFill>
                  <a:schemeClr val="tx1"/>
                </a:solidFill>
              </a:rPr>
              <a:t>Stress test: 1 seed. Real benchmark: 2 seeds.</a:t>
            </a:r>
            <a:endParaRPr lang="en-US" sz="1500" dirty="0"/>
          </a:p>
        </p:txBody>
      </p:sp>
      <p:sp>
        <p:nvSpPr>
          <p:cNvPr id="6" name="card-208"/>
          <p:cNvSpPr/>
          <p:nvPr/>
        </p:nvSpPr>
        <p:spPr>
          <a:xfrm>
            <a:off x="6291072" y="1325880"/>
            <a:ext cx="5349240" cy="896112"/>
          </a:xfrm>
          <a:prstGeom prst="roundRect">
            <a:avLst>
              <a:gd name="adj" fmla="val 12245"/>
            </a:avLst>
          </a:prstGeom>
          <a:solidFill>
            <a:schemeClr val="bg2"/>
          </a:solidFill>
          <a:ln w="12700">
            <a:solidFill>
              <a:schemeClr val="bg2"/>
            </a:solidFill>
            <a:prstDash val="solid"/>
          </a:ln>
        </p:spPr>
      </p:sp>
      <p:pic>
        <p:nvPicPr>
          <p:cNvPr id="7" name="warn-209" descr="warning illustration">    </p:cNvPr>
          <p:cNvPicPr>
            <a:picLocks noChangeAspect="1"/>
          </p:cNvPicPr>
          <p:nvPr/>
        </p:nvPicPr>
        <p:blipFill>
          <a:blip r:embed="rId2"/>
          <a:stretch>
            <a:fillRect/>
          </a:stretch>
        </p:blipFill>
        <p:spPr>
          <a:xfrm>
            <a:off x="6473952" y="1522476"/>
            <a:ext cx="502920" cy="502920"/>
          </a:xfrm>
          <a:prstGeom prst="rect">
            <a:avLst/>
          </a:prstGeom>
        </p:spPr>
      </p:pic>
      <p:sp>
        <p:nvSpPr>
          <p:cNvPr id="8" name="text-210"/>
          <p:cNvSpPr txBox="1"/>
          <p:nvPr/>
        </p:nvSpPr>
        <p:spPr>
          <a:xfrm>
            <a:off x="7159752" y="1325880"/>
            <a:ext cx="4297680" cy="896112"/>
          </a:xfrm>
          <a:prstGeom prst="rect">
            <a:avLst/>
          </a:prstGeom>
          <a:noFill/>
          <a:ln/>
        </p:spPr>
        <p:txBody>
          <a:bodyPr wrap="square" lIns="0" tIns="0" rIns="0" bIns="0" rtlCol="0" anchor="ctr"/>
          <a:lstStyle/>
          <a:p>
            <a:pPr indent="0" marL="0">
              <a:buNone/>
            </a:pPr>
            <a:r>
              <a:rPr lang="en-US" sz="1500" dirty="0">
                <a:solidFill>
                  <a:schemeClr val="tx1"/>
                </a:solidFill>
              </a:rPr>
              <a:t>One model family (Qwen2.5), 0.5B and 1.5B.</a:t>
            </a:r>
            <a:endParaRPr lang="en-US" sz="1500" dirty="0"/>
          </a:p>
        </p:txBody>
      </p:sp>
      <p:sp>
        <p:nvSpPr>
          <p:cNvPr id="9" name="card-211"/>
          <p:cNvSpPr/>
          <p:nvPr/>
        </p:nvSpPr>
        <p:spPr>
          <a:xfrm>
            <a:off x="548640" y="2359152"/>
            <a:ext cx="5349240" cy="896112"/>
          </a:xfrm>
          <a:prstGeom prst="roundRect">
            <a:avLst>
              <a:gd name="adj" fmla="val 12245"/>
            </a:avLst>
          </a:prstGeom>
          <a:solidFill>
            <a:schemeClr val="bg2"/>
          </a:solidFill>
          <a:ln w="12700">
            <a:solidFill>
              <a:schemeClr val="bg2"/>
            </a:solidFill>
            <a:prstDash val="solid"/>
          </a:ln>
        </p:spPr>
      </p:sp>
      <p:pic>
        <p:nvPicPr>
          <p:cNvPr id="10" name="warn-212" descr="warning illustration">    </p:cNvPr>
          <p:cNvPicPr>
            <a:picLocks noChangeAspect="1"/>
          </p:cNvPicPr>
          <p:nvPr/>
        </p:nvPicPr>
        <p:blipFill>
          <a:blip r:embed="rId3"/>
          <a:stretch>
            <a:fillRect/>
          </a:stretch>
        </p:blipFill>
        <p:spPr>
          <a:xfrm>
            <a:off x="731520" y="2555748"/>
            <a:ext cx="502920" cy="502920"/>
          </a:xfrm>
          <a:prstGeom prst="rect">
            <a:avLst/>
          </a:prstGeom>
        </p:spPr>
      </p:pic>
      <p:sp>
        <p:nvSpPr>
          <p:cNvPr id="11" name="text-213"/>
          <p:cNvSpPr txBox="1"/>
          <p:nvPr/>
        </p:nvSpPr>
        <p:spPr>
          <a:xfrm>
            <a:off x="1417320" y="2359152"/>
            <a:ext cx="4297680" cy="896112"/>
          </a:xfrm>
          <a:prstGeom prst="rect">
            <a:avLst/>
          </a:prstGeom>
          <a:noFill/>
          <a:ln/>
        </p:spPr>
        <p:txBody>
          <a:bodyPr wrap="square" lIns="0" tIns="0" rIns="0" bIns="0" rtlCol="0" anchor="ctr"/>
          <a:lstStyle/>
          <a:p>
            <a:pPr indent="0" marL="0">
              <a:buNone/>
            </a:pPr>
            <a:r>
              <a:rPr lang="en-US" sz="1500" dirty="0">
                <a:solidFill>
                  <a:schemeClr val="tx1"/>
                </a:solidFill>
              </a:rPr>
              <a:t>12 tasks; the K-Merge paper used 40.</a:t>
            </a:r>
            <a:endParaRPr lang="en-US" sz="1500" dirty="0"/>
          </a:p>
        </p:txBody>
      </p:sp>
      <p:sp>
        <p:nvSpPr>
          <p:cNvPr id="12" name="card-214"/>
          <p:cNvSpPr/>
          <p:nvPr/>
        </p:nvSpPr>
        <p:spPr>
          <a:xfrm>
            <a:off x="6291072" y="2359152"/>
            <a:ext cx="5349240" cy="896112"/>
          </a:xfrm>
          <a:prstGeom prst="roundRect">
            <a:avLst>
              <a:gd name="adj" fmla="val 12245"/>
            </a:avLst>
          </a:prstGeom>
          <a:solidFill>
            <a:schemeClr val="bg2"/>
          </a:solidFill>
          <a:ln w="12700">
            <a:solidFill>
              <a:schemeClr val="bg2"/>
            </a:solidFill>
            <a:prstDash val="solid"/>
          </a:ln>
        </p:spPr>
      </p:sp>
      <p:pic>
        <p:nvPicPr>
          <p:cNvPr id="13" name="warn-215" descr="warning illustration">    </p:cNvPr>
          <p:cNvPicPr>
            <a:picLocks noChangeAspect="1"/>
          </p:cNvPicPr>
          <p:nvPr/>
        </p:nvPicPr>
        <p:blipFill>
          <a:blip r:embed="rId4"/>
          <a:stretch>
            <a:fillRect/>
          </a:stretch>
        </p:blipFill>
        <p:spPr>
          <a:xfrm>
            <a:off x="6473952" y="2555748"/>
            <a:ext cx="502920" cy="502920"/>
          </a:xfrm>
          <a:prstGeom prst="rect">
            <a:avLst/>
          </a:prstGeom>
        </p:spPr>
      </p:pic>
      <p:sp>
        <p:nvSpPr>
          <p:cNvPr id="14" name="text-216"/>
          <p:cNvSpPr txBox="1"/>
          <p:nvPr/>
        </p:nvSpPr>
        <p:spPr>
          <a:xfrm>
            <a:off x="7159752" y="2359152"/>
            <a:ext cx="4297680" cy="896112"/>
          </a:xfrm>
          <a:prstGeom prst="rect">
            <a:avLst/>
          </a:prstGeom>
          <a:noFill/>
          <a:ln/>
        </p:spPr>
        <p:txBody>
          <a:bodyPr wrap="square" lIns="0" tIns="0" rIns="0" bIns="0" rtlCol="0" anchor="ctr"/>
          <a:lstStyle/>
          <a:p>
            <a:pPr indent="0" marL="0">
              <a:buNone/>
            </a:pPr>
            <a:r>
              <a:rPr lang="en-US" sz="1500" dirty="0">
                <a:solidFill>
                  <a:schemeClr val="tx1"/>
                </a:solidFill>
              </a:rPr>
              <a:t>Summaries and QA in DE/ES/IT are machine-translated; Hindi only in the synthetic lab.</a:t>
            </a:r>
            <a:endParaRPr lang="en-US" sz="1500" dirty="0"/>
          </a:p>
        </p:txBody>
      </p:sp>
      <p:sp>
        <p:nvSpPr>
          <p:cNvPr id="15" name="card-217"/>
          <p:cNvSpPr/>
          <p:nvPr/>
        </p:nvSpPr>
        <p:spPr>
          <a:xfrm>
            <a:off x="548640" y="3392424"/>
            <a:ext cx="5349240" cy="896112"/>
          </a:xfrm>
          <a:prstGeom prst="roundRect">
            <a:avLst>
              <a:gd name="adj" fmla="val 12245"/>
            </a:avLst>
          </a:prstGeom>
          <a:solidFill>
            <a:schemeClr val="bg2"/>
          </a:solidFill>
          <a:ln w="12700">
            <a:solidFill>
              <a:schemeClr val="bg2"/>
            </a:solidFill>
            <a:prstDash val="solid"/>
          </a:ln>
        </p:spPr>
      </p:sp>
      <p:pic>
        <p:nvPicPr>
          <p:cNvPr id="16" name="warn-218" descr="warning illustration">    </p:cNvPr>
          <p:cNvPicPr>
            <a:picLocks noChangeAspect="1"/>
          </p:cNvPicPr>
          <p:nvPr/>
        </p:nvPicPr>
        <p:blipFill>
          <a:blip r:embed="rId5"/>
          <a:stretch>
            <a:fillRect/>
          </a:stretch>
        </p:blipFill>
        <p:spPr>
          <a:xfrm>
            <a:off x="731520" y="3589020"/>
            <a:ext cx="502920" cy="502920"/>
          </a:xfrm>
          <a:prstGeom prst="rect">
            <a:avLst/>
          </a:prstGeom>
        </p:spPr>
      </p:pic>
      <p:sp>
        <p:nvSpPr>
          <p:cNvPr id="17" name="text-219"/>
          <p:cNvSpPr txBox="1"/>
          <p:nvPr/>
        </p:nvSpPr>
        <p:spPr>
          <a:xfrm>
            <a:off x="1417320" y="3392424"/>
            <a:ext cx="4297680" cy="896112"/>
          </a:xfrm>
          <a:prstGeom prst="rect">
            <a:avLst/>
          </a:prstGeom>
          <a:noFill/>
          <a:ln/>
        </p:spPr>
        <p:txBody>
          <a:bodyPr wrap="square" lIns="0" tIns="0" rIns="0" bIns="0" rtlCol="0" anchor="ctr"/>
          <a:lstStyle/>
          <a:p>
            <a:pPr indent="0" marL="0">
              <a:buNone/>
            </a:pPr>
            <a:r>
              <a:rPr lang="en-US" sz="1500" dirty="0">
                <a:solidFill>
                  <a:schemeClr val="tx1"/>
                </a:solidFill>
              </a:rPr>
              <a:t>Grammar metric approximates ERRANT (edit-level F0.5).</a:t>
            </a:r>
            <a:endParaRPr lang="en-US" sz="1500" dirty="0"/>
          </a:p>
        </p:txBody>
      </p:sp>
      <p:sp>
        <p:nvSpPr>
          <p:cNvPr id="18" name="card-220"/>
          <p:cNvSpPr/>
          <p:nvPr/>
        </p:nvSpPr>
        <p:spPr>
          <a:xfrm>
            <a:off x="6291072" y="3392424"/>
            <a:ext cx="5349240" cy="896112"/>
          </a:xfrm>
          <a:prstGeom prst="roundRect">
            <a:avLst>
              <a:gd name="adj" fmla="val 12245"/>
            </a:avLst>
          </a:prstGeom>
          <a:solidFill>
            <a:schemeClr val="bg2"/>
          </a:solidFill>
          <a:ln w="12700">
            <a:solidFill>
              <a:schemeClr val="bg2"/>
            </a:solidFill>
            <a:prstDash val="solid"/>
          </a:ln>
        </p:spPr>
      </p:sp>
      <p:pic>
        <p:nvPicPr>
          <p:cNvPr id="19" name="warn-221" descr="warning illustration">    </p:cNvPr>
          <p:cNvPicPr>
            <a:picLocks noChangeAspect="1"/>
          </p:cNvPicPr>
          <p:nvPr/>
        </p:nvPicPr>
        <p:blipFill>
          <a:blip r:embed="rId6"/>
          <a:stretch>
            <a:fillRect/>
          </a:stretch>
        </p:blipFill>
        <p:spPr>
          <a:xfrm>
            <a:off x="6473952" y="3589020"/>
            <a:ext cx="502920" cy="502920"/>
          </a:xfrm>
          <a:prstGeom prst="rect">
            <a:avLst/>
          </a:prstGeom>
        </p:spPr>
      </p:pic>
      <p:sp>
        <p:nvSpPr>
          <p:cNvPr id="20" name="text-222"/>
          <p:cNvSpPr txBox="1"/>
          <p:nvPr/>
        </p:nvSpPr>
        <p:spPr>
          <a:xfrm>
            <a:off x="7159752" y="3392424"/>
            <a:ext cx="4297680" cy="896112"/>
          </a:xfrm>
          <a:prstGeom prst="rect">
            <a:avLst/>
          </a:prstGeom>
          <a:noFill/>
          <a:ln/>
        </p:spPr>
        <p:txBody>
          <a:bodyPr wrap="square" lIns="0" tIns="0" rIns="0" bIns="0" rtlCol="0" anchor="ctr"/>
          <a:lstStyle/>
          <a:p>
            <a:pPr indent="0" marL="0">
              <a:buNone/>
            </a:pPr>
            <a:r>
              <a:rPr lang="en-US" sz="1500" dirty="0">
                <a:solidFill>
                  <a:schemeClr val="tx1"/>
                </a:solidFill>
              </a:rPr>
              <a:t>As in K-Merge, task identity is assumed known at inference.</a:t>
            </a:r>
            <a:endParaRPr lang="en-US" sz="1500" dirty="0"/>
          </a:p>
        </p:txBody>
      </p:sp>
      <p:sp>
        <p:nvSpPr>
          <p:cNvPr id="21" name="card-223"/>
          <p:cNvSpPr/>
          <p:nvPr/>
        </p:nvSpPr>
        <p:spPr>
          <a:xfrm>
            <a:off x="548640" y="4425696"/>
            <a:ext cx="5349240" cy="896112"/>
          </a:xfrm>
          <a:prstGeom prst="roundRect">
            <a:avLst>
              <a:gd name="adj" fmla="val 12245"/>
            </a:avLst>
          </a:prstGeom>
          <a:solidFill>
            <a:schemeClr val="bg2"/>
          </a:solidFill>
          <a:ln w="12700">
            <a:solidFill>
              <a:schemeClr val="bg2"/>
            </a:solidFill>
            <a:prstDash val="solid"/>
          </a:ln>
        </p:spPr>
      </p:sp>
      <p:pic>
        <p:nvPicPr>
          <p:cNvPr id="22" name="warn-224" descr="warning illustration">    </p:cNvPr>
          <p:cNvPicPr>
            <a:picLocks noChangeAspect="1"/>
          </p:cNvPicPr>
          <p:nvPr/>
        </p:nvPicPr>
        <p:blipFill>
          <a:blip r:embed="rId7"/>
          <a:stretch>
            <a:fillRect/>
          </a:stretch>
        </p:blipFill>
        <p:spPr>
          <a:xfrm>
            <a:off x="731520" y="4622292"/>
            <a:ext cx="502920" cy="502920"/>
          </a:xfrm>
          <a:prstGeom prst="rect">
            <a:avLst/>
          </a:prstGeom>
        </p:spPr>
      </p:pic>
      <p:sp>
        <p:nvSpPr>
          <p:cNvPr id="23" name="text-225"/>
          <p:cNvSpPr txBox="1"/>
          <p:nvPr/>
        </p:nvSpPr>
        <p:spPr>
          <a:xfrm>
            <a:off x="1417320" y="4425696"/>
            <a:ext cx="4297680" cy="896112"/>
          </a:xfrm>
          <a:prstGeom prst="rect">
            <a:avLst/>
          </a:prstGeom>
          <a:noFill/>
          <a:ln/>
        </p:spPr>
        <p:txBody>
          <a:bodyPr wrap="square" lIns="0" tIns="0" rIns="0" bIns="0" rtlCol="0" anchor="ctr"/>
          <a:lstStyle/>
          <a:p>
            <a:pPr indent="0" marL="0">
              <a:buNone/>
            </a:pPr>
            <a:r>
              <a:rPr lang="en-US" sz="1500" dirty="0">
                <a:solidFill>
                  <a:schemeClr val="tx1"/>
                </a:solidFill>
              </a:rPr>
              <a:t>K-Share stores 2–8% extra (14.5% in an 11-task slot); split stores nothing extra.</a:t>
            </a:r>
            <a:endParaRPr lang="en-US" sz="1500" dirty="0"/>
          </a:p>
        </p:txBody>
      </p:sp>
      <p:sp>
        <p:nvSpPr>
          <p:cNvPr id="24" name="card-226"/>
          <p:cNvSpPr/>
          <p:nvPr/>
        </p:nvSpPr>
        <p:spPr>
          <a:xfrm>
            <a:off x="6291072" y="4425696"/>
            <a:ext cx="5349240" cy="896112"/>
          </a:xfrm>
          <a:prstGeom prst="roundRect">
            <a:avLst>
              <a:gd name="adj" fmla="val 12245"/>
            </a:avLst>
          </a:prstGeom>
          <a:solidFill>
            <a:schemeClr val="bg2"/>
          </a:solidFill>
          <a:ln w="12700">
            <a:solidFill>
              <a:schemeClr val="bg2"/>
            </a:solidFill>
            <a:prstDash val="solid"/>
          </a:ln>
        </p:spPr>
      </p:sp>
      <p:pic>
        <p:nvPicPr>
          <p:cNvPr id="25" name="warn-227" descr="warning illustration">    </p:cNvPr>
          <p:cNvPicPr>
            <a:picLocks noChangeAspect="1"/>
          </p:cNvPicPr>
          <p:nvPr/>
        </p:nvPicPr>
        <p:blipFill>
          <a:blip r:embed="rId8"/>
          <a:stretch>
            <a:fillRect/>
          </a:stretch>
        </p:blipFill>
        <p:spPr>
          <a:xfrm>
            <a:off x="6473952" y="4622292"/>
            <a:ext cx="502920" cy="502920"/>
          </a:xfrm>
          <a:prstGeom prst="rect">
            <a:avLst/>
          </a:prstGeom>
        </p:spPr>
      </p:pic>
      <p:sp>
        <p:nvSpPr>
          <p:cNvPr id="26" name="text-228"/>
          <p:cNvSpPr txBox="1"/>
          <p:nvPr/>
        </p:nvSpPr>
        <p:spPr>
          <a:xfrm>
            <a:off x="7159752" y="4425696"/>
            <a:ext cx="4297680" cy="896112"/>
          </a:xfrm>
          <a:prstGeom prst="rect">
            <a:avLst/>
          </a:prstGeom>
          <a:noFill/>
          <a:ln/>
        </p:spPr>
        <p:txBody>
          <a:bodyPr wrap="square" lIns="0" tIns="0" rIns="0" bIns="0" rtlCol="0" anchor="ctr"/>
          <a:lstStyle/>
          <a:p>
            <a:pPr indent="0" marL="0">
              <a:buNone/>
            </a:pPr>
            <a:r>
              <a:rPr lang="en-US" sz="1500" dirty="0">
                <a:solidFill>
                  <a:schemeClr val="tx1"/>
                </a:solidFill>
              </a:rPr>
              <a:t>Real-data slots were rebuilt from the original adapters; strictly online sharing was tested only in the lab.</a:t>
            </a:r>
            <a:endParaRPr lang="en-US" sz="1500" dirty="0"/>
          </a:p>
        </p:txBody>
      </p:sp>
      <p:sp>
        <p:nvSpPr>
          <p:cNvPr id="27" name="card-229"/>
          <p:cNvSpPr/>
          <p:nvPr/>
        </p:nvSpPr>
        <p:spPr>
          <a:xfrm>
            <a:off x="548640" y="5440680"/>
            <a:ext cx="11094415" cy="841248"/>
          </a:xfrm>
          <a:prstGeom prst="roundRect">
            <a:avLst>
              <a:gd name="adj" fmla="val 13043"/>
            </a:avLst>
          </a:prstGeom>
          <a:solidFill>
            <a:schemeClr val="bg1"/>
          </a:solidFill>
          <a:ln w="15875">
            <a:solidFill>
              <a:schemeClr val="accent2"/>
            </a:solidFill>
            <a:prstDash val="solid"/>
          </a:ln>
        </p:spPr>
      </p:sp>
      <p:sp>
        <p:nvSpPr>
          <p:cNvPr id="28" name="text-230"/>
          <p:cNvSpPr txBox="1"/>
          <p:nvPr/>
        </p:nvSpPr>
        <p:spPr>
          <a:xfrm>
            <a:off x="777240" y="5468112"/>
            <a:ext cx="10637215" cy="786384"/>
          </a:xfrm>
          <a:prstGeom prst="rect">
            <a:avLst/>
          </a:prstGeom>
          <a:noFill/>
          <a:ln/>
        </p:spPr>
        <p:txBody>
          <a:bodyPr wrap="square" lIns="0" tIns="0" rIns="0" bIns="0" rtlCol="0" anchor="ctr"/>
          <a:lstStyle/>
          <a:p>
            <a:pPr indent="0" marL="0">
              <a:buNone/>
            </a:pPr>
            <a:r>
              <a:rPr lang="en-US" sz="1350" b="1" dirty="0">
                <a:solidFill>
                  <a:schemeClr val="accent2"/>
                </a:solidFill>
              </a:rPr>
              <a:t>Two corrections. </a:t>
            </a:r>
            <a:pPr indent="0" marL="0">
              <a:buNone/>
            </a:pPr>
            <a:r>
              <a:rPr lang="en-US" sz="1350" dirty="0">
                <a:solidFill>
                  <a:schemeClr val="tx1"/>
                </a:solidFill>
              </a:rPr>
              <a:t>(1) Earlier notes put K-Share's extra storage at about 1–3%; that holds only at 4 directions (2.0%), and it grows with tasks × directions. (2) The Phase 2 report's text says English lost in 2 of 3 EN-HI seeds; its own table shows 1 of 3 (seed 0: −0.028).</a:t>
            </a:r>
            <a:endParaRPr lang="en-US" sz="135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What is left (about 17–19 GPU hours)</a:t>
            </a:r>
            <a:endParaRPr lang="en-US" sz="3200" dirty="0"/>
          </a:p>
        </p:txBody>
      </p:sp>
      <p:graphicFrame>
        <p:nvGraphicFramePr>
          <p:cNvPr id="22" name="left-table"/>
          <p:cNvGraphicFramePr>
            <a:graphicFrameLocks noGrp="1"/>
          </p:cNvGraphicFramePr>
          <p:nvPr>
            <p:extLst>
              <p:ext uri="{D42A27DB-BD31-4B8C-83A1-F6EECF244321}">
                <p14:modId xmlns:p14="http://schemas.microsoft.com/office/powerpoint/2010/main" val="1579011935"/>
              </p:ext>
            </p:extLst>
          </p:nvPr>
        </p:nvGraphicFramePr>
        <p:xfrm>
          <a:off x="548640" y="1280160"/>
          <a:ext cx="7863840" cy="914400"/>
        </p:xfrm>
        <a:graphic>
          <a:graphicData uri="http://schemas.openxmlformats.org/drawingml/2006/table">
            <a:tbl>
              <a:tblPr/>
              <a:tblGrid>
                <a:gridCol w="3200400"/>
                <a:gridCol w="2606040"/>
                <a:gridCol w="868680"/>
                <a:gridCol w="1188720"/>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Experiment</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GPU</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73152" marB="73152">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Stress test, seeds 1 and 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Crowding result has 1 seed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~5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Ready</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Real benchmark, seed 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Third seed for main claims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~4.5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rgbClr val="0E7C86"/>
                          </a:solidFill>
                          <a:latin typeface="Calibri" pitchFamily="34" charset="0"/>
                          <a:ea typeface="Calibri" pitchFamily="34" charset="-122"/>
                          <a:cs typeface="Calibri" pitchFamily="34" charset="-120"/>
                        </a:rPr>
                        <a:t>Ready</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Pilot of our own methods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Could become our method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In progress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Storage-exact K-Share, real data</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Equal-storage proof</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1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Small change</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Llama-3.2-1B (K-Merge's other model)</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Beyond one model family</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~5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Small change</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KnOTS baseline, real data</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Reviewers will ask</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&lt; 1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Code exists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Analysis 4 on 3 seeds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Close Phase 2 item</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 h</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Not started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4" name="card-231"/>
          <p:cNvSpPr/>
          <p:nvPr/>
        </p:nvSpPr>
        <p:spPr>
          <a:xfrm>
            <a:off x="8732520" y="1280160"/>
            <a:ext cx="2907792" cy="4114800"/>
          </a:xfrm>
          <a:prstGeom prst="roundRect">
            <a:avLst>
              <a:gd name="adj" fmla="val 3774"/>
            </a:avLst>
          </a:prstGeom>
          <a:solidFill>
            <a:schemeClr val="bg2"/>
          </a:solidFill>
          <a:ln w="12700">
            <a:solidFill>
              <a:schemeClr val="bg2"/>
            </a:solidFill>
            <a:prstDash val="solid"/>
          </a:ln>
        </p:spPr>
      </p:sp>
      <p:sp>
        <p:nvSpPr>
          <p:cNvPr id="5" name="icon-bg-232"/>
          <p:cNvSpPr/>
          <p:nvPr/>
        </p:nvSpPr>
        <p:spPr>
          <a:xfrm>
            <a:off x="9601200" y="1463040"/>
            <a:ext cx="1051560" cy="1051560"/>
          </a:xfrm>
          <a:prstGeom prst="ellipse">
            <a:avLst/>
          </a:prstGeom>
          <a:solidFill>
            <a:schemeClr val="bg1"/>
          </a:solidFill>
          <a:ln w="12700">
            <a:solidFill>
              <a:schemeClr val="bg1"/>
            </a:solidFill>
            <a:prstDash val="solid"/>
          </a:ln>
        </p:spPr>
      </p:sp>
      <p:pic>
        <p:nvPicPr>
          <p:cNvPr id="6" name="icon-clipboard-233" descr="clipboard illustration">    </p:cNvPr>
          <p:cNvPicPr>
            <a:picLocks noChangeAspect="1"/>
          </p:cNvPicPr>
          <p:nvPr/>
        </p:nvPicPr>
        <p:blipFill>
          <a:blip r:embed="rId1"/>
          <a:stretch>
            <a:fillRect/>
          </a:stretch>
        </p:blipFill>
        <p:spPr>
          <a:xfrm>
            <a:off x="9769450" y="1631290"/>
            <a:ext cx="715061" cy="715061"/>
          </a:xfrm>
          <a:prstGeom prst="rect">
            <a:avLst/>
          </a:prstGeom>
        </p:spPr>
      </p:pic>
      <p:sp>
        <p:nvSpPr>
          <p:cNvPr id="7" name="text-234"/>
          <p:cNvSpPr txBox="1"/>
          <p:nvPr/>
        </p:nvSpPr>
        <p:spPr>
          <a:xfrm>
            <a:off x="8961120" y="2697480"/>
            <a:ext cx="2514600" cy="2606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latin typeface="Cambria" pitchFamily="34" charset="0"/>
                <a:ea typeface="Cambria" pitchFamily="34" charset="-122"/>
                <a:cs typeface="Cambria" pitchFamily="34" charset="-120"/>
              </a:rPr>
              <a:t>Also open</a:t>
            </a:r>
            <a:endParaRPr lang="en-US" sz="1500" dirty="0"/>
          </a:p>
          <a:p>
            <a:pPr marL="342900" indent="-342900">
              <a:spcAft>
                <a:spcPts val="400"/>
              </a:spcAft>
              <a:buSzPct val="100000"/>
              <a:buChar char="•"/>
            </a:pPr>
            <a:r>
              <a:rPr lang="en-US" sz="1500" dirty="0">
                <a:solidFill>
                  <a:schemeClr val="tx1"/>
                </a:solidFill>
              </a:rPr>
              <a:t>On-device cost (phone)</a:t>
            </a:r>
            <a:endParaRPr lang="en-US" sz="1500" dirty="0"/>
          </a:p>
          <a:p>
            <a:pPr marL="342900" indent="-342900">
              <a:spcAft>
                <a:spcPts val="400"/>
              </a:spcAft>
              <a:buSzPct val="100000"/>
              <a:buChar char="•"/>
            </a:pPr>
            <a:r>
              <a:rPr lang="en-US" sz="1500" dirty="0">
                <a:solidFill>
                  <a:schemeClr val="tx1"/>
                </a:solidFill>
              </a:rPr>
              <a:t>Real Hindi grammar data</a:t>
            </a:r>
            <a:endParaRPr lang="en-US" sz="1500" dirty="0"/>
          </a:p>
          <a:p>
            <a:pPr marL="342900" indent="-342900">
              <a:spcAft>
                <a:spcPts val="400"/>
              </a:spcAft>
              <a:buSzPct val="100000"/>
              <a:buChar char="•"/>
            </a:pPr>
            <a:r>
              <a:rPr lang="en-US" sz="1500" dirty="0">
                <a:solidFill>
                  <a:schemeClr val="tx1"/>
                </a:solidFill>
              </a:rPr>
              <a:t>Phase 1 checks (your items 20–21)</a:t>
            </a:r>
            <a:endParaRPr lang="en-US" sz="1500" dirty="0"/>
          </a:p>
          <a:p>
            <a:pPr marL="342900" indent="-342900">
              <a:spcAft>
                <a:spcPts val="400"/>
              </a:spcAft>
              <a:buSzPct val="100000"/>
              <a:buChar char="•"/>
            </a:pPr>
            <a:r>
              <a:rPr lang="en-US" sz="1500" dirty="0">
                <a:solidFill>
                  <a:schemeClr val="tx1"/>
                </a:solidFill>
              </a:rPr>
              <a:t>Update your Google Doc</a:t>
            </a:r>
            <a:endParaRPr lang="en-US" sz="1500" dirty="0"/>
          </a:p>
          <a:p>
            <a:pPr marL="342900" indent="-342900">
              <a:spcAft>
                <a:spcPts val="400"/>
              </a:spcAft>
              <a:buSzPct val="100000"/>
              <a:buChar char="•"/>
            </a:pPr>
            <a:r>
              <a:rPr lang="en-US" sz="1500" dirty="0">
                <a:solidFill>
                  <a:schemeClr val="tx1"/>
                </a:solidFill>
              </a:rPr>
              <a:t>Paper draft</a:t>
            </a:r>
            <a:endParaRPr lang="en-US" sz="1500" dirty="0"/>
          </a:p>
        </p:txBody>
      </p:sp>
      <p:sp>
        <p:nvSpPr>
          <p:cNvPr id="8" name="text-235"/>
          <p:cNvSpPr txBox="1"/>
          <p:nvPr/>
        </p:nvSpPr>
        <p:spPr>
          <a:xfrm>
            <a:off x="548640" y="553212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Kaggle's free quota is 30 GPU hours a week, so the GPU work fits in one week; we plan it over two weeks to leave room for reruns.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The next four weeks</a:t>
            </a:r>
            <a:endParaRPr lang="en-US" sz="3200" dirty="0"/>
          </a:p>
        </p:txBody>
      </p:sp>
      <p:sp>
        <p:nvSpPr>
          <p:cNvPr id="3" name="timeline"/>
          <p:cNvSpPr/>
          <p:nvPr/>
        </p:nvSpPr>
        <p:spPr>
          <a:xfrm>
            <a:off x="1097280" y="2057400"/>
            <a:ext cx="9997135" cy="0"/>
          </a:xfrm>
          <a:prstGeom prst="line">
            <a:avLst/>
          </a:prstGeom>
          <a:noFill/>
          <a:ln w="25400">
            <a:solidFill>
              <a:schemeClr val="accent5"/>
            </a:solidFill>
            <a:prstDash val="solid"/>
          </a:ln>
        </p:spPr>
      </p:sp>
      <p:sp>
        <p:nvSpPr>
          <p:cNvPr id="4" name="milestone-236"/>
          <p:cNvSpPr/>
          <p:nvPr/>
        </p:nvSpPr>
        <p:spPr>
          <a:xfrm>
            <a:off x="2034540" y="1783080"/>
            <a:ext cx="548640" cy="548640"/>
          </a:xfrm>
          <a:prstGeom prst="ellipse">
            <a:avLst/>
          </a:prstGeom>
          <a:solidFill>
            <a:schemeClr val="accent1"/>
          </a:solidFill>
          <a:ln w="31750">
            <a:solidFill>
              <a:schemeClr val="accent1"/>
            </a:solidFill>
            <a:prstDash val="solid"/>
          </a:ln>
        </p:spPr>
      </p:sp>
      <p:sp>
        <p:nvSpPr>
          <p:cNvPr id="5" name="card-237"/>
          <p:cNvSpPr/>
          <p:nvPr/>
        </p:nvSpPr>
        <p:spPr>
          <a:xfrm>
            <a:off x="548640" y="2606040"/>
            <a:ext cx="3520440" cy="3108960"/>
          </a:xfrm>
          <a:prstGeom prst="roundRect">
            <a:avLst>
              <a:gd name="adj" fmla="val 3529"/>
            </a:avLst>
          </a:prstGeom>
          <a:solidFill>
            <a:schemeClr val="bg2"/>
          </a:solidFill>
          <a:ln w="12700">
            <a:solidFill>
              <a:schemeClr val="bg2"/>
            </a:solidFill>
            <a:prstDash val="solid"/>
          </a:ln>
        </p:spPr>
      </p:sp>
      <p:sp>
        <p:nvSpPr>
          <p:cNvPr id="6" name="text-238"/>
          <p:cNvSpPr txBox="1"/>
          <p:nvPr/>
        </p:nvSpPr>
        <p:spPr>
          <a:xfrm>
            <a:off x="822960" y="2743200"/>
            <a:ext cx="297180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Week 1</a:t>
            </a:r>
            <a:endParaRPr lang="en-US" sz="2400" dirty="0"/>
          </a:p>
        </p:txBody>
      </p:sp>
      <p:sp>
        <p:nvSpPr>
          <p:cNvPr id="7" name="text-239"/>
          <p:cNvSpPr txBox="1"/>
          <p:nvPr/>
        </p:nvSpPr>
        <p:spPr>
          <a:xfrm>
            <a:off x="822960" y="3246120"/>
            <a:ext cx="2971800" cy="365760"/>
          </a:xfrm>
          <a:prstGeom prst="rect">
            <a:avLst/>
          </a:prstGeom>
          <a:noFill/>
          <a:ln/>
        </p:spPr>
        <p:txBody>
          <a:bodyPr wrap="square" lIns="0" tIns="0" rIns="0" bIns="0" rtlCol="0" anchor="t"/>
          <a:lstStyle/>
          <a:p>
            <a:pPr indent="0" marL="0">
              <a:buNone/>
            </a:pPr>
            <a:r>
              <a:rPr lang="en-US" sz="1400" i="1" dirty="0">
                <a:solidFill>
                  <a:schemeClr val="accent5"/>
                </a:solidFill>
              </a:rPr>
              <a:t>After the GPU quota resets</a:t>
            </a:r>
            <a:endParaRPr lang="en-US" sz="1400" dirty="0"/>
          </a:p>
        </p:txBody>
      </p:sp>
      <p:sp>
        <p:nvSpPr>
          <p:cNvPr id="8" name="text-240"/>
          <p:cNvSpPr txBox="1"/>
          <p:nvPr/>
        </p:nvSpPr>
        <p:spPr>
          <a:xfrm>
            <a:off x="822960" y="370332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Stress seeds 1–2</a:t>
            </a:r>
            <a:endParaRPr lang="en-US" sz="1800" dirty="0"/>
          </a:p>
          <a:p>
            <a:pPr marL="342900" indent="-342900">
              <a:spcAft>
                <a:spcPts val="600"/>
              </a:spcAft>
              <a:buSzPct val="100000"/>
              <a:buChar char="•"/>
            </a:pPr>
            <a:r>
              <a:rPr lang="en-US" sz="1800" dirty="0">
                <a:solidFill>
                  <a:schemeClr val="tx1"/>
                </a:solidFill>
              </a:rPr>
              <a:t>Real seed 2</a:t>
            </a:r>
            <a:endParaRPr lang="en-US" sz="1800" dirty="0"/>
          </a:p>
          <a:p>
            <a:pPr marL="342900" indent="-342900">
              <a:spcAft>
                <a:spcPts val="600"/>
              </a:spcAft>
              <a:buSzPct val="100000"/>
              <a:buChar char="•"/>
            </a:pPr>
            <a:r>
              <a:rPr lang="en-US" sz="1800" dirty="0">
                <a:solidFill>
                  <a:schemeClr val="tx1"/>
                </a:solidFill>
              </a:rPr>
              <a:t>Pilot of our methods</a:t>
            </a:r>
            <a:endParaRPr lang="en-US" sz="1800" dirty="0"/>
          </a:p>
          <a:p>
            <a:pPr marL="342900" indent="-342900">
              <a:spcAft>
                <a:spcPts val="600"/>
              </a:spcAft>
              <a:buSzPct val="100000"/>
              <a:buChar char="•"/>
            </a:pPr>
            <a:r>
              <a:rPr lang="en-US" sz="1800" dirty="0">
                <a:solidFill>
                  <a:schemeClr val="tx1"/>
                </a:solidFill>
              </a:rPr>
              <a:t>Storage-exact K-Share</a:t>
            </a:r>
            <a:endParaRPr lang="en-US" sz="1800" dirty="0"/>
          </a:p>
        </p:txBody>
      </p:sp>
      <p:sp>
        <p:nvSpPr>
          <p:cNvPr id="9" name="milestone-241"/>
          <p:cNvSpPr/>
          <p:nvPr/>
        </p:nvSpPr>
        <p:spPr>
          <a:xfrm>
            <a:off x="5820156" y="1783080"/>
            <a:ext cx="548640" cy="548640"/>
          </a:xfrm>
          <a:prstGeom prst="ellipse">
            <a:avLst/>
          </a:prstGeom>
          <a:solidFill>
            <a:schemeClr val="bg1"/>
          </a:solidFill>
          <a:ln w="31750">
            <a:solidFill>
              <a:schemeClr val="accent1"/>
            </a:solidFill>
            <a:prstDash val="solid"/>
          </a:ln>
        </p:spPr>
      </p:sp>
      <p:sp>
        <p:nvSpPr>
          <p:cNvPr id="10" name="card-242"/>
          <p:cNvSpPr/>
          <p:nvPr/>
        </p:nvSpPr>
        <p:spPr>
          <a:xfrm>
            <a:off x="4334256" y="2606040"/>
            <a:ext cx="3520440" cy="3108960"/>
          </a:xfrm>
          <a:prstGeom prst="roundRect">
            <a:avLst>
              <a:gd name="adj" fmla="val 3529"/>
            </a:avLst>
          </a:prstGeom>
          <a:solidFill>
            <a:schemeClr val="bg2"/>
          </a:solidFill>
          <a:ln w="12700">
            <a:solidFill>
              <a:schemeClr val="bg2"/>
            </a:solidFill>
            <a:prstDash val="solid"/>
          </a:ln>
        </p:spPr>
      </p:sp>
      <p:sp>
        <p:nvSpPr>
          <p:cNvPr id="11" name="text-243"/>
          <p:cNvSpPr txBox="1"/>
          <p:nvPr/>
        </p:nvSpPr>
        <p:spPr>
          <a:xfrm>
            <a:off x="4608576" y="2743200"/>
            <a:ext cx="297180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Week 2</a:t>
            </a:r>
            <a:endParaRPr lang="en-US" sz="2400" dirty="0"/>
          </a:p>
        </p:txBody>
      </p:sp>
      <p:sp>
        <p:nvSpPr>
          <p:cNvPr id="12" name="text-244"/>
          <p:cNvSpPr txBox="1"/>
          <p:nvPr/>
        </p:nvSpPr>
        <p:spPr>
          <a:xfrm>
            <a:off x="4608576" y="3246120"/>
            <a:ext cx="2971800" cy="365760"/>
          </a:xfrm>
          <a:prstGeom prst="rect">
            <a:avLst/>
          </a:prstGeom>
          <a:noFill/>
          <a:ln/>
        </p:spPr>
        <p:txBody>
          <a:bodyPr wrap="square" lIns="0" tIns="0" rIns="0" bIns="0" rtlCol="0" anchor="t"/>
          <a:lstStyle/>
          <a:p>
            <a:pPr indent="0" marL="0">
              <a:buNone/>
            </a:pPr>
            <a:r>
              <a:rPr lang="en-US" sz="1400" i="1" dirty="0">
                <a:solidFill>
                  <a:schemeClr val="accent5"/>
                </a:solidFill>
              </a:rPr>
              <a:t>Generality</a:t>
            </a:r>
            <a:endParaRPr lang="en-US" sz="1400" dirty="0"/>
          </a:p>
        </p:txBody>
      </p:sp>
      <p:sp>
        <p:nvSpPr>
          <p:cNvPr id="13" name="text-245"/>
          <p:cNvSpPr txBox="1"/>
          <p:nvPr/>
        </p:nvSpPr>
        <p:spPr>
          <a:xfrm>
            <a:off x="4608576" y="370332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Llama-3.2-1B run</a:t>
            </a:r>
            <a:endParaRPr lang="en-US" sz="1800" dirty="0"/>
          </a:p>
          <a:p>
            <a:pPr marL="342900" indent="-342900">
              <a:spcAft>
                <a:spcPts val="600"/>
              </a:spcAft>
              <a:buSzPct val="100000"/>
              <a:buChar char="•"/>
            </a:pPr>
            <a:r>
              <a:rPr lang="en-US" sz="1800" dirty="0">
                <a:solidFill>
                  <a:schemeClr val="tx1"/>
                </a:solidFill>
              </a:rPr>
              <a:t>KnOTS baseline</a:t>
            </a:r>
            <a:endParaRPr lang="en-US" sz="1800" dirty="0"/>
          </a:p>
          <a:p>
            <a:pPr marL="342900" indent="-342900">
              <a:spcAft>
                <a:spcPts val="600"/>
              </a:spcAft>
              <a:buSzPct val="100000"/>
              <a:buChar char="•"/>
            </a:pPr>
            <a:r>
              <a:rPr lang="en-US" sz="1800" dirty="0">
                <a:solidFill>
                  <a:schemeClr val="tx1"/>
                </a:solidFill>
              </a:rPr>
              <a:t>Analysis 4 on 3 seeds</a:t>
            </a:r>
            <a:endParaRPr lang="en-US" sz="1800" dirty="0"/>
          </a:p>
        </p:txBody>
      </p:sp>
      <p:sp>
        <p:nvSpPr>
          <p:cNvPr id="14" name="milestone-246"/>
          <p:cNvSpPr/>
          <p:nvPr/>
        </p:nvSpPr>
        <p:spPr>
          <a:xfrm>
            <a:off x="9605772" y="1783080"/>
            <a:ext cx="548640" cy="548640"/>
          </a:xfrm>
          <a:prstGeom prst="ellipse">
            <a:avLst/>
          </a:prstGeom>
          <a:solidFill>
            <a:schemeClr val="bg1"/>
          </a:solidFill>
          <a:ln w="31750">
            <a:solidFill>
              <a:schemeClr val="accent1"/>
            </a:solidFill>
            <a:prstDash val="solid"/>
          </a:ln>
        </p:spPr>
      </p:sp>
      <p:sp>
        <p:nvSpPr>
          <p:cNvPr id="15" name="card-247"/>
          <p:cNvSpPr/>
          <p:nvPr/>
        </p:nvSpPr>
        <p:spPr>
          <a:xfrm>
            <a:off x="8119872" y="2606040"/>
            <a:ext cx="3520440" cy="3108960"/>
          </a:xfrm>
          <a:prstGeom prst="roundRect">
            <a:avLst>
              <a:gd name="adj" fmla="val 3529"/>
            </a:avLst>
          </a:prstGeom>
          <a:solidFill>
            <a:schemeClr val="bg2"/>
          </a:solidFill>
          <a:ln w="12700">
            <a:solidFill>
              <a:schemeClr val="bg2"/>
            </a:solidFill>
            <a:prstDash val="solid"/>
          </a:ln>
        </p:spPr>
      </p:sp>
      <p:sp>
        <p:nvSpPr>
          <p:cNvPr id="16" name="text-248"/>
          <p:cNvSpPr txBox="1"/>
          <p:nvPr/>
        </p:nvSpPr>
        <p:spPr>
          <a:xfrm>
            <a:off x="8394192" y="2743200"/>
            <a:ext cx="297180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Weeks 3–4</a:t>
            </a:r>
            <a:endParaRPr lang="en-US" sz="2400" dirty="0"/>
          </a:p>
        </p:txBody>
      </p:sp>
      <p:sp>
        <p:nvSpPr>
          <p:cNvPr id="17" name="text-249"/>
          <p:cNvSpPr txBox="1"/>
          <p:nvPr/>
        </p:nvSpPr>
        <p:spPr>
          <a:xfrm>
            <a:off x="8394192" y="3246120"/>
            <a:ext cx="2971800" cy="365760"/>
          </a:xfrm>
          <a:prstGeom prst="rect">
            <a:avLst/>
          </a:prstGeom>
          <a:noFill/>
          <a:ln/>
        </p:spPr>
        <p:txBody>
          <a:bodyPr wrap="square" lIns="0" tIns="0" rIns="0" bIns="0" rtlCol="0" anchor="t"/>
          <a:lstStyle/>
          <a:p>
            <a:pPr indent="0" marL="0">
              <a:buNone/>
            </a:pPr>
            <a:r>
              <a:rPr lang="en-US" sz="1400" i="1" dirty="0">
                <a:solidFill>
                  <a:schemeClr val="accent5"/>
                </a:solidFill>
              </a:rPr>
              <a:t>Write-up and device test</a:t>
            </a:r>
            <a:endParaRPr lang="en-US" sz="1400" dirty="0"/>
          </a:p>
        </p:txBody>
      </p:sp>
      <p:sp>
        <p:nvSpPr>
          <p:cNvPr id="18" name="text-250"/>
          <p:cNvSpPr txBox="1"/>
          <p:nvPr/>
        </p:nvSpPr>
        <p:spPr>
          <a:xfrm>
            <a:off x="8394192" y="3703320"/>
            <a:ext cx="2971800" cy="18745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On-device timing</a:t>
            </a:r>
            <a:endParaRPr lang="en-US" sz="1800" dirty="0"/>
          </a:p>
          <a:p>
            <a:pPr marL="342900" indent="-342900">
              <a:spcAft>
                <a:spcPts val="600"/>
              </a:spcAft>
              <a:buSzPct val="100000"/>
              <a:buChar char="•"/>
            </a:pPr>
            <a:r>
              <a:rPr lang="en-US" sz="1800" dirty="0">
                <a:solidFill>
                  <a:schemeClr val="tx1"/>
                </a:solidFill>
              </a:rPr>
              <a:t>Paper draft</a:t>
            </a:r>
            <a:endParaRPr lang="en-US" sz="1800" dirty="0"/>
          </a:p>
          <a:p>
            <a:pPr marL="342900" indent="-342900">
              <a:spcAft>
                <a:spcPts val="600"/>
              </a:spcAft>
              <a:buSzPct val="100000"/>
              <a:buChar char="•"/>
            </a:pPr>
            <a:r>
              <a:rPr lang="en-US" sz="1800" dirty="0">
                <a:solidFill>
                  <a:schemeClr val="tx1"/>
                </a:solidFill>
              </a:rPr>
              <a:t>Update your Google Doc</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Bigger ideas for new studies</a:t>
            </a:r>
            <a:endParaRPr lang="en-US" sz="3200" dirty="0"/>
          </a:p>
        </p:txBody>
      </p:sp>
      <p:sp>
        <p:nvSpPr>
          <p:cNvPr id="3" name="card-251"/>
          <p:cNvSpPr/>
          <p:nvPr/>
        </p:nvSpPr>
        <p:spPr>
          <a:xfrm>
            <a:off x="548640" y="1280160"/>
            <a:ext cx="11094415" cy="1600200"/>
          </a:xfrm>
          <a:prstGeom prst="roundRect">
            <a:avLst>
              <a:gd name="adj" fmla="val 6857"/>
            </a:avLst>
          </a:prstGeom>
          <a:solidFill>
            <a:schemeClr val="accent1"/>
          </a:solidFill>
          <a:ln w="12700">
            <a:solidFill>
              <a:schemeClr val="accent1"/>
            </a:solidFill>
            <a:prstDash val="solid"/>
          </a:ln>
        </p:spPr>
      </p:sp>
      <p:sp>
        <p:nvSpPr>
          <p:cNvPr id="4" name="icon-bg-252"/>
          <p:cNvSpPr/>
          <p:nvPr/>
        </p:nvSpPr>
        <p:spPr>
          <a:xfrm>
            <a:off x="822960" y="1463040"/>
            <a:ext cx="1188720" cy="1188720"/>
          </a:xfrm>
          <a:prstGeom prst="ellipse">
            <a:avLst/>
          </a:prstGeom>
          <a:solidFill>
            <a:schemeClr val="bg1"/>
          </a:solidFill>
          <a:ln w="12700">
            <a:solidFill>
              <a:schemeClr val="bg1"/>
            </a:solidFill>
            <a:prstDash val="solid"/>
          </a:ln>
        </p:spPr>
      </p:sp>
      <p:pic>
        <p:nvPicPr>
          <p:cNvPr id="5" name="icon-rocket-253" descr="rocket illustration">    </p:cNvPr>
          <p:cNvPicPr>
            <a:picLocks noChangeAspect="1"/>
          </p:cNvPicPr>
          <p:nvPr/>
        </p:nvPicPr>
        <p:blipFill>
          <a:blip r:embed="rId1"/>
          <a:stretch>
            <a:fillRect/>
          </a:stretch>
        </p:blipFill>
        <p:spPr>
          <a:xfrm>
            <a:off x="1013155" y="1653235"/>
            <a:ext cx="808330" cy="808330"/>
          </a:xfrm>
          <a:prstGeom prst="rect">
            <a:avLst/>
          </a:prstGeom>
        </p:spPr>
      </p:pic>
      <p:sp>
        <p:nvSpPr>
          <p:cNvPr id="6" name="text-254"/>
          <p:cNvSpPr txBox="1"/>
          <p:nvPr/>
        </p:nvSpPr>
        <p:spPr>
          <a:xfrm>
            <a:off x="2240280" y="1353312"/>
            <a:ext cx="9174175" cy="146304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A. How many tasks can one slot hold?</a:t>
            </a:r>
            <a:endParaRPr lang="en-US" sz="1600" dirty="0"/>
          </a:p>
          <a:p>
            <a:pPr indent="0" marL="0">
              <a:buNone/>
            </a:pPr>
            <a:r>
              <a:rPr lang="en-US" sz="1600" dirty="0">
                <a:solidFill>
                  <a:schemeClr val="bg1"/>
                </a:solidFill>
              </a:rPr>
              <a:t>A capacity rule from directions per task and task overlap. It changes the question from "which adapters are similar?" to "how much room does each task need?"</a:t>
            </a:r>
            <a:endParaRPr lang="en-US" sz="1600" dirty="0"/>
          </a:p>
        </p:txBody>
      </p:sp>
      <p:sp>
        <p:nvSpPr>
          <p:cNvPr id="7" name="card-255"/>
          <p:cNvSpPr/>
          <p:nvPr/>
        </p:nvSpPr>
        <p:spPr>
          <a:xfrm>
            <a:off x="548640" y="3108960"/>
            <a:ext cx="2602154" cy="2697480"/>
          </a:xfrm>
          <a:prstGeom prst="roundRect">
            <a:avLst>
              <a:gd name="adj" fmla="val 4217"/>
            </a:avLst>
          </a:prstGeom>
          <a:solidFill>
            <a:schemeClr val="bg2"/>
          </a:solidFill>
          <a:ln w="12700">
            <a:solidFill>
              <a:schemeClr val="bg2"/>
            </a:solidFill>
            <a:prstDash val="solid"/>
          </a:ln>
        </p:spPr>
      </p:sp>
      <p:sp>
        <p:nvSpPr>
          <p:cNvPr id="8" name="text-256"/>
          <p:cNvSpPr txBox="1"/>
          <p:nvPr/>
        </p:nvSpPr>
        <p:spPr>
          <a:xfrm>
            <a:off x="749808" y="3246120"/>
            <a:ext cx="2199818" cy="77724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B. Truly on-device sharing</a:t>
            </a:r>
            <a:endParaRPr lang="en-US" sz="1700" dirty="0"/>
          </a:p>
        </p:txBody>
      </p:sp>
      <p:sp>
        <p:nvSpPr>
          <p:cNvPr id="9" name="text-257"/>
          <p:cNvSpPr txBox="1"/>
          <p:nvPr/>
        </p:nvSpPr>
        <p:spPr>
          <a:xfrm>
            <a:off x="749808" y="4023360"/>
            <a:ext cx="2199818" cy="1691640"/>
          </a:xfrm>
          <a:prstGeom prst="rect">
            <a:avLst/>
          </a:prstGeom>
          <a:noFill/>
          <a:ln/>
        </p:spPr>
        <p:txBody>
          <a:bodyPr wrap="square" lIns="0" tIns="0" rIns="0" bIns="0" rtlCol="0" anchor="t"/>
          <a:lstStyle/>
          <a:p>
            <a:pPr indent="0" marL="0">
              <a:buNone/>
            </a:pPr>
            <a:r>
              <a:rPr lang="en-US" sz="1500" dirty="0">
                <a:solidFill>
                  <a:schemeClr val="tx1"/>
                </a:solidFill>
              </a:rPr>
              <a:t>Keep only the slot, never the originals; test long streams of 40+ tasks for drift.</a:t>
            </a:r>
            <a:endParaRPr lang="en-US" sz="1500" dirty="0"/>
          </a:p>
        </p:txBody>
      </p:sp>
      <p:sp>
        <p:nvSpPr>
          <p:cNvPr id="10" name="card-258"/>
          <p:cNvSpPr/>
          <p:nvPr/>
        </p:nvSpPr>
        <p:spPr>
          <a:xfrm>
            <a:off x="3379394" y="3108960"/>
            <a:ext cx="2602154" cy="2697480"/>
          </a:xfrm>
          <a:prstGeom prst="roundRect">
            <a:avLst>
              <a:gd name="adj" fmla="val 4217"/>
            </a:avLst>
          </a:prstGeom>
          <a:solidFill>
            <a:schemeClr val="bg2"/>
          </a:solidFill>
          <a:ln w="12700">
            <a:solidFill>
              <a:schemeClr val="bg2"/>
            </a:solidFill>
            <a:prstDash val="solid"/>
          </a:ln>
        </p:spPr>
      </p:sp>
      <p:sp>
        <p:nvSpPr>
          <p:cNvPr id="11" name="text-259"/>
          <p:cNvSpPr txBox="1"/>
          <p:nvPr/>
        </p:nvSpPr>
        <p:spPr>
          <a:xfrm>
            <a:off x="3580562" y="3246120"/>
            <a:ext cx="2199818" cy="77724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C. No task label needed</a:t>
            </a:r>
            <a:endParaRPr lang="en-US" sz="1700" dirty="0"/>
          </a:p>
        </p:txBody>
      </p:sp>
      <p:sp>
        <p:nvSpPr>
          <p:cNvPr id="12" name="text-260"/>
          <p:cNvSpPr txBox="1"/>
          <p:nvPr/>
        </p:nvSpPr>
        <p:spPr>
          <a:xfrm>
            <a:off x="3580562" y="4023360"/>
            <a:ext cx="2199818" cy="1691640"/>
          </a:xfrm>
          <a:prstGeom prst="rect">
            <a:avLst/>
          </a:prstGeom>
          <a:noFill/>
          <a:ln/>
        </p:spPr>
        <p:txBody>
          <a:bodyPr wrap="square" lIns="0" tIns="0" rIns="0" bIns="0" rtlCol="0" anchor="t"/>
          <a:lstStyle/>
          <a:p>
            <a:pPr indent="0" marL="0">
              <a:buNone/>
            </a:pPr>
            <a:r>
              <a:rPr lang="en-US" sz="1500" dirty="0">
                <a:solidFill>
                  <a:schemeClr val="tx1"/>
                </a:solidFill>
              </a:rPr>
              <a:t>Pick each request's core with the shared basis itself (builds on Arrow routing, ICML 2024).</a:t>
            </a:r>
            <a:endParaRPr lang="en-US" sz="1500" dirty="0"/>
          </a:p>
        </p:txBody>
      </p:sp>
      <p:sp>
        <p:nvSpPr>
          <p:cNvPr id="13" name="card-261"/>
          <p:cNvSpPr/>
          <p:nvPr/>
        </p:nvSpPr>
        <p:spPr>
          <a:xfrm>
            <a:off x="6210148" y="3108960"/>
            <a:ext cx="2602154" cy="2697480"/>
          </a:xfrm>
          <a:prstGeom prst="roundRect">
            <a:avLst>
              <a:gd name="adj" fmla="val 4217"/>
            </a:avLst>
          </a:prstGeom>
          <a:solidFill>
            <a:schemeClr val="bg2"/>
          </a:solidFill>
          <a:ln w="12700">
            <a:solidFill>
              <a:schemeClr val="bg2"/>
            </a:solidFill>
            <a:prstDash val="solid"/>
          </a:ln>
        </p:spPr>
      </p:sp>
      <p:sp>
        <p:nvSpPr>
          <p:cNvPr id="14" name="text-262"/>
          <p:cNvSpPr txBox="1"/>
          <p:nvPr/>
        </p:nvSpPr>
        <p:spPr>
          <a:xfrm>
            <a:off x="6411316" y="3246120"/>
            <a:ext cx="2199818" cy="77724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D. A compatibility score</a:t>
            </a:r>
            <a:endParaRPr lang="en-US" sz="1700" dirty="0"/>
          </a:p>
        </p:txBody>
      </p:sp>
      <p:sp>
        <p:nvSpPr>
          <p:cNvPr id="15" name="text-263"/>
          <p:cNvSpPr txBox="1"/>
          <p:nvPr/>
        </p:nvSpPr>
        <p:spPr>
          <a:xfrm>
            <a:off x="6411316" y="4023360"/>
            <a:ext cx="2199818" cy="1691640"/>
          </a:xfrm>
          <a:prstGeom prst="rect">
            <a:avLst/>
          </a:prstGeom>
          <a:noFill/>
          <a:ln/>
        </p:spPr>
        <p:txBody>
          <a:bodyPr wrap="square" lIns="0" tIns="0" rIns="0" bIns="0" rtlCol="0" anchor="t"/>
          <a:lstStyle/>
          <a:p>
            <a:pPr indent="0" marL="0">
              <a:buNone/>
            </a:pPr>
            <a:r>
              <a:rPr lang="en-US" sz="1500" dirty="0">
                <a:solidFill>
                  <a:schemeClr val="tx1"/>
                </a:solidFill>
              </a:rPr>
              <a:t>Predict which tasks can share from a few unlabelled inputs. Best so far: input distortion, Spearman ρ ≈ 0.43–0.50 across methods; weak for K-Merge alone.</a:t>
            </a:r>
            <a:endParaRPr lang="en-US" sz="1500" dirty="0"/>
          </a:p>
        </p:txBody>
      </p:sp>
      <p:sp>
        <p:nvSpPr>
          <p:cNvPr id="16" name="card-264"/>
          <p:cNvSpPr/>
          <p:nvPr/>
        </p:nvSpPr>
        <p:spPr>
          <a:xfrm>
            <a:off x="9040901" y="3108960"/>
            <a:ext cx="2602154" cy="2697480"/>
          </a:xfrm>
          <a:prstGeom prst="roundRect">
            <a:avLst>
              <a:gd name="adj" fmla="val 4217"/>
            </a:avLst>
          </a:prstGeom>
          <a:solidFill>
            <a:schemeClr val="bg2"/>
          </a:solidFill>
          <a:ln w="12700">
            <a:solidFill>
              <a:schemeClr val="bg2"/>
            </a:solidFill>
            <a:prstDash val="solid"/>
          </a:ln>
        </p:spPr>
      </p:sp>
      <p:sp>
        <p:nvSpPr>
          <p:cNvPr id="17" name="text-265"/>
          <p:cNvSpPr txBox="1"/>
          <p:nvPr/>
        </p:nvSpPr>
        <p:spPr>
          <a:xfrm>
            <a:off x="9242069" y="3246120"/>
            <a:ext cx="2199818" cy="77724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E. Real phone test</a:t>
            </a:r>
            <a:endParaRPr lang="en-US" sz="1700" dirty="0"/>
          </a:p>
        </p:txBody>
      </p:sp>
      <p:sp>
        <p:nvSpPr>
          <p:cNvPr id="18" name="text-266"/>
          <p:cNvSpPr txBox="1"/>
          <p:nvPr/>
        </p:nvSpPr>
        <p:spPr>
          <a:xfrm>
            <a:off x="9242069" y="4023360"/>
            <a:ext cx="2199818" cy="1691640"/>
          </a:xfrm>
          <a:prstGeom prst="rect">
            <a:avLst/>
          </a:prstGeom>
          <a:noFill/>
          <a:ln/>
        </p:spPr>
        <p:txBody>
          <a:bodyPr wrap="square" lIns="0" tIns="0" rIns="0" bIns="0" rtlCol="0" anchor="t"/>
          <a:lstStyle/>
          <a:p>
            <a:pPr indent="0" marL="0">
              <a:buNone/>
            </a:pPr>
            <a:r>
              <a:rPr lang="en-US" sz="1500" dirty="0">
                <a:solidFill>
                  <a:schemeClr val="tx1"/>
                </a:solidFill>
              </a:rPr>
              <a:t>Measure memory and latency on a real Android phone: does sharing stay cheap in practice?</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Thank you: what I would like from you</a:t>
            </a:r>
            <a:endParaRPr lang="en-US" sz="3600" dirty="0"/>
          </a:p>
        </p:txBody>
      </p:sp>
      <p:sp>
        <p:nvSpPr>
          <p:cNvPr id="3" name="ask-267"/>
          <p:cNvSpPr/>
          <p:nvPr/>
        </p:nvSpPr>
        <p:spPr>
          <a:xfrm>
            <a:off x="548640" y="1600200"/>
            <a:ext cx="2567864" cy="2926080"/>
          </a:xfrm>
          <a:prstGeom prst="roundRect">
            <a:avLst>
              <a:gd name="adj" fmla="val 4273"/>
            </a:avLst>
          </a:prstGeom>
          <a:solidFill>
            <a:srgbClr val="13304A"/>
          </a:solidFill>
          <a:ln w="12700">
            <a:solidFill>
              <a:srgbClr val="13304A"/>
            </a:solidFill>
            <a:prstDash val="solid"/>
          </a:ln>
        </p:spPr>
      </p:sp>
      <p:sp>
        <p:nvSpPr>
          <p:cNvPr id="4" name="icon-bg-268"/>
          <p:cNvSpPr/>
          <p:nvPr/>
        </p:nvSpPr>
        <p:spPr>
          <a:xfrm>
            <a:off x="1329652" y="1783080"/>
            <a:ext cx="1005840" cy="1005840"/>
          </a:xfrm>
          <a:prstGeom prst="ellipse">
            <a:avLst/>
          </a:prstGeom>
          <a:solidFill>
            <a:schemeClr val="bg1"/>
          </a:solidFill>
          <a:ln w="12700">
            <a:solidFill>
              <a:schemeClr val="bg1"/>
            </a:solidFill>
            <a:prstDash val="solid"/>
          </a:ln>
        </p:spPr>
      </p:sp>
      <p:pic>
        <p:nvPicPr>
          <p:cNvPr id="5" name="icon-compass-269" descr="compass illustration">    </p:cNvPr>
          <p:cNvPicPr>
            <a:picLocks noChangeAspect="1"/>
          </p:cNvPicPr>
          <p:nvPr/>
        </p:nvPicPr>
        <p:blipFill>
          <a:blip r:embed="rId1"/>
          <a:stretch>
            <a:fillRect/>
          </a:stretch>
        </p:blipFill>
        <p:spPr>
          <a:xfrm>
            <a:off x="1490586" y="1944014"/>
            <a:ext cx="683971" cy="683971"/>
          </a:xfrm>
          <a:prstGeom prst="rect">
            <a:avLst/>
          </a:prstGeom>
        </p:spPr>
      </p:pic>
      <p:sp>
        <p:nvSpPr>
          <p:cNvPr id="6" name="text-270"/>
          <p:cNvSpPr txBox="1"/>
          <p:nvPr/>
        </p:nvSpPr>
        <p:spPr>
          <a:xfrm>
            <a:off x="731520" y="2926080"/>
            <a:ext cx="2202104" cy="45720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Direction</a:t>
            </a:r>
            <a:endParaRPr lang="en-US" sz="2000" dirty="0"/>
          </a:p>
        </p:txBody>
      </p:sp>
      <p:sp>
        <p:nvSpPr>
          <p:cNvPr id="7" name="text-271"/>
          <p:cNvSpPr txBox="1"/>
          <p:nvPr/>
        </p:nvSpPr>
        <p:spPr>
          <a:xfrm>
            <a:off x="731520" y="3429000"/>
            <a:ext cx="2202104" cy="960120"/>
          </a:xfrm>
          <a:prstGeom prst="rect">
            <a:avLst/>
          </a:prstGeom>
          <a:noFill/>
          <a:ln/>
        </p:spPr>
        <p:txBody>
          <a:bodyPr wrap="square" lIns="0" tIns="0" rIns="0" bIns="0" rtlCol="0" anchor="t"/>
          <a:lstStyle/>
          <a:p>
            <a:pPr algn="ctr" indent="0" marL="0">
              <a:buNone/>
            </a:pPr>
            <a:r>
              <a:rPr lang="en-US" sz="1500" dirty="0">
                <a:solidFill>
                  <a:schemeClr val="bg2"/>
                </a:solidFill>
              </a:rPr>
              <a:t>Which study (A–E) should come first?</a:t>
            </a:r>
            <a:endParaRPr lang="en-US" sz="1500" dirty="0"/>
          </a:p>
        </p:txBody>
      </p:sp>
      <p:sp>
        <p:nvSpPr>
          <p:cNvPr id="8" name="ask-272"/>
          <p:cNvSpPr/>
          <p:nvPr/>
        </p:nvSpPr>
        <p:spPr>
          <a:xfrm>
            <a:off x="3390824" y="1600200"/>
            <a:ext cx="2567864" cy="2926080"/>
          </a:xfrm>
          <a:prstGeom prst="roundRect">
            <a:avLst>
              <a:gd name="adj" fmla="val 4273"/>
            </a:avLst>
          </a:prstGeom>
          <a:solidFill>
            <a:srgbClr val="13304A"/>
          </a:solidFill>
          <a:ln w="12700">
            <a:solidFill>
              <a:srgbClr val="13304A"/>
            </a:solidFill>
            <a:prstDash val="solid"/>
          </a:ln>
        </p:spPr>
      </p:sp>
      <p:sp>
        <p:nvSpPr>
          <p:cNvPr id="9" name="icon-bg-273"/>
          <p:cNvSpPr/>
          <p:nvPr/>
        </p:nvSpPr>
        <p:spPr>
          <a:xfrm>
            <a:off x="4171836" y="1783080"/>
            <a:ext cx="1005840" cy="1005840"/>
          </a:xfrm>
          <a:prstGeom prst="ellipse">
            <a:avLst/>
          </a:prstGeom>
          <a:solidFill>
            <a:schemeClr val="bg1"/>
          </a:solidFill>
          <a:ln w="12700">
            <a:solidFill>
              <a:schemeClr val="bg1"/>
            </a:solidFill>
            <a:prstDash val="solid"/>
          </a:ln>
        </p:spPr>
      </p:sp>
      <p:pic>
        <p:nvPicPr>
          <p:cNvPr id="10" name="icon-laptop-274" descr="laptop illustration">    </p:cNvPr>
          <p:cNvPicPr>
            <a:picLocks noChangeAspect="1"/>
          </p:cNvPicPr>
          <p:nvPr/>
        </p:nvPicPr>
        <p:blipFill>
          <a:blip r:embed="rId2"/>
          <a:stretch>
            <a:fillRect/>
          </a:stretch>
        </p:blipFill>
        <p:spPr>
          <a:xfrm>
            <a:off x="4332770" y="1944014"/>
            <a:ext cx="683971" cy="683971"/>
          </a:xfrm>
          <a:prstGeom prst="rect">
            <a:avLst/>
          </a:prstGeom>
        </p:spPr>
      </p:pic>
      <p:sp>
        <p:nvSpPr>
          <p:cNvPr id="11" name="text-275"/>
          <p:cNvSpPr txBox="1"/>
          <p:nvPr/>
        </p:nvSpPr>
        <p:spPr>
          <a:xfrm>
            <a:off x="3573704" y="2926080"/>
            <a:ext cx="2202104" cy="45720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Compute</a:t>
            </a:r>
            <a:endParaRPr lang="en-US" sz="2000" dirty="0"/>
          </a:p>
        </p:txBody>
      </p:sp>
      <p:sp>
        <p:nvSpPr>
          <p:cNvPr id="12" name="text-276"/>
          <p:cNvSpPr txBox="1"/>
          <p:nvPr/>
        </p:nvSpPr>
        <p:spPr>
          <a:xfrm>
            <a:off x="3573704" y="3429000"/>
            <a:ext cx="2202104" cy="960120"/>
          </a:xfrm>
          <a:prstGeom prst="rect">
            <a:avLst/>
          </a:prstGeom>
          <a:noFill/>
          <a:ln/>
        </p:spPr>
        <p:txBody>
          <a:bodyPr wrap="square" lIns="0" tIns="0" rIns="0" bIns="0" rtlCol="0" anchor="t"/>
          <a:lstStyle/>
          <a:p>
            <a:pPr algn="ctr" indent="0" marL="0">
              <a:buNone/>
            </a:pPr>
            <a:r>
              <a:rPr lang="en-US" sz="1500" dirty="0">
                <a:solidFill>
                  <a:schemeClr val="bg2"/>
                </a:solidFill>
              </a:rPr>
              <a:t>More GPU hours or lab GPU access for seeds and Llama</a:t>
            </a:r>
            <a:endParaRPr lang="en-US" sz="1500" dirty="0"/>
          </a:p>
        </p:txBody>
      </p:sp>
      <p:sp>
        <p:nvSpPr>
          <p:cNvPr id="13" name="ask-277"/>
          <p:cNvSpPr/>
          <p:nvPr/>
        </p:nvSpPr>
        <p:spPr>
          <a:xfrm>
            <a:off x="6233008" y="1600200"/>
            <a:ext cx="2567864" cy="2926080"/>
          </a:xfrm>
          <a:prstGeom prst="roundRect">
            <a:avLst>
              <a:gd name="adj" fmla="val 4273"/>
            </a:avLst>
          </a:prstGeom>
          <a:solidFill>
            <a:srgbClr val="13304A"/>
          </a:solidFill>
          <a:ln w="12700">
            <a:solidFill>
              <a:srgbClr val="13304A"/>
            </a:solidFill>
            <a:prstDash val="solid"/>
          </a:ln>
        </p:spPr>
      </p:sp>
      <p:sp>
        <p:nvSpPr>
          <p:cNvPr id="14" name="icon-bg-278"/>
          <p:cNvSpPr/>
          <p:nvPr/>
        </p:nvSpPr>
        <p:spPr>
          <a:xfrm>
            <a:off x="7014019" y="1783080"/>
            <a:ext cx="1005840" cy="1005840"/>
          </a:xfrm>
          <a:prstGeom prst="ellipse">
            <a:avLst/>
          </a:prstGeom>
          <a:solidFill>
            <a:schemeClr val="bg1"/>
          </a:solidFill>
          <a:ln w="12700">
            <a:solidFill>
              <a:schemeClr val="bg1"/>
            </a:solidFill>
            <a:prstDash val="solid"/>
          </a:ln>
        </p:spPr>
      </p:sp>
      <p:pic>
        <p:nvPicPr>
          <p:cNvPr id="15" name="icon-memo-279" descr="memo illustration">    </p:cNvPr>
          <p:cNvPicPr>
            <a:picLocks noChangeAspect="1"/>
          </p:cNvPicPr>
          <p:nvPr/>
        </p:nvPicPr>
        <p:blipFill>
          <a:blip r:embed="rId3"/>
          <a:stretch>
            <a:fillRect/>
          </a:stretch>
        </p:blipFill>
        <p:spPr>
          <a:xfrm>
            <a:off x="7174954" y="1944014"/>
            <a:ext cx="683971" cy="683971"/>
          </a:xfrm>
          <a:prstGeom prst="rect">
            <a:avLst/>
          </a:prstGeom>
        </p:spPr>
      </p:pic>
      <p:sp>
        <p:nvSpPr>
          <p:cNvPr id="16" name="text-280"/>
          <p:cNvSpPr txBox="1"/>
          <p:nvPr/>
        </p:nvSpPr>
        <p:spPr>
          <a:xfrm>
            <a:off x="6415888" y="2926080"/>
            <a:ext cx="2202104" cy="45720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Google Doc</a:t>
            </a:r>
            <a:endParaRPr lang="en-US" sz="2000" dirty="0"/>
          </a:p>
        </p:txBody>
      </p:sp>
      <p:sp>
        <p:nvSpPr>
          <p:cNvPr id="17" name="text-281"/>
          <p:cNvSpPr txBox="1"/>
          <p:nvPr/>
        </p:nvSpPr>
        <p:spPr>
          <a:xfrm>
            <a:off x="6415888" y="3429000"/>
            <a:ext cx="2202104" cy="960120"/>
          </a:xfrm>
          <a:prstGeom prst="rect">
            <a:avLst/>
          </a:prstGeom>
          <a:noFill/>
          <a:ln/>
        </p:spPr>
        <p:txBody>
          <a:bodyPr wrap="square" lIns="0" tIns="0" rIns="0" bIns="0" rtlCol="0" anchor="t"/>
          <a:lstStyle/>
          <a:p>
            <a:pPr algn="ctr" indent="0" marL="0">
              <a:buNone/>
            </a:pPr>
            <a:r>
              <a:rPr lang="en-US" sz="1500" dirty="0">
                <a:solidFill>
                  <a:schemeClr val="bg2"/>
                </a:solidFill>
              </a:rPr>
              <a:t>Edit access, so I can add these results</a:t>
            </a:r>
            <a:endParaRPr lang="en-US" sz="1500" dirty="0"/>
          </a:p>
        </p:txBody>
      </p:sp>
      <p:sp>
        <p:nvSpPr>
          <p:cNvPr id="18" name="ask-282"/>
          <p:cNvSpPr/>
          <p:nvPr/>
        </p:nvSpPr>
        <p:spPr>
          <a:xfrm>
            <a:off x="9075191" y="1600200"/>
            <a:ext cx="2567864" cy="2926080"/>
          </a:xfrm>
          <a:prstGeom prst="roundRect">
            <a:avLst>
              <a:gd name="adj" fmla="val 4273"/>
            </a:avLst>
          </a:prstGeom>
          <a:solidFill>
            <a:srgbClr val="13304A"/>
          </a:solidFill>
          <a:ln w="12700">
            <a:solidFill>
              <a:srgbClr val="13304A"/>
            </a:solidFill>
            <a:prstDash val="solid"/>
          </a:ln>
        </p:spPr>
      </p:sp>
      <p:sp>
        <p:nvSpPr>
          <p:cNvPr id="19" name="icon-bg-283"/>
          <p:cNvSpPr/>
          <p:nvPr/>
        </p:nvSpPr>
        <p:spPr>
          <a:xfrm>
            <a:off x="9856203" y="1783080"/>
            <a:ext cx="1005840" cy="1005840"/>
          </a:xfrm>
          <a:prstGeom prst="ellipse">
            <a:avLst/>
          </a:prstGeom>
          <a:solidFill>
            <a:schemeClr val="bg1"/>
          </a:solidFill>
          <a:ln w="12700">
            <a:solidFill>
              <a:schemeClr val="bg1"/>
            </a:solidFill>
            <a:prstDash val="solid"/>
          </a:ln>
        </p:spPr>
      </p:sp>
      <p:pic>
        <p:nvPicPr>
          <p:cNvPr id="20" name="icon-globe_with_meridians-284" descr="globe with meridians illustration">    </p:cNvPr>
          <p:cNvPicPr>
            <a:picLocks noChangeAspect="1"/>
          </p:cNvPicPr>
          <p:nvPr/>
        </p:nvPicPr>
        <p:blipFill>
          <a:blip r:embed="rId4"/>
          <a:stretch>
            <a:fillRect/>
          </a:stretch>
        </p:blipFill>
        <p:spPr>
          <a:xfrm>
            <a:off x="10017138" y="1944014"/>
            <a:ext cx="683971" cy="683971"/>
          </a:xfrm>
          <a:prstGeom prst="rect">
            <a:avLst/>
          </a:prstGeom>
        </p:spPr>
      </p:pic>
      <p:sp>
        <p:nvSpPr>
          <p:cNvPr id="21" name="text-285"/>
          <p:cNvSpPr txBox="1"/>
          <p:nvPr/>
        </p:nvSpPr>
        <p:spPr>
          <a:xfrm>
            <a:off x="9258071" y="2926080"/>
            <a:ext cx="2202104" cy="457200"/>
          </a:xfrm>
          <a:prstGeom prst="rect">
            <a:avLst/>
          </a:prstGeom>
          <a:noFill/>
          <a:ln/>
        </p:spPr>
        <p:txBody>
          <a:bodyPr wrap="square" lIns="0" tIns="0" rIns="0" bIns="0" rtlCol="0" anchor="t"/>
          <a:lstStyle/>
          <a:p>
            <a:pPr algn="ctr" indent="0" marL="0">
              <a:buNone/>
            </a:pPr>
            <a:r>
              <a:rPr lang="en-US" sz="2000" b="1" dirty="0">
                <a:solidFill>
                  <a:schemeClr val="bg1"/>
                </a:solidFill>
                <a:latin typeface="Cambria" pitchFamily="34" charset="0"/>
                <a:ea typeface="Cambria" pitchFamily="34" charset="-122"/>
                <a:cs typeface="Cambria" pitchFamily="34" charset="-120"/>
              </a:rPr>
              <a:t>Hindi data</a:t>
            </a:r>
            <a:endParaRPr lang="en-US" sz="2000" dirty="0"/>
          </a:p>
        </p:txBody>
      </p:sp>
      <p:sp>
        <p:nvSpPr>
          <p:cNvPr id="22" name="text-286"/>
          <p:cNvSpPr txBox="1"/>
          <p:nvPr/>
        </p:nvSpPr>
        <p:spPr>
          <a:xfrm>
            <a:off x="9258071" y="3429000"/>
            <a:ext cx="2202104" cy="960120"/>
          </a:xfrm>
          <a:prstGeom prst="rect">
            <a:avLst/>
          </a:prstGeom>
          <a:noFill/>
          <a:ln/>
        </p:spPr>
        <p:txBody>
          <a:bodyPr wrap="square" lIns="0" tIns="0" rIns="0" bIns="0" rtlCol="0" anchor="t"/>
          <a:lstStyle/>
          <a:p>
            <a:pPr algn="ctr" indent="0" marL="0">
              <a:buNone/>
            </a:pPr>
            <a:r>
              <a:rPr lang="en-US" sz="1500" dirty="0">
                <a:solidFill>
                  <a:schemeClr val="bg2"/>
                </a:solidFill>
              </a:rPr>
              <a:t>Help reaching authors of a Hindi grammar corpus</a:t>
            </a:r>
            <a:endParaRPr lang="en-US" sz="1500" dirty="0"/>
          </a:p>
        </p:txBody>
      </p:sp>
      <p:sp>
        <p:nvSpPr>
          <p:cNvPr id="23" name="text-287"/>
          <p:cNvSpPr txBox="1"/>
          <p:nvPr/>
        </p:nvSpPr>
        <p:spPr>
          <a:xfrm>
            <a:off x="548640" y="4754880"/>
            <a:ext cx="11094415" cy="868680"/>
          </a:xfrm>
          <a:prstGeom prst="rect">
            <a:avLst/>
          </a:prstGeom>
          <a:noFill/>
          <a:ln/>
        </p:spPr>
        <p:txBody>
          <a:bodyPr wrap="square" lIns="0" tIns="0" rIns="0" bIns="0" rtlCol="0" anchor="t"/>
          <a:lstStyle/>
          <a:p>
            <a:pPr indent="0" marL="0">
              <a:spcAft>
                <a:spcPts val="200"/>
              </a:spcAft>
              <a:buNone/>
            </a:pPr>
            <a:r>
              <a:rPr lang="en-US" sz="2400" b="1" dirty="0">
                <a:solidFill>
                  <a:schemeClr val="accent1"/>
                </a:solidFill>
                <a:latin typeface="Cambria" pitchFamily="34" charset="0"/>
                <a:ea typeface="Cambria" pitchFamily="34" charset="-122"/>
                <a:cs typeface="Cambria" pitchFamily="34" charset="-120"/>
              </a:rPr>
              <a:t>Don't average, share.</a:t>
            </a:r>
            <a:endParaRPr lang="en-US" sz="1900" dirty="0"/>
          </a:p>
          <a:p>
            <a:pPr indent="0" marL="0">
              <a:spcAft>
                <a:spcPts val="200"/>
              </a:spcAft>
              <a:buNone/>
            </a:pPr>
            <a:r>
              <a:rPr lang="en-US" sz="1900" dirty="0">
                <a:solidFill>
                  <a:schemeClr val="bg1"/>
                </a:solidFill>
                <a:latin typeface="Cambria" pitchFamily="34" charset="0"/>
                <a:ea typeface="Cambria" pitchFamily="34" charset="-122"/>
                <a:cs typeface="Cambria" pitchFamily="34" charset="-120"/>
              </a:rPr>
              <a:t>Split keeps 98.9% vs K-Merge's 90.8% on 12 real tasks, with exactly the same storage.</a:t>
            </a:r>
            <a:endParaRPr lang="en-US" sz="1900" dirty="0"/>
          </a:p>
        </p:txBody>
      </p:sp>
      <p:sp>
        <p:nvSpPr>
          <p:cNvPr id="24" name="text-288"/>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dirty="0">
                <a:solidFill>
                  <a:schemeClr val="bg2"/>
                </a:solidFill>
              </a:rPr>
              <a:t>Full report with every number, chart and source: "K-Merge Phase 3: Share the Slot, Don't Average It".</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3" name="text-289"/>
          <p:cNvSpPr txBox="1"/>
          <p:nvPr/>
        </p:nvSpPr>
        <p:spPr>
          <a:xfrm>
            <a:off x="548640" y="1234440"/>
            <a:ext cx="9326880" cy="4526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Shenaj et al. K-Merge: Online Continual Merging of Adapters for On-device Large Language Models. ACL 2026 (arXiv 2510.13537)</a:t>
            </a:r>
            <a:endParaRPr lang="en-US" sz="1400" dirty="0"/>
          </a:p>
          <a:p>
            <a:pPr marL="342900" indent="-342900">
              <a:spcAft>
                <a:spcPts val="500"/>
              </a:spcAft>
              <a:buSzPct val="100000"/>
              <a:buChar char="•"/>
            </a:pPr>
            <a:r>
              <a:rPr lang="en-US" sz="1400" dirty="0">
                <a:solidFill>
                  <a:schemeClr val="tx1"/>
                </a:solidFill>
              </a:rPr>
              <a:t>Hu et al. LoRA: Low-Rank Adaptation of Large Language Models. ICLR 2022</a:t>
            </a:r>
            <a:endParaRPr lang="en-US" sz="1400" dirty="0"/>
          </a:p>
          <a:p>
            <a:pPr marL="342900" indent="-342900">
              <a:spcAft>
                <a:spcPts val="500"/>
              </a:spcAft>
              <a:buSzPct val="100000"/>
              <a:buChar char="•"/>
            </a:pPr>
            <a:r>
              <a:rPr lang="en-US" sz="1400" dirty="0">
                <a:solidFill>
                  <a:schemeClr val="tx1"/>
                </a:solidFill>
              </a:rPr>
              <a:t>Gargiulo et al. Task Singular Vectors: Reducing Task Interference in Model Merging. CVPR 2025</a:t>
            </a:r>
            <a:endParaRPr lang="en-US" sz="1400" dirty="0"/>
          </a:p>
          <a:p>
            <a:pPr marL="342900" indent="-342900">
              <a:spcAft>
                <a:spcPts val="500"/>
              </a:spcAft>
              <a:buSzPct val="100000"/>
              <a:buChar char="•"/>
            </a:pPr>
            <a:r>
              <a:rPr lang="en-US" sz="1400" dirty="0">
                <a:solidFill>
                  <a:schemeClr val="tx1"/>
                </a:solidFill>
              </a:rPr>
              <a:t>Brüel-Gabrielsson et al. Compress then Serve: Serving Thousands of LoRA Adapters with Little Overhead. ICML 2025</a:t>
            </a:r>
            <a:endParaRPr lang="en-US" sz="1400" dirty="0"/>
          </a:p>
          <a:p>
            <a:pPr marL="342900" indent="-342900">
              <a:spcAft>
                <a:spcPts val="500"/>
              </a:spcAft>
              <a:buSzPct val="100000"/>
              <a:buChar char="•"/>
            </a:pPr>
            <a:r>
              <a:rPr lang="en-US" sz="1400" dirty="0">
                <a:solidFill>
                  <a:schemeClr val="tx1"/>
                </a:solidFill>
              </a:rPr>
              <a:t>Jin et al. Dataless Knowledge Fusion by Merging Weights of Language Models (RegMean). ICLR 2023</a:t>
            </a:r>
            <a:endParaRPr lang="en-US" sz="1400" dirty="0"/>
          </a:p>
          <a:p>
            <a:pPr marL="342900" indent="-342900">
              <a:spcAft>
                <a:spcPts val="500"/>
              </a:spcAft>
              <a:buSzPct val="100000"/>
              <a:buChar char="•"/>
            </a:pPr>
            <a:r>
              <a:rPr lang="en-US" sz="1400" dirty="0">
                <a:solidFill>
                  <a:schemeClr val="tx1"/>
                </a:solidFill>
              </a:rPr>
              <a:t>Yadav et al. TIES-Merging. NeurIPS 2023  ·  Yu et al. DARE. ICML 2024  ·  Ilharco et al. Task Arithmetic. ICLR 2023</a:t>
            </a:r>
            <a:endParaRPr lang="en-US" sz="1400" dirty="0"/>
          </a:p>
          <a:p>
            <a:pPr marL="342900" indent="-342900">
              <a:spcAft>
                <a:spcPts val="500"/>
              </a:spcAft>
              <a:buSzPct val="100000"/>
              <a:buChar char="•"/>
            </a:pPr>
            <a:r>
              <a:rPr lang="en-US" sz="1400" dirty="0">
                <a:solidFill>
                  <a:schemeClr val="tx1"/>
                </a:solidFill>
              </a:rPr>
              <a:t>Huang et al. EMR-Merging. NeurIPS 2024  ·  Wang et al. TALL masks. ICML 2024  ·  Marczak et al. Iso-C. ICML 2025</a:t>
            </a:r>
            <a:endParaRPr lang="en-US" sz="1400" dirty="0"/>
          </a:p>
          <a:p>
            <a:pPr marL="342900" indent="-342900">
              <a:spcAft>
                <a:spcPts val="500"/>
              </a:spcAft>
              <a:buSzPct val="100000"/>
              <a:buChar char="•"/>
            </a:pPr>
            <a:r>
              <a:rPr lang="en-US" sz="1400" dirty="0">
                <a:solidFill>
                  <a:schemeClr val="tx1"/>
                </a:solidFill>
              </a:rPr>
              <a:t>Stoica et al. KnOTS. ICLR 2025  ·  Marczak et al. MagMax. ECCV 2024  ·  Cheng et al. WUDI. ICML 2025</a:t>
            </a:r>
            <a:endParaRPr lang="en-US" sz="1400" dirty="0"/>
          </a:p>
          <a:p>
            <a:pPr marL="342900" indent="-342900">
              <a:spcAft>
                <a:spcPts val="500"/>
              </a:spcAft>
              <a:buSzPct val="100000"/>
              <a:buChar char="•"/>
            </a:pPr>
            <a:r>
              <a:rPr lang="en-US" sz="1400" dirty="0">
                <a:solidFill>
                  <a:schemeClr val="tx1"/>
                </a:solidFill>
              </a:rPr>
              <a:t>Zhu et al. Asymmetry in Low-Rank Adapters of Foundation Models. ICML 2024</a:t>
            </a:r>
            <a:endParaRPr lang="en-US" sz="1400" dirty="0"/>
          </a:p>
          <a:p>
            <a:pPr marL="342900" indent="-342900">
              <a:spcAft>
                <a:spcPts val="500"/>
              </a:spcAft>
              <a:buSzPct val="100000"/>
              <a:buChar char="•"/>
            </a:pPr>
            <a:r>
              <a:rPr lang="en-US" sz="1400" dirty="0">
                <a:solidFill>
                  <a:schemeClr val="tx1"/>
                </a:solidFill>
              </a:rPr>
              <a:t>Ostapenko et al. Towards Modular LLMs by Building and Reusing a Library of LoRAs (Arrow). ICML 2024</a:t>
            </a:r>
            <a:endParaRPr lang="en-US" sz="1400" dirty="0"/>
          </a:p>
          <a:p>
            <a:pPr marL="342900" indent="-342900">
              <a:spcAft>
                <a:spcPts val="500"/>
              </a:spcAft>
              <a:buSzPct val="100000"/>
              <a:buChar char="•"/>
            </a:pPr>
            <a:r>
              <a:rPr lang="en-US" sz="1400" dirty="0">
                <a:solidFill>
                  <a:schemeClr val="tx1"/>
                </a:solidFill>
              </a:rPr>
              <a:t>Data: W&amp;I+LOCNESS (BEA-2019), Falko-MERLIN, COWS-L2H, MERLIN, SAMSum, SQuAD; OPUS-MT translation; base models Qwen2.5-0.5B/1.5B-Instruct</a:t>
            </a:r>
            <a:endParaRPr lang="en-US" sz="1400" dirty="0"/>
          </a:p>
          <a:p>
            <a:pPr marL="342900" indent="-342900">
              <a:spcAft>
                <a:spcPts val="500"/>
              </a:spcAft>
              <a:buSzPct val="100000"/>
              <a:buChar char="•"/>
            </a:pPr>
            <a:r>
              <a:rPr lang="en-US" sz="1400" dirty="0">
                <a:solidFill>
                  <a:schemeClr val="tx1"/>
                </a:solidFill>
              </a:rPr>
              <a:t>Our earlier work: Phase 1 report; Phase 2 report (K_Merge_Phase2_Report_Pro)</a:t>
            </a:r>
            <a:endParaRPr lang="en-US" sz="1400" dirty="0"/>
          </a:p>
        </p:txBody>
      </p:sp>
      <p:sp>
        <p:nvSpPr>
          <p:cNvPr id="4" name="icon-bg-290"/>
          <p:cNvSpPr/>
          <p:nvPr/>
        </p:nvSpPr>
        <p:spPr>
          <a:xfrm>
            <a:off x="10104120" y="1371600"/>
            <a:ext cx="1463040" cy="1463040"/>
          </a:xfrm>
          <a:prstGeom prst="ellipse">
            <a:avLst/>
          </a:prstGeom>
          <a:solidFill>
            <a:schemeClr val="bg2"/>
          </a:solidFill>
          <a:ln w="12700">
            <a:solidFill>
              <a:schemeClr val="bg2"/>
            </a:solidFill>
            <a:prstDash val="solid"/>
          </a:ln>
        </p:spPr>
      </p:sp>
      <p:pic>
        <p:nvPicPr>
          <p:cNvPr id="5" name="icon-books-291" descr="books illustration">    </p:cNvPr>
          <p:cNvPicPr>
            <a:picLocks noChangeAspect="1"/>
          </p:cNvPicPr>
          <p:nvPr/>
        </p:nvPicPr>
        <p:blipFill>
          <a:blip r:embed="rId1"/>
          <a:stretch>
            <a:fillRect/>
          </a:stretch>
        </p:blipFill>
        <p:spPr>
          <a:xfrm>
            <a:off x="10338206" y="1605686"/>
            <a:ext cx="994867" cy="994867"/>
          </a:xfrm>
          <a:prstGeom prst="rect">
            <a:avLst/>
          </a:prstGeom>
        </p:spPr>
      </p:pic>
      <p:sp>
        <p:nvSpPr>
          <p:cNvPr id="6" name="text-292"/>
          <p:cNvSpPr txBox="1"/>
          <p:nvPr/>
        </p:nvSpPr>
        <p:spPr>
          <a:xfrm>
            <a:off x="548640" y="589788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3D illustrations: Microsoft Fluent Emoji (MIT License). Charts and tables: our Kaggle runs (merge lab v4–v5, real benchmark v8).</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hare the Slot">
  <a:themeElements>
    <a:clrScheme name="Share the Slot">
      <a:dk1>
        <a:srgbClr val="1B263B"/>
      </a:dk1>
      <a:lt1>
        <a:srgbClr val="FFFFFF"/>
      </a:lt1>
      <a:dk2>
        <a:srgbClr val="0B2135"/>
      </a:dk2>
      <a:lt2>
        <a:srgbClr val="EEF3F6"/>
      </a:lt2>
      <a:accent1>
        <a:srgbClr val="0E7C86"/>
      </a:accent1>
      <a:accent2>
        <a:srgbClr val="D1495B"/>
      </a:accent2>
      <a:accent3>
        <a:srgbClr val="E9A23B"/>
      </a:accent3>
      <a:accent4>
        <a:srgbClr val="5FA97E"/>
      </a:accent4>
      <a:accent5>
        <a:srgbClr val="8A96A3"/>
      </a:accent5>
      <a:accent6>
        <a:srgbClr val="7D6B91"/>
      </a:accent6>
      <a:hlink>
        <a:srgbClr val="0E7C86"/>
      </a:hlink>
      <a:folHlink>
        <a:srgbClr val="3D5A80"/>
      </a:folHlink>
    </a:clrScheme>
    <a:fontScheme name="Share the S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K-Merge Phase 3: Don't Average, Share</dc:title>
  <dc:subject>PptxGenJS Presentation</dc:subject>
  <dc:creator>Ankit Raj Choudhary</dc:creator>
  <cp:lastModifiedBy>Ankit Raj Choudhary</cp:lastModifiedBy>
  <cp:revision>1</cp:revision>
  <dcterms:created xsi:type="dcterms:W3CDTF">2026-10-19T03:40:23Z</dcterms:created>
  <dcterms:modified xsi:type="dcterms:W3CDTF">2026-10-19T03:40:23Z</dcterms:modified>
</cp:coreProperties>
</file>